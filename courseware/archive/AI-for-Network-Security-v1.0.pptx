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Share of course (%)</c:v>
                </c:pt>
              </c:strCache>
            </c:strRef>
          </c:tx>
          <c:spPr>
            <a:solidFill>
              <a:srgbClr val="1F6FEB"/>
            </a:solidFill>
          </c:spPr>
          <c:cat>
            <c:strRef>
              <c:f>Sheet1!$A$2:$A$5</c:f>
              <c:strCache>
                <c:ptCount val="4"/>
                <c:pt idx="0">
                  <c:v>Topic 01 — Threat &amp; Vulnerability Analysis</c:v>
                </c:pt>
                <c:pt idx="1">
                  <c:v>Topic 02 — Risk Assessment &amp; Planning</c:v>
                </c:pt>
                <c:pt idx="2">
                  <c:v>Topic 03 — Designing &amp; Implementing Measures</c:v>
                </c:pt>
                <c:pt idx="3">
                  <c:v>Topic 04 — Incident Documentation &amp; Response</c:v>
                </c:pt>
              </c:strCache>
            </c:strRef>
          </c:cat>
          <c:val>
            <c:numRef>
              <c:f>Sheet1!$B$2:$B$5</c:f>
              <c:numCache>
                <c:formatCode>0"%"</c:formatCode>
                <c:ptCount val="4"/>
                <c:pt idx="0">
                  <c:v>25</c:v>
                </c:pt>
                <c:pt idx="1">
                  <c:v>25</c:v>
                </c:pt>
                <c:pt idx="2">
                  <c:v>30</c:v>
                </c:pt>
                <c:pt idx="3">
                  <c:v>20</c:v>
                </c:pt>
              </c:numCache>
            </c:numRef>
          </c:val>
        </c:ser>
        <c:dLbls>
          <c:numFmt formatCode="0&quot;%&quot;"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200">
          <a:solidFill>
            <a:srgbClr val="161B26"/>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Organisations using AI-augmented security automation (%)</c:v>
                </c:pt>
              </c:strCache>
            </c:strRef>
          </c:tx>
          <c:spPr>
            <a:solidFill>
              <a:srgbClr val="1F6FEB"/>
            </a:solidFill>
          </c:spPr>
          <c:cat>
            <c:strRef>
              <c:f>Sheet1!$A$2:$A$3</c:f>
              <c:strCache>
                <c:ptCount val="2"/>
                <c:pt idx="0">
                  <c:v>2023</c:v>
                </c:pt>
                <c:pt idx="1">
                  <c:v>2026 (Gartner forecast)</c:v>
                </c:pt>
              </c:strCache>
            </c:strRef>
          </c:cat>
          <c:val>
            <c:numRef>
              <c:f>Sheet1!$B$2:$B$3</c:f>
              <c:numCache>
                <c:formatCode>0"%"</c:formatCode>
                <c:ptCount val="2"/>
                <c:pt idx="0">
                  <c:v>20</c:v>
                </c:pt>
                <c:pt idx="1">
                  <c:v>60</c:v>
                </c:pt>
              </c:numCache>
            </c:numRef>
          </c:val>
        </c:ser>
        <c:dLbls>
          <c:numFmt formatCode="0&quot;%&quot;"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200">
          <a:solidFill>
            <a:srgbClr val="161B26"/>
          </a:solidFill>
          <a:latin typeface="Arial"/>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tertiarycourses/TGS-2024051414-AI-for-Network-Security"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s.tertiaryinfotech.com" TargetMode="Externa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Rectangle 5"/>
          <p:cNvSpPr/>
          <p:nvPr/>
        </p:nvSpPr>
        <p:spPr>
          <a:xfrm>
            <a:off x="9646920" y="566928"/>
            <a:ext cx="1874519" cy="11338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566928"/>
            <a:ext cx="1874519"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713232"/>
            <a:ext cx="1874519" cy="512064"/>
          </a:xfrm>
          <a:prstGeom prst="rect">
            <a:avLst/>
          </a:prstGeom>
          <a:noFill/>
        </p:spPr>
        <p:txBody>
          <a:bodyPr wrap="square" anchor="ctr">
            <a:spAutoFit/>
          </a:bodyPr>
          <a:lstStyle/>
          <a:p>
            <a:pPr algn="ctr">
              <a:spcAft>
                <a:spcPts val="400"/>
              </a:spcAft>
            </a:pPr>
            <a:r>
              <a:rPr sz="3000" b="1">
                <a:solidFill>
                  <a:srgbClr val="FFFFFF"/>
                </a:solidFill>
                <a:latin typeface="Arial"/>
              </a:rPr>
              <a:t>AI</a:t>
            </a:r>
          </a:p>
        </p:txBody>
      </p:sp>
      <p:sp>
        <p:nvSpPr>
          <p:cNvPr id="9" name="TextBox 8"/>
          <p:cNvSpPr txBox="1"/>
          <p:nvPr/>
        </p:nvSpPr>
        <p:spPr>
          <a:xfrm>
            <a:off x="9646920" y="1225296"/>
            <a:ext cx="1874519" cy="384048"/>
          </a:xfrm>
          <a:prstGeom prst="rect">
            <a:avLst/>
          </a:prstGeom>
          <a:noFill/>
        </p:spPr>
        <p:txBody>
          <a:bodyPr wrap="square" anchor="ctr">
            <a:spAutoFit/>
          </a:bodyPr>
          <a:lstStyle/>
          <a:p>
            <a:pPr algn="ctr">
              <a:spcAft>
                <a:spcPts val="400"/>
              </a:spcAft>
            </a:pPr>
            <a:r>
              <a:rPr sz="850" b="1">
                <a:solidFill>
                  <a:srgbClr val="FFFFFF"/>
                </a:solidFill>
                <a:latin typeface="Arial"/>
              </a:rPr>
              <a:t>NETWORK SECURITY</a:t>
            </a:r>
          </a:p>
        </p:txBody>
      </p:sp>
      <p:sp>
        <p:nvSpPr>
          <p:cNvPr id="10" name="TextBox 9"/>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WSQ</a:t>
            </a:r>
          </a:p>
        </p:txBody>
      </p:sp>
      <p:sp>
        <p:nvSpPr>
          <p:cNvPr id="11" name="TextBox 10"/>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AI for Network Security</a:t>
            </a:r>
          </a:p>
        </p:txBody>
      </p:sp>
      <p:sp>
        <p:nvSpPr>
          <p:cNvPr id="12" name="Rectangle 11"/>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TGS-2024051414</a:t>
            </a:r>
          </a:p>
          <a:p>
            <a:pPr algn="l">
              <a:spcAft>
                <a:spcPts val="600"/>
              </a:spcAft>
            </a:pPr>
            <a:r>
              <a:rPr sz="1400" b="0">
                <a:solidFill>
                  <a:srgbClr val="5B6372"/>
                </a:solidFill>
                <a:latin typeface="Arial"/>
              </a:rPr>
              <a:t>Conducted by Tertiary Infotech Academy Pte Ltd  ·  UEN 201200696W</a:t>
            </a:r>
          </a:p>
        </p:txBody>
      </p:sp>
      <p:sp>
        <p:nvSpPr>
          <p:cNvPr id="14" name="TextBox 13"/>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v1.0  ·  29 August 2026</a:t>
            </a:r>
          </a:p>
        </p:txBody>
      </p:sp>
      <p:sp>
        <p:nvSpPr>
          <p:cNvPr id="15" name="TextBox 14"/>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fast"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advClick="1">
    <p:push dir="l"/>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Three times a day</a:t>
            </a:r>
          </a:p>
          <a:p>
            <a:pPr algn="l">
              <a:spcAft>
                <a:spcPts val="300"/>
              </a:spcAft>
            </a:pPr>
            <a:r>
              <a:rPr sz="1300" b="0">
                <a:solidFill>
                  <a:srgbClr val="5B6372"/>
                </a:solidFill>
                <a:latin typeface="Arial"/>
              </a:rPr>
              <a:t>Take the AM, PM and Assessment digital attendance — mandatory for every WSQ-funded course.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Trainer shows the QR</a:t>
            </a:r>
          </a:p>
          <a:p>
            <a:pPr algn="l">
              <a:spcAft>
                <a:spcPts val="300"/>
              </a:spcAft>
            </a:pPr>
            <a:r>
              <a:rPr sz="1300" b="0">
                <a:solidFill>
                  <a:srgbClr val="5B6372"/>
                </a:solidFill>
                <a:latin typeface="Arial"/>
              </a:rPr>
              <a:t>The trainer or administrator displays the digital attendance QR code from the SSG portal.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Scan and submit</a:t>
            </a:r>
          </a:p>
          <a:p>
            <a:pPr algn="l">
              <a:spcAft>
                <a:spcPts val="300"/>
              </a:spcAft>
            </a:pPr>
            <a:r>
              <a:rPr sz="1300" b="0">
                <a:solidFill>
                  <a:srgbClr val="5B6372"/>
                </a:solidFill>
                <a:latin typeface="Arial"/>
              </a:rPr>
              <a:t>Scan the QR code with your mobile phone camera and submit your attendance.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75% minimum</a:t>
            </a:r>
          </a:p>
          <a:p>
            <a:pPr algn="l">
              <a:spcAft>
                <a:spcPts val="300"/>
              </a:spcAft>
            </a:pPr>
            <a:r>
              <a:rPr sz="1300" b="0">
                <a:solidFill>
                  <a:srgbClr val="5B6372"/>
                </a:solidFill>
                <a:latin typeface="Arial"/>
              </a:rPr>
              <a:t>A minimum of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fast"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fast"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713232"/>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679192"/>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679192"/>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679192"/>
            <a:ext cx="6400800" cy="713232"/>
          </a:xfrm>
          <a:prstGeom prst="rect">
            <a:avLst/>
          </a:prstGeom>
          <a:noFill/>
        </p:spPr>
        <p:txBody>
          <a:bodyPr wrap="square" anchor="ctr">
            <a:spAutoFit/>
          </a:bodyPr>
          <a:lstStyle/>
          <a:p>
            <a:pPr algn="l">
              <a:spcAft>
                <a:spcPts val="300"/>
              </a:spcAft>
            </a:pPr>
            <a:r>
              <a:rPr sz="1100" b="1">
                <a:solidFill>
                  <a:srgbClr val="10B981"/>
                </a:solidFill>
                <a:latin typeface="Arial"/>
              </a:rPr>
              <a:t>EXPERTISE</a:t>
            </a:r>
          </a:p>
          <a:p>
            <a:pPr algn="l">
              <a:spcAft>
                <a:spcPts val="300"/>
              </a:spcAft>
            </a:pPr>
            <a:r>
              <a:rPr sz="1400" b="0">
                <a:solidFill>
                  <a:srgbClr val="161B26"/>
                </a:solidFill>
                <a:latin typeface="Arial"/>
              </a:rPr>
              <a:t>Network security, cybersecurity, applied machine learning and secure infrastructure design.</a:t>
            </a:r>
          </a:p>
        </p:txBody>
      </p:sp>
      <p:sp>
        <p:nvSpPr>
          <p:cNvPr id="19" name="Rectangle 18"/>
          <p:cNvSpPr/>
          <p:nvPr/>
        </p:nvSpPr>
        <p:spPr>
          <a:xfrm>
            <a:off x="4480560" y="3575304"/>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575304"/>
            <a:ext cx="91440"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575304"/>
            <a:ext cx="6400800" cy="713232"/>
          </a:xfrm>
          <a:prstGeom prst="rect">
            <a:avLst/>
          </a:prstGeom>
          <a:noFill/>
        </p:spPr>
        <p:txBody>
          <a:bodyPr wrap="square" anchor="ctr">
            <a:spAutoFit/>
          </a:bodyPr>
          <a:lstStyle/>
          <a:p>
            <a:pPr algn="l">
              <a:spcAft>
                <a:spcPts val="300"/>
              </a:spcAft>
            </a:pPr>
            <a:r>
              <a:rPr sz="1100" b="1">
                <a:solidFill>
                  <a:srgbClr val="7C3AED"/>
                </a:solidFill>
                <a:latin typeface="Arial"/>
              </a:rPr>
              <a:t>CERTIFICATION</a:t>
            </a:r>
          </a:p>
          <a:p>
            <a:pPr algn="l">
              <a:spcAft>
                <a:spcPts val="300"/>
              </a:spcAft>
            </a:pPr>
            <a:r>
              <a:rPr sz="1400" b="0">
                <a:solidFill>
                  <a:srgbClr val="161B26"/>
                </a:solidFill>
                <a:latin typeface="Arial"/>
              </a:rPr>
              <a:t>CompTIA Security+ ce · AWS Certified Machine Learning Engineer · AWS Solutions Architect · AWS AI Practitioner.</a:t>
            </a:r>
          </a:p>
        </p:txBody>
      </p:sp>
      <p:sp>
        <p:nvSpPr>
          <p:cNvPr id="22" name="Rectangle 21"/>
          <p:cNvSpPr/>
          <p:nvPr/>
        </p:nvSpPr>
        <p:spPr>
          <a:xfrm>
            <a:off x="4480560" y="4471416"/>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471416"/>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471416"/>
            <a:ext cx="6400800" cy="713232"/>
          </a:xfrm>
          <a:prstGeom prst="rect">
            <a:avLst/>
          </a:prstGeom>
          <a:noFill/>
        </p:spPr>
        <p:txBody>
          <a:bodyPr wrap="square" anchor="ctr">
            <a:spAutoFit/>
          </a:bodyPr>
          <a:lstStyle/>
          <a:p>
            <a:pPr algn="l">
              <a:spcAft>
                <a:spcPts val="300"/>
              </a:spcAft>
            </a:pPr>
            <a:r>
              <a:rPr sz="1100" b="1">
                <a:solidFill>
                  <a:srgbClr val="F59E0B"/>
                </a:solidFill>
                <a:latin typeface="Arial"/>
              </a:rPr>
              <a:t>DELIVERS</a:t>
            </a:r>
          </a:p>
          <a:p>
            <a:pPr algn="l">
              <a:spcAft>
                <a:spcPts val="300"/>
              </a:spcAft>
            </a:pPr>
            <a:r>
              <a:rPr sz="1400" b="0">
                <a:solidFill>
                  <a:srgbClr val="161B26"/>
                </a:solidFill>
                <a:latin typeface="Arial"/>
              </a:rPr>
              <a:t>WSQ courses on AI for network security, cybersecurity, ethical hacking and IT infrastructure.</a:t>
            </a:r>
          </a:p>
        </p:txBody>
      </p:sp>
      <p:sp>
        <p:nvSpPr>
          <p:cNvPr id="25" name="Rectangle 24"/>
          <p:cNvSpPr/>
          <p:nvPr/>
        </p:nvSpPr>
        <p:spPr>
          <a:xfrm>
            <a:off x="4480560" y="5367528"/>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5367528"/>
            <a:ext cx="91440"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5367528"/>
            <a:ext cx="6400800" cy="713232"/>
          </a:xfrm>
          <a:prstGeom prst="rect">
            <a:avLst/>
          </a:prstGeom>
          <a:noFill/>
        </p:spPr>
        <p:txBody>
          <a:bodyPr wrap="square" anchor="ctr">
            <a:spAutoFit/>
          </a:bodyPr>
          <a:lstStyle/>
          <a:p>
            <a:pPr algn="l">
              <a:spcAft>
                <a:spcPts val="300"/>
              </a:spcAft>
            </a:pPr>
            <a:r>
              <a:rPr sz="1100" b="1">
                <a:solidFill>
                  <a:srgbClr val="1F6FE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fast"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Your name, organisation and role.</a:t>
            </a:r>
          </a:p>
          <a:p>
            <a:pPr>
              <a:spcAft>
                <a:spcPts val="1000"/>
              </a:spcAft>
            </a:pPr>
            <a:r>
              <a:rPr sz="2000" b="0">
                <a:solidFill>
                  <a:srgbClr val="161B26"/>
                </a:solidFill>
                <a:latin typeface="Arial"/>
              </a:rPr>
              <a:t>•  Your experience with networking, IT operations or security (if any).</a:t>
            </a:r>
          </a:p>
          <a:p>
            <a:pPr>
              <a:spcAft>
                <a:spcPts val="1000"/>
              </a:spcAft>
            </a:pPr>
            <a:r>
              <a:rPr sz="2000" b="0">
                <a:solidFill>
                  <a:srgbClr val="161B26"/>
                </a:solidFill>
                <a:latin typeface="Arial"/>
              </a:rPr>
              <a:t>•  Any experience you already have with AI or machine-learning tools.</a:t>
            </a:r>
          </a:p>
          <a:p>
            <a:pPr>
              <a:spcAft>
                <a:spcPts val="1000"/>
              </a:spcAft>
            </a:pPr>
            <a:r>
              <a:rPr sz="2000" b="0">
                <a:solidFill>
                  <a:srgbClr val="161B26"/>
                </a:solidFill>
                <a:latin typeface="Arial"/>
              </a:rPr>
              <a:t>•  What you would like to be able to detect, defend or automate after this course.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fast"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fast"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LMS / TMS  ·  lms-tms.tertiaryinfotech.com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Download Your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989320" cy="4297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989320" cy="475488"/>
          </a:xfrm>
          <a:prstGeom prst="rect">
            <a:avLst/>
          </a:prstGeom>
          <a:solidFill>
            <a:srgbClr val="E9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1938528"/>
            <a:ext cx="164592" cy="164592"/>
          </a:xfrm>
          <a:prstGeom prst="ellipse">
            <a:avLst/>
          </a:prstGeom>
          <a:solidFill>
            <a:srgbClr val="F56B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216152" y="1938528"/>
            <a:ext cx="164592" cy="164592"/>
          </a:xfrm>
          <a:prstGeom prst="ellipse">
            <a:avLst/>
          </a:prstGeom>
          <a:solidFill>
            <a:srgbClr val="F6B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72184" y="1938528"/>
            <a:ext cx="164592" cy="164592"/>
          </a:xfrm>
          <a:prstGeom prst="ellipse">
            <a:avLst/>
          </a:prstGeom>
          <a:solidFill>
            <a:srgbClr val="62C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74520" y="1892808"/>
            <a:ext cx="4663440" cy="2743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02536" y="1892808"/>
            <a:ext cx="4526280" cy="274320"/>
          </a:xfrm>
          <a:prstGeom prst="rect">
            <a:avLst/>
          </a:prstGeom>
          <a:noFill/>
        </p:spPr>
        <p:txBody>
          <a:bodyPr wrap="square" anchor="ctr">
            <a:spAutoFit/>
          </a:bodyPr>
          <a:lstStyle/>
          <a:p>
            <a:pPr algn="l">
              <a:spcAft>
                <a:spcPts val="400"/>
              </a:spcAft>
            </a:pPr>
            <a:r>
              <a:rPr sz="1000" b="0">
                <a:solidFill>
                  <a:srgbClr val="5B6372"/>
                </a:solidFill>
                <a:latin typeface="Arial"/>
              </a:rPr>
              <a:t>🔒  lms-tms.tertiaryinfotech.com</a:t>
            </a:r>
          </a:p>
        </p:txBody>
      </p:sp>
      <p:sp>
        <p:nvSpPr>
          <p:cNvPr id="14" name="Rectangle 13"/>
          <p:cNvSpPr/>
          <p:nvPr/>
        </p:nvSpPr>
        <p:spPr>
          <a:xfrm>
            <a:off x="786384" y="2258568"/>
            <a:ext cx="5971032"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258568"/>
            <a:ext cx="4023360" cy="566928"/>
          </a:xfrm>
          <a:prstGeom prst="rect">
            <a:avLst/>
          </a:prstGeom>
          <a:noFill/>
        </p:spPr>
        <p:txBody>
          <a:bodyPr wrap="square" anchor="ctr">
            <a:spAutoFit/>
          </a:bodyPr>
          <a:lstStyle/>
          <a:p>
            <a:pPr algn="l">
              <a:spcAft>
                <a:spcPts val="400"/>
              </a:spcAft>
            </a:pPr>
            <a:r>
              <a:rPr sz="1300" b="1">
                <a:solidFill>
                  <a:srgbClr val="FFFFFF"/>
                </a:solidFill>
                <a:latin typeface="Arial"/>
              </a:rPr>
              <a:t>Tertiary Infotech  ·  LMS / TMS</a:t>
            </a:r>
          </a:p>
        </p:txBody>
      </p:sp>
      <p:sp>
        <p:nvSpPr>
          <p:cNvPr id="16" name="TextBox 15"/>
          <p:cNvSpPr txBox="1"/>
          <p:nvPr/>
        </p:nvSpPr>
        <p:spPr>
          <a:xfrm>
            <a:off x="5029200" y="2258568"/>
            <a:ext cx="1463040" cy="566928"/>
          </a:xfrm>
          <a:prstGeom prst="rect">
            <a:avLst/>
          </a:prstGeom>
          <a:noFill/>
        </p:spPr>
        <p:txBody>
          <a:bodyPr wrap="square" anchor="ctr">
            <a:spAutoFit/>
          </a:bodyPr>
          <a:lstStyle/>
          <a:p>
            <a:pPr algn="r">
              <a:spcAft>
                <a:spcPts val="400"/>
              </a:spcAft>
            </a:pPr>
            <a:r>
              <a:rPr sz="1000" b="0">
                <a:solidFill>
                  <a:srgbClr val="FFFFFF"/>
                </a:solidFill>
                <a:latin typeface="Arial"/>
              </a:rPr>
              <a:t>My Courses  ▾</a:t>
            </a:r>
          </a:p>
        </p:txBody>
      </p:sp>
      <p:sp>
        <p:nvSpPr>
          <p:cNvPr id="17" name="Rectangle 16"/>
          <p:cNvSpPr/>
          <p:nvPr/>
        </p:nvSpPr>
        <p:spPr>
          <a:xfrm>
            <a:off x="1033272" y="2990088"/>
            <a:ext cx="5477256"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33272" y="2990088"/>
            <a:ext cx="8229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52728" y="2990088"/>
            <a:ext cx="4937760" cy="658368"/>
          </a:xfrm>
          <a:prstGeom prst="rect">
            <a:avLst/>
          </a:prstGeom>
          <a:noFill/>
        </p:spPr>
        <p:txBody>
          <a:bodyPr wrap="square" anchor="ctr">
            <a:spAutoFit/>
          </a:bodyPr>
          <a:lstStyle/>
          <a:p>
            <a:pPr algn="l">
              <a:spcAft>
                <a:spcPts val="200"/>
              </a:spcAft>
            </a:pPr>
            <a:r>
              <a:rPr sz="1300" b="1">
                <a:solidFill>
                  <a:srgbClr val="161B26"/>
                </a:solidFill>
                <a:latin typeface="Arial"/>
              </a:rPr>
              <a:t>AI for Network Security</a:t>
            </a:r>
          </a:p>
          <a:p>
            <a:pPr algn="l">
              <a:spcAft>
                <a:spcPts val="200"/>
              </a:spcAft>
            </a:pPr>
            <a:r>
              <a:rPr sz="1000" b="0">
                <a:solidFill>
                  <a:srgbClr val="5B6372"/>
                </a:solidFill>
                <a:latin typeface="Arial"/>
              </a:rPr>
              <a:t>TGS-2024051414   ·   2 days</a:t>
            </a:r>
          </a:p>
        </p:txBody>
      </p:sp>
      <p:sp>
        <p:nvSpPr>
          <p:cNvPr id="20" name="Rectangle 19"/>
          <p:cNvSpPr/>
          <p:nvPr/>
        </p:nvSpPr>
        <p:spPr>
          <a:xfrm>
            <a:off x="1033272" y="3776472"/>
            <a:ext cx="5477256"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143000" y="3849624"/>
            <a:ext cx="310896"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81912" y="3776472"/>
            <a:ext cx="3017520" cy="457200"/>
          </a:xfrm>
          <a:prstGeom prst="rect">
            <a:avLst/>
          </a:prstGeom>
          <a:noFill/>
        </p:spPr>
        <p:txBody>
          <a:bodyPr wrap="square" anchor="ctr">
            <a:spAutoFit/>
          </a:bodyPr>
          <a:lstStyle/>
          <a:p>
            <a:pPr algn="l">
              <a:spcAft>
                <a:spcPts val="400"/>
              </a:spcAft>
            </a:pPr>
            <a:r>
              <a:rPr sz="1150" b="1">
                <a:solidFill>
                  <a:srgbClr val="161B26"/>
                </a:solidFill>
                <a:latin typeface="Arial"/>
              </a:rPr>
              <a:t>Trainer Slides</a:t>
            </a:r>
          </a:p>
        </p:txBody>
      </p:sp>
      <p:sp>
        <p:nvSpPr>
          <p:cNvPr id="23" name="TextBox 22"/>
          <p:cNvSpPr txBox="1"/>
          <p:nvPr/>
        </p:nvSpPr>
        <p:spPr>
          <a:xfrm>
            <a:off x="4617720" y="3776472"/>
            <a:ext cx="914400" cy="457200"/>
          </a:xfrm>
          <a:prstGeom prst="rect">
            <a:avLst/>
          </a:prstGeom>
          <a:noFill/>
        </p:spPr>
        <p:txBody>
          <a:bodyPr wrap="square" anchor="ctr">
            <a:spAutoFit/>
          </a:bodyPr>
          <a:lstStyle/>
          <a:p>
            <a:pPr algn="l">
              <a:spcAft>
                <a:spcPts val="400"/>
              </a:spcAft>
            </a:pPr>
            <a:r>
              <a:rPr sz="1000" b="0">
                <a:solidFill>
                  <a:srgbClr val="5B6372"/>
                </a:solidFill>
                <a:latin typeface="Arial"/>
              </a:rPr>
              <a:t>.pptx</a:t>
            </a:r>
          </a:p>
        </p:txBody>
      </p:sp>
      <p:sp>
        <p:nvSpPr>
          <p:cNvPr id="24" name="Rectangle 23"/>
          <p:cNvSpPr/>
          <p:nvPr/>
        </p:nvSpPr>
        <p:spPr>
          <a:xfrm>
            <a:off x="5394960" y="3858768"/>
            <a:ext cx="960120" cy="29260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94960" y="3858768"/>
            <a:ext cx="960120" cy="292608"/>
          </a:xfrm>
          <a:prstGeom prst="rect">
            <a:avLst/>
          </a:prstGeom>
          <a:noFill/>
        </p:spPr>
        <p:txBody>
          <a:bodyPr wrap="square" anchor="ctr">
            <a:spAutoFit/>
          </a:bodyPr>
          <a:lstStyle/>
          <a:p>
            <a:pPr algn="ctr">
              <a:spcAft>
                <a:spcPts val="400"/>
              </a:spcAft>
            </a:pPr>
            <a:r>
              <a:rPr sz="900" b="1">
                <a:solidFill>
                  <a:srgbClr val="FFFFFF"/>
                </a:solidFill>
                <a:latin typeface="Arial"/>
              </a:rPr>
              <a:t>Download</a:t>
            </a:r>
          </a:p>
        </p:txBody>
      </p:sp>
      <p:sp>
        <p:nvSpPr>
          <p:cNvPr id="26" name="Rectangle 25"/>
          <p:cNvSpPr/>
          <p:nvPr/>
        </p:nvSpPr>
        <p:spPr>
          <a:xfrm>
            <a:off x="1033272" y="4325112"/>
            <a:ext cx="5477256"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43000" y="4398264"/>
            <a:ext cx="310896"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81912" y="4325112"/>
            <a:ext cx="3017520" cy="457200"/>
          </a:xfrm>
          <a:prstGeom prst="rect">
            <a:avLst/>
          </a:prstGeom>
          <a:noFill/>
        </p:spPr>
        <p:txBody>
          <a:bodyPr wrap="square" anchor="ctr">
            <a:spAutoFit/>
          </a:bodyPr>
          <a:lstStyle/>
          <a:p>
            <a:pPr algn="l">
              <a:spcAft>
                <a:spcPts val="400"/>
              </a:spcAft>
            </a:pPr>
            <a:r>
              <a:rPr sz="1150" b="1">
                <a:solidFill>
                  <a:srgbClr val="161B26"/>
                </a:solidFill>
                <a:latin typeface="Arial"/>
              </a:rPr>
              <a:t>Learner Guide</a:t>
            </a:r>
          </a:p>
        </p:txBody>
      </p:sp>
      <p:sp>
        <p:nvSpPr>
          <p:cNvPr id="29" name="TextBox 28"/>
          <p:cNvSpPr txBox="1"/>
          <p:nvPr/>
        </p:nvSpPr>
        <p:spPr>
          <a:xfrm>
            <a:off x="4617720" y="4325112"/>
            <a:ext cx="914400" cy="457200"/>
          </a:xfrm>
          <a:prstGeom prst="rect">
            <a:avLst/>
          </a:prstGeom>
          <a:noFill/>
        </p:spPr>
        <p:txBody>
          <a:bodyPr wrap="square" anchor="ctr">
            <a:spAutoFit/>
          </a:bodyPr>
          <a:lstStyle/>
          <a:p>
            <a:pPr algn="l">
              <a:spcAft>
                <a:spcPts val="400"/>
              </a:spcAft>
            </a:pPr>
            <a:r>
              <a:rPr sz="1000" b="0">
                <a:solidFill>
                  <a:srgbClr val="5B6372"/>
                </a:solidFill>
                <a:latin typeface="Arial"/>
              </a:rPr>
              <a:t>.pdf</a:t>
            </a:r>
          </a:p>
        </p:txBody>
      </p:sp>
      <p:sp>
        <p:nvSpPr>
          <p:cNvPr id="30" name="Rectangle 29"/>
          <p:cNvSpPr/>
          <p:nvPr/>
        </p:nvSpPr>
        <p:spPr>
          <a:xfrm>
            <a:off x="5394960" y="4407408"/>
            <a:ext cx="960120" cy="2926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94960" y="4407408"/>
            <a:ext cx="960120" cy="292608"/>
          </a:xfrm>
          <a:prstGeom prst="rect">
            <a:avLst/>
          </a:prstGeom>
          <a:noFill/>
        </p:spPr>
        <p:txBody>
          <a:bodyPr wrap="square" anchor="ctr">
            <a:spAutoFit/>
          </a:bodyPr>
          <a:lstStyle/>
          <a:p>
            <a:pPr algn="ctr">
              <a:spcAft>
                <a:spcPts val="400"/>
              </a:spcAft>
            </a:pPr>
            <a:r>
              <a:rPr sz="900" b="1">
                <a:solidFill>
                  <a:srgbClr val="FFFFFF"/>
                </a:solidFill>
                <a:latin typeface="Arial"/>
              </a:rPr>
              <a:t>Download</a:t>
            </a:r>
          </a:p>
        </p:txBody>
      </p:sp>
      <p:sp>
        <p:nvSpPr>
          <p:cNvPr id="32" name="Rectangle 31"/>
          <p:cNvSpPr/>
          <p:nvPr/>
        </p:nvSpPr>
        <p:spPr>
          <a:xfrm>
            <a:off x="1033272" y="4873752"/>
            <a:ext cx="5477256"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143000" y="4946904"/>
            <a:ext cx="310896"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581912" y="4873752"/>
            <a:ext cx="3017520" cy="457200"/>
          </a:xfrm>
          <a:prstGeom prst="rect">
            <a:avLst/>
          </a:prstGeom>
          <a:noFill/>
        </p:spPr>
        <p:txBody>
          <a:bodyPr wrap="square" anchor="ctr">
            <a:spAutoFit/>
          </a:bodyPr>
          <a:lstStyle/>
          <a:p>
            <a:pPr algn="l">
              <a:spcAft>
                <a:spcPts val="400"/>
              </a:spcAft>
            </a:pPr>
            <a:r>
              <a:rPr sz="1150" b="1">
                <a:solidFill>
                  <a:srgbClr val="161B26"/>
                </a:solidFill>
                <a:latin typeface="Arial"/>
              </a:rPr>
              <a:t>Lesson Plan</a:t>
            </a:r>
          </a:p>
        </p:txBody>
      </p:sp>
      <p:sp>
        <p:nvSpPr>
          <p:cNvPr id="35" name="TextBox 34"/>
          <p:cNvSpPr txBox="1"/>
          <p:nvPr/>
        </p:nvSpPr>
        <p:spPr>
          <a:xfrm>
            <a:off x="4617720" y="4873752"/>
            <a:ext cx="914400" cy="457200"/>
          </a:xfrm>
          <a:prstGeom prst="rect">
            <a:avLst/>
          </a:prstGeom>
          <a:noFill/>
        </p:spPr>
        <p:txBody>
          <a:bodyPr wrap="square" anchor="ctr">
            <a:spAutoFit/>
          </a:bodyPr>
          <a:lstStyle/>
          <a:p>
            <a:pPr algn="l">
              <a:spcAft>
                <a:spcPts val="400"/>
              </a:spcAft>
            </a:pPr>
            <a:r>
              <a:rPr sz="1000" b="0">
                <a:solidFill>
                  <a:srgbClr val="5B6372"/>
                </a:solidFill>
                <a:latin typeface="Arial"/>
              </a:rPr>
              <a:t>.pdf</a:t>
            </a:r>
          </a:p>
        </p:txBody>
      </p:sp>
      <p:sp>
        <p:nvSpPr>
          <p:cNvPr id="36" name="Rectangle 35"/>
          <p:cNvSpPr/>
          <p:nvPr/>
        </p:nvSpPr>
        <p:spPr>
          <a:xfrm>
            <a:off x="5394960" y="4956048"/>
            <a:ext cx="960120" cy="2926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394960" y="4956048"/>
            <a:ext cx="960120" cy="292608"/>
          </a:xfrm>
          <a:prstGeom prst="rect">
            <a:avLst/>
          </a:prstGeom>
          <a:noFill/>
        </p:spPr>
        <p:txBody>
          <a:bodyPr wrap="square" anchor="ctr">
            <a:spAutoFit/>
          </a:bodyPr>
          <a:lstStyle/>
          <a:p>
            <a:pPr algn="ctr">
              <a:spcAft>
                <a:spcPts val="400"/>
              </a:spcAft>
            </a:pPr>
            <a:r>
              <a:rPr sz="900" b="1">
                <a:solidFill>
                  <a:srgbClr val="FFFFFF"/>
                </a:solidFill>
                <a:latin typeface="Arial"/>
              </a:rPr>
              <a:t>Download</a:t>
            </a:r>
          </a:p>
        </p:txBody>
      </p:sp>
      <p:sp>
        <p:nvSpPr>
          <p:cNvPr id="38" name="Rectangle 37"/>
          <p:cNvSpPr/>
          <p:nvPr/>
        </p:nvSpPr>
        <p:spPr>
          <a:xfrm>
            <a:off x="1033272" y="5422392"/>
            <a:ext cx="5477256"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143000" y="5495544"/>
            <a:ext cx="310896"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581912" y="5422392"/>
            <a:ext cx="3017520" cy="457200"/>
          </a:xfrm>
          <a:prstGeom prst="rect">
            <a:avLst/>
          </a:prstGeom>
          <a:noFill/>
        </p:spPr>
        <p:txBody>
          <a:bodyPr wrap="square" anchor="ctr">
            <a:spAutoFit/>
          </a:bodyPr>
          <a:lstStyle/>
          <a:p>
            <a:pPr algn="l">
              <a:spcAft>
                <a:spcPts val="400"/>
              </a:spcAft>
            </a:pPr>
            <a:r>
              <a:rPr sz="1150" b="1">
                <a:solidFill>
                  <a:srgbClr val="161B26"/>
                </a:solidFill>
                <a:latin typeface="Arial"/>
              </a:rPr>
              <a:t>Labs / Activities</a:t>
            </a:r>
          </a:p>
        </p:txBody>
      </p:sp>
      <p:sp>
        <p:nvSpPr>
          <p:cNvPr id="41" name="TextBox 40"/>
          <p:cNvSpPr txBox="1"/>
          <p:nvPr/>
        </p:nvSpPr>
        <p:spPr>
          <a:xfrm>
            <a:off x="4617720" y="5422392"/>
            <a:ext cx="914400" cy="457200"/>
          </a:xfrm>
          <a:prstGeom prst="rect">
            <a:avLst/>
          </a:prstGeom>
          <a:noFill/>
        </p:spPr>
        <p:txBody>
          <a:bodyPr wrap="square" anchor="ctr">
            <a:spAutoFit/>
          </a:bodyPr>
          <a:lstStyle/>
          <a:p>
            <a:pPr algn="l">
              <a:spcAft>
                <a:spcPts val="400"/>
              </a:spcAft>
            </a:pPr>
            <a:r>
              <a:rPr sz="1000" b="0">
                <a:solidFill>
                  <a:srgbClr val="5B6372"/>
                </a:solidFill>
                <a:latin typeface="Arial"/>
              </a:rPr>
              <a:t>folder</a:t>
            </a:r>
          </a:p>
        </p:txBody>
      </p:sp>
      <p:sp>
        <p:nvSpPr>
          <p:cNvPr id="42" name="Rectangle 41"/>
          <p:cNvSpPr/>
          <p:nvPr/>
        </p:nvSpPr>
        <p:spPr>
          <a:xfrm>
            <a:off x="5394960" y="5504688"/>
            <a:ext cx="960120" cy="29260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394960" y="5504688"/>
            <a:ext cx="960120" cy="292608"/>
          </a:xfrm>
          <a:prstGeom prst="rect">
            <a:avLst/>
          </a:prstGeom>
          <a:noFill/>
        </p:spPr>
        <p:txBody>
          <a:bodyPr wrap="square" anchor="ctr">
            <a:spAutoFit/>
          </a:bodyPr>
          <a:lstStyle/>
          <a:p>
            <a:pPr algn="ctr">
              <a:spcAft>
                <a:spcPts val="400"/>
              </a:spcAft>
            </a:pPr>
            <a:r>
              <a:rPr sz="900" b="1">
                <a:solidFill>
                  <a:srgbClr val="FFFFFF"/>
                </a:solidFill>
                <a:latin typeface="Arial"/>
              </a:rPr>
              <a:t>Download</a:t>
            </a:r>
          </a:p>
        </p:txBody>
      </p:sp>
      <p:sp>
        <p:nvSpPr>
          <p:cNvPr id="44" name="Rectangle 43"/>
          <p:cNvSpPr/>
          <p:nvPr/>
        </p:nvSpPr>
        <p:spPr>
          <a:xfrm>
            <a:off x="7059168" y="1783080"/>
            <a:ext cx="4352544" cy="6766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059168" y="1783080"/>
            <a:ext cx="82296" cy="6766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296912" y="1856232"/>
            <a:ext cx="3941064" cy="256032"/>
          </a:xfrm>
          <a:prstGeom prst="rect">
            <a:avLst/>
          </a:prstGeom>
          <a:noFill/>
        </p:spPr>
        <p:txBody>
          <a:bodyPr wrap="square" anchor="t">
            <a:spAutoFit/>
          </a:bodyPr>
          <a:lstStyle/>
          <a:p>
            <a:pPr algn="l">
              <a:spcAft>
                <a:spcPts val="400"/>
              </a:spcAft>
            </a:pPr>
            <a:r>
              <a:rPr sz="1150" b="1">
                <a:solidFill>
                  <a:srgbClr val="1F6FEB"/>
                </a:solidFill>
                <a:latin typeface="Arial"/>
              </a:rPr>
              <a:t>1 · Go to the LMS portal</a:t>
            </a:r>
          </a:p>
        </p:txBody>
      </p:sp>
      <p:sp>
        <p:nvSpPr>
          <p:cNvPr id="47" name="TextBox 46"/>
          <p:cNvSpPr txBox="1"/>
          <p:nvPr/>
        </p:nvSpPr>
        <p:spPr>
          <a:xfrm>
            <a:off x="7296912" y="2112264"/>
            <a:ext cx="3941064" cy="310896"/>
          </a:xfrm>
          <a:prstGeom prst="rect">
            <a:avLst/>
          </a:prstGeom>
          <a:noFill/>
        </p:spPr>
        <p:txBody>
          <a:bodyPr wrap="square" anchor="t">
            <a:spAutoFit/>
          </a:bodyPr>
          <a:lstStyle/>
          <a:p>
            <a:pPr algn="l">
              <a:spcAft>
                <a:spcPts val="400"/>
              </a:spcAft>
            </a:pPr>
            <a:r>
              <a:rPr sz="1050" b="0">
                <a:solidFill>
                  <a:srgbClr val="161B26"/>
                </a:solidFill>
                <a:latin typeface="Arial"/>
              </a:rPr>
              <a:t>Open lms-tms.tertiaryinfotech.com in your browser.</a:t>
            </a:r>
          </a:p>
        </p:txBody>
      </p:sp>
      <p:sp>
        <p:nvSpPr>
          <p:cNvPr id="48" name="Rectangle 47"/>
          <p:cNvSpPr/>
          <p:nvPr/>
        </p:nvSpPr>
        <p:spPr>
          <a:xfrm>
            <a:off x="7059168" y="2510028"/>
            <a:ext cx="4352544" cy="6766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059168" y="2510028"/>
            <a:ext cx="82296" cy="6766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296912" y="2583180"/>
            <a:ext cx="3941064" cy="256032"/>
          </a:xfrm>
          <a:prstGeom prst="rect">
            <a:avLst/>
          </a:prstGeom>
          <a:noFill/>
        </p:spPr>
        <p:txBody>
          <a:bodyPr wrap="square" anchor="t">
            <a:spAutoFit/>
          </a:bodyPr>
          <a:lstStyle/>
          <a:p>
            <a:pPr algn="l">
              <a:spcAft>
                <a:spcPts val="400"/>
              </a:spcAft>
            </a:pPr>
            <a:r>
              <a:rPr sz="1150" b="1">
                <a:solidFill>
                  <a:srgbClr val="10B981"/>
                </a:solidFill>
                <a:latin typeface="Arial"/>
              </a:rPr>
              <a:t>2 · Log in</a:t>
            </a:r>
          </a:p>
        </p:txBody>
      </p:sp>
      <p:sp>
        <p:nvSpPr>
          <p:cNvPr id="51" name="TextBox 50"/>
          <p:cNvSpPr txBox="1"/>
          <p:nvPr/>
        </p:nvSpPr>
        <p:spPr>
          <a:xfrm>
            <a:off x="7296912" y="2839212"/>
            <a:ext cx="3941064" cy="310896"/>
          </a:xfrm>
          <a:prstGeom prst="rect">
            <a:avLst/>
          </a:prstGeom>
          <a:noFill/>
        </p:spPr>
        <p:txBody>
          <a:bodyPr wrap="square" anchor="t">
            <a:spAutoFit/>
          </a:bodyPr>
          <a:lstStyle/>
          <a:p>
            <a:pPr algn="l">
              <a:spcAft>
                <a:spcPts val="400"/>
              </a:spcAft>
            </a:pPr>
            <a:r>
              <a:rPr sz="1050" b="0">
                <a:solidFill>
                  <a:srgbClr val="161B26"/>
                </a:solidFill>
                <a:latin typeface="Arial"/>
              </a:rPr>
              <a:t>Sign in with the e-mail you used to register for this course.</a:t>
            </a:r>
          </a:p>
        </p:txBody>
      </p:sp>
      <p:sp>
        <p:nvSpPr>
          <p:cNvPr id="52" name="Rectangle 51"/>
          <p:cNvSpPr/>
          <p:nvPr/>
        </p:nvSpPr>
        <p:spPr>
          <a:xfrm>
            <a:off x="7059168" y="3236976"/>
            <a:ext cx="4352544" cy="6766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059168" y="3236976"/>
            <a:ext cx="82296" cy="67665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296912" y="3310128"/>
            <a:ext cx="3941064" cy="256032"/>
          </a:xfrm>
          <a:prstGeom prst="rect">
            <a:avLst/>
          </a:prstGeom>
          <a:noFill/>
        </p:spPr>
        <p:txBody>
          <a:bodyPr wrap="square" anchor="t">
            <a:spAutoFit/>
          </a:bodyPr>
          <a:lstStyle/>
          <a:p>
            <a:pPr algn="l">
              <a:spcAft>
                <a:spcPts val="400"/>
              </a:spcAft>
            </a:pPr>
            <a:r>
              <a:rPr sz="1150" b="1">
                <a:solidFill>
                  <a:srgbClr val="7C3AED"/>
                </a:solidFill>
                <a:latin typeface="Arial"/>
              </a:rPr>
              <a:t>3 · Open this course</a:t>
            </a:r>
          </a:p>
        </p:txBody>
      </p:sp>
      <p:sp>
        <p:nvSpPr>
          <p:cNvPr id="55" name="TextBox 54"/>
          <p:cNvSpPr txBox="1"/>
          <p:nvPr/>
        </p:nvSpPr>
        <p:spPr>
          <a:xfrm>
            <a:off x="7296912" y="3566160"/>
            <a:ext cx="3941064" cy="310896"/>
          </a:xfrm>
          <a:prstGeom prst="rect">
            <a:avLst/>
          </a:prstGeom>
          <a:noFill/>
        </p:spPr>
        <p:txBody>
          <a:bodyPr wrap="square" anchor="t">
            <a:spAutoFit/>
          </a:bodyPr>
          <a:lstStyle/>
          <a:p>
            <a:pPr algn="l">
              <a:spcAft>
                <a:spcPts val="400"/>
              </a:spcAft>
            </a:pPr>
            <a:r>
              <a:rPr sz="1050" b="0">
                <a:solidFill>
                  <a:srgbClr val="161B26"/>
                </a:solidFill>
                <a:latin typeface="Arial"/>
              </a:rPr>
              <a:t>Select 'AI for Network Security' from your course list.</a:t>
            </a:r>
          </a:p>
        </p:txBody>
      </p:sp>
      <p:sp>
        <p:nvSpPr>
          <p:cNvPr id="56" name="Rectangle 55"/>
          <p:cNvSpPr/>
          <p:nvPr/>
        </p:nvSpPr>
        <p:spPr>
          <a:xfrm>
            <a:off x="7059168" y="3963924"/>
            <a:ext cx="4352544" cy="6766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7059168" y="3963924"/>
            <a:ext cx="82296" cy="6766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296912" y="4037076"/>
            <a:ext cx="3941064" cy="256032"/>
          </a:xfrm>
          <a:prstGeom prst="rect">
            <a:avLst/>
          </a:prstGeom>
          <a:noFill/>
        </p:spPr>
        <p:txBody>
          <a:bodyPr wrap="square" anchor="t">
            <a:spAutoFit/>
          </a:bodyPr>
          <a:lstStyle/>
          <a:p>
            <a:pPr algn="l">
              <a:spcAft>
                <a:spcPts val="400"/>
              </a:spcAft>
            </a:pPr>
            <a:r>
              <a:rPr sz="1150" b="1">
                <a:solidFill>
                  <a:srgbClr val="F59E0B"/>
                </a:solidFill>
                <a:latin typeface="Arial"/>
              </a:rPr>
              <a:t>4 · Download</a:t>
            </a:r>
          </a:p>
        </p:txBody>
      </p:sp>
      <p:sp>
        <p:nvSpPr>
          <p:cNvPr id="59" name="TextBox 58"/>
          <p:cNvSpPr txBox="1"/>
          <p:nvPr/>
        </p:nvSpPr>
        <p:spPr>
          <a:xfrm>
            <a:off x="7296912" y="4293108"/>
            <a:ext cx="3941064" cy="310896"/>
          </a:xfrm>
          <a:prstGeom prst="rect">
            <a:avLst/>
          </a:prstGeom>
          <a:noFill/>
        </p:spPr>
        <p:txBody>
          <a:bodyPr wrap="square" anchor="t">
            <a:spAutoFit/>
          </a:bodyPr>
          <a:lstStyle/>
          <a:p>
            <a:pPr algn="l">
              <a:spcAft>
                <a:spcPts val="400"/>
              </a:spcAft>
            </a:pPr>
            <a:r>
              <a:rPr sz="1050" b="0">
                <a:solidFill>
                  <a:srgbClr val="161B26"/>
                </a:solidFill>
                <a:latin typeface="Arial"/>
              </a:rPr>
              <a:t>Take the Trainer Slides, Learner Guide and Lesson Plan.</a:t>
            </a:r>
          </a:p>
        </p:txBody>
      </p:sp>
      <p:sp>
        <p:nvSpPr>
          <p:cNvPr id="60" name="Rectangle 59"/>
          <p:cNvSpPr/>
          <p:nvPr/>
        </p:nvSpPr>
        <p:spPr>
          <a:xfrm>
            <a:off x="7059168" y="4690872"/>
            <a:ext cx="4352544" cy="6766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059168" y="4690872"/>
            <a:ext cx="82296" cy="6766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296912" y="4764024"/>
            <a:ext cx="3941064" cy="256032"/>
          </a:xfrm>
          <a:prstGeom prst="rect">
            <a:avLst/>
          </a:prstGeom>
          <a:noFill/>
        </p:spPr>
        <p:txBody>
          <a:bodyPr wrap="square" anchor="t">
            <a:spAutoFit/>
          </a:bodyPr>
          <a:lstStyle/>
          <a:p>
            <a:pPr algn="l">
              <a:spcAft>
                <a:spcPts val="400"/>
              </a:spcAft>
            </a:pPr>
            <a:r>
              <a:rPr sz="1150" b="1">
                <a:solidFill>
                  <a:srgbClr val="1F6FEB"/>
                </a:solidFill>
                <a:latin typeface="Arial"/>
              </a:rPr>
              <a:t>5 · Get the labs</a:t>
            </a:r>
          </a:p>
        </p:txBody>
      </p:sp>
      <p:sp>
        <p:nvSpPr>
          <p:cNvPr id="63" name="TextBox 62"/>
          <p:cNvSpPr txBox="1"/>
          <p:nvPr/>
        </p:nvSpPr>
        <p:spPr>
          <a:xfrm>
            <a:off x="7296912" y="5020056"/>
            <a:ext cx="3941064" cy="310896"/>
          </a:xfrm>
          <a:prstGeom prst="rect">
            <a:avLst/>
          </a:prstGeom>
          <a:noFill/>
        </p:spPr>
        <p:txBody>
          <a:bodyPr wrap="square" anchor="t">
            <a:spAutoFit/>
          </a:bodyPr>
          <a:lstStyle/>
          <a:p>
            <a:pPr algn="l">
              <a:spcAft>
                <a:spcPts val="400"/>
              </a:spcAft>
            </a:pPr>
            <a:r>
              <a:rPr sz="1050" b="0">
                <a:solidFill>
                  <a:srgbClr val="161B26"/>
                </a:solidFill>
                <a:latin typeface="Arial"/>
              </a:rPr>
              <a:t>Open labs/ — each lab has its own step-by-step guide.</a:t>
            </a:r>
          </a:p>
        </p:txBody>
      </p:sp>
      <p:sp>
        <p:nvSpPr>
          <p:cNvPr id="64" name="Rectangle 63"/>
          <p:cNvSpPr/>
          <p:nvPr/>
        </p:nvSpPr>
        <p:spPr>
          <a:xfrm>
            <a:off x="7059168" y="5417820"/>
            <a:ext cx="4352544" cy="6766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7059168" y="5417820"/>
            <a:ext cx="82296" cy="6766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296912" y="5490972"/>
            <a:ext cx="3941064" cy="256032"/>
          </a:xfrm>
          <a:prstGeom prst="rect">
            <a:avLst/>
          </a:prstGeom>
          <a:noFill/>
        </p:spPr>
        <p:txBody>
          <a:bodyPr wrap="square" anchor="t">
            <a:spAutoFit/>
          </a:bodyPr>
          <a:lstStyle/>
          <a:p>
            <a:pPr algn="l">
              <a:spcAft>
                <a:spcPts val="400"/>
              </a:spcAft>
            </a:pPr>
            <a:r>
              <a:rPr sz="1150" b="1">
                <a:solidFill>
                  <a:srgbClr val="10B981"/>
                </a:solidFill>
                <a:latin typeface="Arial"/>
              </a:rPr>
              <a:t>6 · Keep them open</a:t>
            </a:r>
          </a:p>
        </p:txBody>
      </p:sp>
      <p:sp>
        <p:nvSpPr>
          <p:cNvPr id="67" name="TextBox 66"/>
          <p:cNvSpPr txBox="1"/>
          <p:nvPr/>
        </p:nvSpPr>
        <p:spPr>
          <a:xfrm>
            <a:off x="7296912" y="5747004"/>
            <a:ext cx="3941064" cy="310896"/>
          </a:xfrm>
          <a:prstGeom prst="rect">
            <a:avLst/>
          </a:prstGeom>
          <a:noFill/>
        </p:spPr>
        <p:txBody>
          <a:bodyPr wrap="square" anchor="t">
            <a:spAutoFit/>
          </a:bodyPr>
          <a:lstStyle/>
          <a:p>
            <a:pPr algn="l">
              <a:spcAft>
                <a:spcPts val="400"/>
              </a:spcAft>
            </a:pPr>
            <a:r>
              <a:rPr sz="1050" b="0">
                <a:solidFill>
                  <a:srgbClr val="161B26"/>
                </a:solidFill>
                <a:latin typeface="Arial"/>
              </a:rPr>
              <a:t>You may use these materials in the open-book assessment.</a:t>
            </a:r>
          </a:p>
        </p:txBody>
      </p:sp>
      <p:sp>
        <p:nvSpPr>
          <p:cNvPr id="68" name="TextBox 6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69" name="TextBox 6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70" name="TextBox 6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fast"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SKILLS FRAMEWORK  ·  ICT-DIT-4024-1.1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Skills Framework Alignment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TSC Title</a:t>
            </a:r>
          </a:p>
          <a:p>
            <a:pPr algn="l">
              <a:spcAft>
                <a:spcPts val="300"/>
              </a:spcAft>
            </a:pPr>
            <a:r>
              <a:rPr sz="1100" b="0">
                <a:solidFill>
                  <a:srgbClr val="5B6372"/>
                </a:solidFill>
                <a:latin typeface="Arial"/>
              </a:rPr>
              <a:t>Network Security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TSC Code</a:t>
            </a:r>
          </a:p>
          <a:p>
            <a:pPr algn="l">
              <a:spcAft>
                <a:spcPts val="300"/>
              </a:spcAft>
            </a:pPr>
            <a:r>
              <a:rPr sz="1100" b="0">
                <a:solidFill>
                  <a:srgbClr val="5B6372"/>
                </a:solidFill>
                <a:latin typeface="Arial"/>
              </a:rPr>
              <a:t>ICT-DIT-4024-1.1</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K1 / K2</a:t>
            </a:r>
          </a:p>
          <a:p>
            <a:pPr algn="l">
              <a:spcAft>
                <a:spcPts val="300"/>
              </a:spcAft>
            </a:pPr>
            <a:r>
              <a:rPr sz="1100" b="0">
                <a:solidFill>
                  <a:srgbClr val="5B6372"/>
                </a:solidFill>
                <a:latin typeface="Arial"/>
              </a:rPr>
              <a:t>ICT networks and their configuration; types of network attacks, vulnerabilities and related weaknesses.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K3 / K4</a:t>
            </a:r>
          </a:p>
          <a:p>
            <a:pPr algn="l">
              <a:spcAft>
                <a:spcPts val="300"/>
              </a:spcAft>
            </a:pPr>
            <a:r>
              <a:rPr sz="1100" b="0">
                <a:solidFill>
                  <a:srgbClr val="5B6372"/>
                </a:solidFill>
                <a:latin typeface="Arial"/>
              </a:rPr>
              <a:t>Types and techniques of network security measures; risk management plans and procedures.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A1 – A4</a:t>
            </a:r>
          </a:p>
          <a:p>
            <a:pPr algn="l">
              <a:spcAft>
                <a:spcPts val="300"/>
              </a:spcAft>
            </a:pPr>
            <a:r>
              <a:rPr sz="1100" b="0">
                <a:solidFill>
                  <a:srgbClr val="5B6372"/>
                </a:solidFill>
                <a:latin typeface="Arial"/>
              </a:rPr>
              <a:t>Identify threats, analyse security risks, determine assets requiring protection and create risk management plans.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A5 – A9</a:t>
            </a:r>
          </a:p>
          <a:p>
            <a:pPr algn="l">
              <a:spcAft>
                <a:spcPts val="300"/>
              </a:spcAft>
            </a:pPr>
            <a:r>
              <a:rPr sz="1100" b="0">
                <a:solidFill>
                  <a:srgbClr val="5B6372"/>
                </a:solidFill>
                <a:latin typeface="Arial"/>
              </a:rPr>
              <a:t>Define security phases, develop measures, design auditing and IR procedures, document incidents and implement configurations.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fast"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  ·  8 instructional hours per day  ·  1-hour lunch + 2 tea breaks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Lesson Plan — 2 Days, 8 Training Hours per Day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5239512" cy="6583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1810512"/>
            <a:ext cx="4782312" cy="274320"/>
          </a:xfrm>
          <a:prstGeom prst="rect">
            <a:avLst/>
          </a:prstGeom>
          <a:noFill/>
        </p:spPr>
        <p:txBody>
          <a:bodyPr wrap="square" anchor="t">
            <a:spAutoFit/>
          </a:bodyPr>
          <a:lstStyle/>
          <a:p>
            <a:pPr algn="l">
              <a:spcAft>
                <a:spcPts val="400"/>
              </a:spcAft>
            </a:pPr>
            <a:r>
              <a:rPr sz="1300" b="1">
                <a:solidFill>
                  <a:srgbClr val="FFFFFF"/>
                </a:solidFill>
                <a:latin typeface="Arial"/>
              </a:rPr>
              <a:t>DAY 1</a:t>
            </a:r>
          </a:p>
        </p:txBody>
      </p:sp>
      <p:sp>
        <p:nvSpPr>
          <p:cNvPr id="9" name="TextBox 8"/>
          <p:cNvSpPr txBox="1"/>
          <p:nvPr/>
        </p:nvSpPr>
        <p:spPr>
          <a:xfrm>
            <a:off x="1014984" y="2066543"/>
            <a:ext cx="4782312" cy="274320"/>
          </a:xfrm>
          <a:prstGeom prst="rect">
            <a:avLst/>
          </a:prstGeom>
          <a:noFill/>
        </p:spPr>
        <p:txBody>
          <a:bodyPr wrap="square" anchor="t">
            <a:spAutoFit/>
          </a:bodyPr>
          <a:lstStyle/>
          <a:p>
            <a:pPr algn="l">
              <a:spcAft>
                <a:spcPts val="400"/>
              </a:spcAft>
            </a:pPr>
            <a:r>
              <a:rPr sz="1050" b="0">
                <a:solidFill>
                  <a:srgbClr val="FFFFFF"/>
                </a:solidFill>
                <a:latin typeface="Arial"/>
              </a:rPr>
              <a:t>AI-Assisted Analysis &amp; Risk Planning</a:t>
            </a:r>
          </a:p>
        </p:txBody>
      </p:sp>
      <p:sp>
        <p:nvSpPr>
          <p:cNvPr id="10" name="Rectangle 9"/>
          <p:cNvSpPr/>
          <p:nvPr/>
        </p:nvSpPr>
        <p:spPr>
          <a:xfrm>
            <a:off x="777240" y="2505456"/>
            <a:ext cx="523951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505456"/>
            <a:ext cx="73152"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78408" y="2606040"/>
            <a:ext cx="713232"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78408" y="2606040"/>
            <a:ext cx="713232" cy="310896"/>
          </a:xfrm>
          <a:prstGeom prst="rect">
            <a:avLst/>
          </a:prstGeom>
          <a:noFill/>
        </p:spPr>
        <p:txBody>
          <a:bodyPr wrap="square" anchor="ctr">
            <a:spAutoFit/>
          </a:bodyPr>
          <a:lstStyle/>
          <a:p>
            <a:pPr algn="ctr">
              <a:spcAft>
                <a:spcPts val="400"/>
              </a:spcAft>
            </a:pPr>
            <a:r>
              <a:rPr sz="950" b="1">
                <a:solidFill>
                  <a:srgbClr val="FFFFFF"/>
                </a:solidFill>
                <a:latin typeface="Arial"/>
              </a:rPr>
              <a:t>9:30</a:t>
            </a:r>
          </a:p>
        </p:txBody>
      </p:sp>
      <p:sp>
        <p:nvSpPr>
          <p:cNvPr id="14" name="TextBox 13"/>
          <p:cNvSpPr txBox="1"/>
          <p:nvPr/>
        </p:nvSpPr>
        <p:spPr>
          <a:xfrm>
            <a:off x="1819655" y="2505456"/>
            <a:ext cx="3995928" cy="457200"/>
          </a:xfrm>
          <a:prstGeom prst="rect">
            <a:avLst/>
          </a:prstGeom>
          <a:noFill/>
        </p:spPr>
        <p:txBody>
          <a:bodyPr wrap="square" anchor="ctr">
            <a:spAutoFit/>
          </a:bodyPr>
          <a:lstStyle/>
          <a:p>
            <a:pPr algn="l">
              <a:spcAft>
                <a:spcPts val="400"/>
              </a:spcAft>
            </a:pPr>
            <a:r>
              <a:rPr sz="1050" b="0">
                <a:solidFill>
                  <a:srgbClr val="161B26"/>
                </a:solidFill>
                <a:latin typeface="Arial"/>
              </a:rPr>
              <a:t>Welcome, learning outcomes, digital attendance (AM)</a:t>
            </a:r>
          </a:p>
        </p:txBody>
      </p:sp>
      <p:sp>
        <p:nvSpPr>
          <p:cNvPr id="15" name="Rectangle 14"/>
          <p:cNvSpPr/>
          <p:nvPr/>
        </p:nvSpPr>
        <p:spPr>
          <a:xfrm>
            <a:off x="777240" y="3012948"/>
            <a:ext cx="523951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012948"/>
            <a:ext cx="73152"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78408" y="3113532"/>
            <a:ext cx="713232"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8408" y="3113532"/>
            <a:ext cx="713232" cy="310896"/>
          </a:xfrm>
          <a:prstGeom prst="rect">
            <a:avLst/>
          </a:prstGeom>
          <a:noFill/>
        </p:spPr>
        <p:txBody>
          <a:bodyPr wrap="square" anchor="ctr">
            <a:spAutoFit/>
          </a:bodyPr>
          <a:lstStyle/>
          <a:p>
            <a:pPr algn="ctr">
              <a:spcAft>
                <a:spcPts val="400"/>
              </a:spcAft>
            </a:pPr>
            <a:r>
              <a:rPr sz="950" b="1">
                <a:solidFill>
                  <a:srgbClr val="FFFFFF"/>
                </a:solidFill>
                <a:latin typeface="Arial"/>
              </a:rPr>
              <a:t>10:00</a:t>
            </a:r>
          </a:p>
        </p:txBody>
      </p:sp>
      <p:sp>
        <p:nvSpPr>
          <p:cNvPr id="19" name="TextBox 18"/>
          <p:cNvSpPr txBox="1"/>
          <p:nvPr/>
        </p:nvSpPr>
        <p:spPr>
          <a:xfrm>
            <a:off x="1819655" y="3012948"/>
            <a:ext cx="3995928" cy="457200"/>
          </a:xfrm>
          <a:prstGeom prst="rect">
            <a:avLst/>
          </a:prstGeom>
          <a:noFill/>
        </p:spPr>
        <p:txBody>
          <a:bodyPr wrap="square" anchor="ctr">
            <a:spAutoFit/>
          </a:bodyPr>
          <a:lstStyle/>
          <a:p>
            <a:pPr algn="l">
              <a:spcAft>
                <a:spcPts val="400"/>
              </a:spcAft>
            </a:pPr>
            <a:r>
              <a:rPr sz="1050" b="0">
                <a:solidFill>
                  <a:srgbClr val="161B26"/>
                </a:solidFill>
                <a:latin typeface="Arial"/>
              </a:rPr>
              <a:t>Core concepts — network security, the CIA triad, why AI</a:t>
            </a:r>
          </a:p>
        </p:txBody>
      </p:sp>
      <p:sp>
        <p:nvSpPr>
          <p:cNvPr id="20" name="Rectangle 19"/>
          <p:cNvSpPr/>
          <p:nvPr/>
        </p:nvSpPr>
        <p:spPr>
          <a:xfrm>
            <a:off x="777240" y="3520440"/>
            <a:ext cx="523951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520440"/>
            <a:ext cx="73152"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78408" y="3621024"/>
            <a:ext cx="713232"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8408" y="3621024"/>
            <a:ext cx="713232" cy="310896"/>
          </a:xfrm>
          <a:prstGeom prst="rect">
            <a:avLst/>
          </a:prstGeom>
          <a:noFill/>
        </p:spPr>
        <p:txBody>
          <a:bodyPr wrap="square" anchor="ctr">
            <a:spAutoFit/>
          </a:bodyPr>
          <a:lstStyle/>
          <a:p>
            <a:pPr algn="ctr">
              <a:spcAft>
                <a:spcPts val="400"/>
              </a:spcAft>
            </a:pPr>
            <a:r>
              <a:rPr sz="950" b="1">
                <a:solidFill>
                  <a:srgbClr val="FFFFFF"/>
                </a:solidFill>
                <a:latin typeface="Arial"/>
              </a:rPr>
              <a:t>11:30</a:t>
            </a:r>
          </a:p>
        </p:txBody>
      </p:sp>
      <p:sp>
        <p:nvSpPr>
          <p:cNvPr id="24" name="TextBox 23"/>
          <p:cNvSpPr txBox="1"/>
          <p:nvPr/>
        </p:nvSpPr>
        <p:spPr>
          <a:xfrm>
            <a:off x="1819655" y="3520440"/>
            <a:ext cx="3995928" cy="457200"/>
          </a:xfrm>
          <a:prstGeom prst="rect">
            <a:avLst/>
          </a:prstGeom>
          <a:noFill/>
        </p:spPr>
        <p:txBody>
          <a:bodyPr wrap="square" anchor="ctr">
            <a:spAutoFit/>
          </a:bodyPr>
          <a:lstStyle/>
          <a:p>
            <a:pPr algn="l">
              <a:spcAft>
                <a:spcPts val="400"/>
              </a:spcAft>
            </a:pPr>
            <a:r>
              <a:rPr sz="1050" b="0">
                <a:solidFill>
                  <a:srgbClr val="161B26"/>
                </a:solidFill>
                <a:latin typeface="Arial"/>
              </a:rPr>
              <a:t>Topic 1 — Threat &amp; vulnerability analysis (Labs 1–2)</a:t>
            </a:r>
          </a:p>
        </p:txBody>
      </p:sp>
      <p:sp>
        <p:nvSpPr>
          <p:cNvPr id="25" name="Rectangle 24"/>
          <p:cNvSpPr/>
          <p:nvPr/>
        </p:nvSpPr>
        <p:spPr>
          <a:xfrm>
            <a:off x="777240" y="4027932"/>
            <a:ext cx="523951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027932"/>
            <a:ext cx="73152"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78408" y="4128516"/>
            <a:ext cx="713232"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78408" y="4128516"/>
            <a:ext cx="713232" cy="310896"/>
          </a:xfrm>
          <a:prstGeom prst="rect">
            <a:avLst/>
          </a:prstGeom>
          <a:noFill/>
        </p:spPr>
        <p:txBody>
          <a:bodyPr wrap="square" anchor="ctr">
            <a:spAutoFit/>
          </a:bodyPr>
          <a:lstStyle/>
          <a:p>
            <a:pPr algn="ctr">
              <a:spcAft>
                <a:spcPts val="400"/>
              </a:spcAft>
            </a:pPr>
            <a:r>
              <a:rPr sz="950" b="1">
                <a:solidFill>
                  <a:srgbClr val="FFFFFF"/>
                </a:solidFill>
                <a:latin typeface="Arial"/>
              </a:rPr>
              <a:t>13:30</a:t>
            </a:r>
          </a:p>
        </p:txBody>
      </p:sp>
      <p:sp>
        <p:nvSpPr>
          <p:cNvPr id="29" name="TextBox 28"/>
          <p:cNvSpPr txBox="1"/>
          <p:nvPr/>
        </p:nvSpPr>
        <p:spPr>
          <a:xfrm>
            <a:off x="1819655" y="4027932"/>
            <a:ext cx="3995928" cy="457200"/>
          </a:xfrm>
          <a:prstGeom prst="rect">
            <a:avLst/>
          </a:prstGeom>
          <a:noFill/>
        </p:spPr>
        <p:txBody>
          <a:bodyPr wrap="square" anchor="ctr">
            <a:spAutoFit/>
          </a:bodyPr>
          <a:lstStyle/>
          <a:p>
            <a:pPr algn="l">
              <a:spcAft>
                <a:spcPts val="400"/>
              </a:spcAft>
            </a:pPr>
            <a:r>
              <a:rPr sz="1050" b="0">
                <a:solidFill>
                  <a:srgbClr val="161B26"/>
                </a:solidFill>
                <a:latin typeface="Arial"/>
              </a:rPr>
              <a:t>Lunch · digital attendance (PM)</a:t>
            </a:r>
          </a:p>
        </p:txBody>
      </p:sp>
      <p:sp>
        <p:nvSpPr>
          <p:cNvPr id="30" name="Rectangle 29"/>
          <p:cNvSpPr/>
          <p:nvPr/>
        </p:nvSpPr>
        <p:spPr>
          <a:xfrm>
            <a:off x="777240" y="4535424"/>
            <a:ext cx="523951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535424"/>
            <a:ext cx="73152"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78408" y="4636008"/>
            <a:ext cx="713232"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78408" y="4636008"/>
            <a:ext cx="713232" cy="310896"/>
          </a:xfrm>
          <a:prstGeom prst="rect">
            <a:avLst/>
          </a:prstGeom>
          <a:noFill/>
        </p:spPr>
        <p:txBody>
          <a:bodyPr wrap="square" anchor="ctr">
            <a:spAutoFit/>
          </a:bodyPr>
          <a:lstStyle/>
          <a:p>
            <a:pPr algn="ctr">
              <a:spcAft>
                <a:spcPts val="400"/>
              </a:spcAft>
            </a:pPr>
            <a:r>
              <a:rPr sz="950" b="1">
                <a:solidFill>
                  <a:srgbClr val="FFFFFF"/>
                </a:solidFill>
                <a:latin typeface="Arial"/>
              </a:rPr>
              <a:t>14:30</a:t>
            </a:r>
          </a:p>
        </p:txBody>
      </p:sp>
      <p:sp>
        <p:nvSpPr>
          <p:cNvPr id="34" name="TextBox 33"/>
          <p:cNvSpPr txBox="1"/>
          <p:nvPr/>
        </p:nvSpPr>
        <p:spPr>
          <a:xfrm>
            <a:off x="1819655" y="4535424"/>
            <a:ext cx="3995928" cy="457200"/>
          </a:xfrm>
          <a:prstGeom prst="rect">
            <a:avLst/>
          </a:prstGeom>
          <a:noFill/>
        </p:spPr>
        <p:txBody>
          <a:bodyPr wrap="square" anchor="ctr">
            <a:spAutoFit/>
          </a:bodyPr>
          <a:lstStyle/>
          <a:p>
            <a:pPr algn="l">
              <a:spcAft>
                <a:spcPts val="400"/>
              </a:spcAft>
            </a:pPr>
            <a:r>
              <a:rPr sz="1050" b="0">
                <a:solidFill>
                  <a:srgbClr val="161B26"/>
                </a:solidFill>
                <a:latin typeface="Arial"/>
              </a:rPr>
              <a:t>Lab 3 · Topic 2 — Risk assessment &amp; planning</a:t>
            </a:r>
          </a:p>
        </p:txBody>
      </p:sp>
      <p:sp>
        <p:nvSpPr>
          <p:cNvPr id="35" name="Rectangle 34"/>
          <p:cNvSpPr/>
          <p:nvPr/>
        </p:nvSpPr>
        <p:spPr>
          <a:xfrm>
            <a:off x="777240" y="5042916"/>
            <a:ext cx="523951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7240" y="5042916"/>
            <a:ext cx="73152"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78408" y="5143500"/>
            <a:ext cx="713232"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78408" y="5143500"/>
            <a:ext cx="713232" cy="310896"/>
          </a:xfrm>
          <a:prstGeom prst="rect">
            <a:avLst/>
          </a:prstGeom>
          <a:noFill/>
        </p:spPr>
        <p:txBody>
          <a:bodyPr wrap="square" anchor="ctr">
            <a:spAutoFit/>
          </a:bodyPr>
          <a:lstStyle/>
          <a:p>
            <a:pPr algn="ctr">
              <a:spcAft>
                <a:spcPts val="400"/>
              </a:spcAft>
            </a:pPr>
            <a:r>
              <a:rPr sz="950" b="1">
                <a:solidFill>
                  <a:srgbClr val="FFFFFF"/>
                </a:solidFill>
                <a:latin typeface="Arial"/>
              </a:rPr>
              <a:t>16:30</a:t>
            </a:r>
          </a:p>
        </p:txBody>
      </p:sp>
      <p:sp>
        <p:nvSpPr>
          <p:cNvPr id="39" name="TextBox 38"/>
          <p:cNvSpPr txBox="1"/>
          <p:nvPr/>
        </p:nvSpPr>
        <p:spPr>
          <a:xfrm>
            <a:off x="1819655" y="5042916"/>
            <a:ext cx="3995928" cy="457200"/>
          </a:xfrm>
          <a:prstGeom prst="rect">
            <a:avLst/>
          </a:prstGeom>
          <a:noFill/>
        </p:spPr>
        <p:txBody>
          <a:bodyPr wrap="square" anchor="ctr">
            <a:spAutoFit/>
          </a:bodyPr>
          <a:lstStyle/>
          <a:p>
            <a:pPr algn="l">
              <a:spcAft>
                <a:spcPts val="400"/>
              </a:spcAft>
            </a:pPr>
            <a:r>
              <a:rPr sz="1050" b="0">
                <a:solidFill>
                  <a:srgbClr val="161B26"/>
                </a:solidFill>
                <a:latin typeface="Arial"/>
              </a:rPr>
              <a:t>Topic 2 continued (Labs 4–6) · Day 1 recap</a:t>
            </a:r>
          </a:p>
        </p:txBody>
      </p:sp>
      <p:sp>
        <p:nvSpPr>
          <p:cNvPr id="40" name="Rectangle 39"/>
          <p:cNvSpPr/>
          <p:nvPr/>
        </p:nvSpPr>
        <p:spPr>
          <a:xfrm>
            <a:off x="6172200" y="1737360"/>
            <a:ext cx="5239512"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09944" y="1810512"/>
            <a:ext cx="4782312" cy="274320"/>
          </a:xfrm>
          <a:prstGeom prst="rect">
            <a:avLst/>
          </a:prstGeom>
          <a:noFill/>
        </p:spPr>
        <p:txBody>
          <a:bodyPr wrap="square" anchor="t">
            <a:spAutoFit/>
          </a:bodyPr>
          <a:lstStyle/>
          <a:p>
            <a:pPr algn="l">
              <a:spcAft>
                <a:spcPts val="400"/>
              </a:spcAft>
            </a:pPr>
            <a:r>
              <a:rPr sz="1300" b="1">
                <a:solidFill>
                  <a:srgbClr val="FFFFFF"/>
                </a:solidFill>
                <a:latin typeface="Arial"/>
              </a:rPr>
              <a:t>DAY 2</a:t>
            </a:r>
          </a:p>
        </p:txBody>
      </p:sp>
      <p:sp>
        <p:nvSpPr>
          <p:cNvPr id="42" name="TextBox 41"/>
          <p:cNvSpPr txBox="1"/>
          <p:nvPr/>
        </p:nvSpPr>
        <p:spPr>
          <a:xfrm>
            <a:off x="6409944" y="2066543"/>
            <a:ext cx="4782312" cy="274320"/>
          </a:xfrm>
          <a:prstGeom prst="rect">
            <a:avLst/>
          </a:prstGeom>
          <a:noFill/>
        </p:spPr>
        <p:txBody>
          <a:bodyPr wrap="square" anchor="t">
            <a:spAutoFit/>
          </a:bodyPr>
          <a:lstStyle/>
          <a:p>
            <a:pPr algn="l">
              <a:spcAft>
                <a:spcPts val="400"/>
              </a:spcAft>
            </a:pPr>
            <a:r>
              <a:rPr sz="1050" b="0">
                <a:solidFill>
                  <a:srgbClr val="FFFFFF"/>
                </a:solidFill>
                <a:latin typeface="Arial"/>
              </a:rPr>
              <a:t>Security Measures &amp; Incident Response</a:t>
            </a:r>
          </a:p>
        </p:txBody>
      </p:sp>
      <p:sp>
        <p:nvSpPr>
          <p:cNvPr id="43" name="Rectangle 42"/>
          <p:cNvSpPr/>
          <p:nvPr/>
        </p:nvSpPr>
        <p:spPr>
          <a:xfrm>
            <a:off x="6172200" y="2505456"/>
            <a:ext cx="523951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172200" y="2505456"/>
            <a:ext cx="73152"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373368" y="2606040"/>
            <a:ext cx="713232"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373368" y="2606040"/>
            <a:ext cx="713232" cy="310896"/>
          </a:xfrm>
          <a:prstGeom prst="rect">
            <a:avLst/>
          </a:prstGeom>
          <a:noFill/>
        </p:spPr>
        <p:txBody>
          <a:bodyPr wrap="square" anchor="ctr">
            <a:spAutoFit/>
          </a:bodyPr>
          <a:lstStyle/>
          <a:p>
            <a:pPr algn="ctr">
              <a:spcAft>
                <a:spcPts val="400"/>
              </a:spcAft>
            </a:pPr>
            <a:r>
              <a:rPr sz="950" b="1">
                <a:solidFill>
                  <a:srgbClr val="FFFFFF"/>
                </a:solidFill>
                <a:latin typeface="Arial"/>
              </a:rPr>
              <a:t>9:30</a:t>
            </a:r>
          </a:p>
        </p:txBody>
      </p:sp>
      <p:sp>
        <p:nvSpPr>
          <p:cNvPr id="47" name="TextBox 46"/>
          <p:cNvSpPr txBox="1"/>
          <p:nvPr/>
        </p:nvSpPr>
        <p:spPr>
          <a:xfrm>
            <a:off x="7214615" y="2505456"/>
            <a:ext cx="3995928" cy="457200"/>
          </a:xfrm>
          <a:prstGeom prst="rect">
            <a:avLst/>
          </a:prstGeom>
          <a:noFill/>
        </p:spPr>
        <p:txBody>
          <a:bodyPr wrap="square" anchor="ctr">
            <a:spAutoFit/>
          </a:bodyPr>
          <a:lstStyle/>
          <a:p>
            <a:pPr algn="l">
              <a:spcAft>
                <a:spcPts val="400"/>
              </a:spcAft>
            </a:pPr>
            <a:r>
              <a:rPr sz="1050" b="0">
                <a:solidFill>
                  <a:srgbClr val="161B26"/>
                </a:solidFill>
                <a:latin typeface="Arial"/>
              </a:rPr>
              <a:t>Day 1 review · digital attendance (AM)</a:t>
            </a:r>
          </a:p>
        </p:txBody>
      </p:sp>
      <p:sp>
        <p:nvSpPr>
          <p:cNvPr id="48" name="Rectangle 47"/>
          <p:cNvSpPr/>
          <p:nvPr/>
        </p:nvSpPr>
        <p:spPr>
          <a:xfrm>
            <a:off x="6172200" y="3012948"/>
            <a:ext cx="523951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172200" y="3012948"/>
            <a:ext cx="73152"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373368" y="3113532"/>
            <a:ext cx="713232"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373368" y="3113532"/>
            <a:ext cx="713232" cy="310896"/>
          </a:xfrm>
          <a:prstGeom prst="rect">
            <a:avLst/>
          </a:prstGeom>
          <a:noFill/>
        </p:spPr>
        <p:txBody>
          <a:bodyPr wrap="square" anchor="ctr">
            <a:spAutoFit/>
          </a:bodyPr>
          <a:lstStyle/>
          <a:p>
            <a:pPr algn="ctr">
              <a:spcAft>
                <a:spcPts val="400"/>
              </a:spcAft>
            </a:pPr>
            <a:r>
              <a:rPr sz="950" b="1">
                <a:solidFill>
                  <a:srgbClr val="FFFFFF"/>
                </a:solidFill>
                <a:latin typeface="Arial"/>
              </a:rPr>
              <a:t>9:45</a:t>
            </a:r>
          </a:p>
        </p:txBody>
      </p:sp>
      <p:sp>
        <p:nvSpPr>
          <p:cNvPr id="52" name="TextBox 51"/>
          <p:cNvSpPr txBox="1"/>
          <p:nvPr/>
        </p:nvSpPr>
        <p:spPr>
          <a:xfrm>
            <a:off x="7214615" y="3012948"/>
            <a:ext cx="3995928" cy="457200"/>
          </a:xfrm>
          <a:prstGeom prst="rect">
            <a:avLst/>
          </a:prstGeom>
          <a:noFill/>
        </p:spPr>
        <p:txBody>
          <a:bodyPr wrap="square" anchor="ctr">
            <a:spAutoFit/>
          </a:bodyPr>
          <a:lstStyle/>
          <a:p>
            <a:pPr algn="l">
              <a:spcAft>
                <a:spcPts val="400"/>
              </a:spcAft>
            </a:pPr>
            <a:r>
              <a:rPr sz="1050" b="0">
                <a:solidFill>
                  <a:srgbClr val="161B26"/>
                </a:solidFill>
                <a:latin typeface="Arial"/>
              </a:rPr>
              <a:t>Topic 3 — Designing AI-enhanced security measures</a:t>
            </a:r>
          </a:p>
        </p:txBody>
      </p:sp>
      <p:sp>
        <p:nvSpPr>
          <p:cNvPr id="53" name="Rectangle 52"/>
          <p:cNvSpPr/>
          <p:nvPr/>
        </p:nvSpPr>
        <p:spPr>
          <a:xfrm>
            <a:off x="6172200" y="3520440"/>
            <a:ext cx="523951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172200" y="3520440"/>
            <a:ext cx="73152"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373368" y="3621024"/>
            <a:ext cx="713232"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373368" y="3621024"/>
            <a:ext cx="713232" cy="310896"/>
          </a:xfrm>
          <a:prstGeom prst="rect">
            <a:avLst/>
          </a:prstGeom>
          <a:noFill/>
        </p:spPr>
        <p:txBody>
          <a:bodyPr wrap="square" anchor="ctr">
            <a:spAutoFit/>
          </a:bodyPr>
          <a:lstStyle/>
          <a:p>
            <a:pPr algn="ctr">
              <a:spcAft>
                <a:spcPts val="400"/>
              </a:spcAft>
            </a:pPr>
            <a:r>
              <a:rPr sz="950" b="1">
                <a:solidFill>
                  <a:srgbClr val="FFFFFF"/>
                </a:solidFill>
                <a:latin typeface="Arial"/>
              </a:rPr>
              <a:t>11:30</a:t>
            </a:r>
          </a:p>
        </p:txBody>
      </p:sp>
      <p:sp>
        <p:nvSpPr>
          <p:cNvPr id="57" name="TextBox 56"/>
          <p:cNvSpPr txBox="1"/>
          <p:nvPr/>
        </p:nvSpPr>
        <p:spPr>
          <a:xfrm>
            <a:off x="7214615" y="3520440"/>
            <a:ext cx="3995928" cy="457200"/>
          </a:xfrm>
          <a:prstGeom prst="rect">
            <a:avLst/>
          </a:prstGeom>
          <a:noFill/>
        </p:spPr>
        <p:txBody>
          <a:bodyPr wrap="square" anchor="ctr">
            <a:spAutoFit/>
          </a:bodyPr>
          <a:lstStyle/>
          <a:p>
            <a:pPr algn="l">
              <a:spcAft>
                <a:spcPts val="400"/>
              </a:spcAft>
            </a:pPr>
            <a:r>
              <a:rPr sz="1050" b="0">
                <a:solidFill>
                  <a:srgbClr val="161B26"/>
                </a:solidFill>
                <a:latin typeface="Arial"/>
              </a:rPr>
              <a:t>Topic 3 continued (Labs 7–9)</a:t>
            </a:r>
          </a:p>
        </p:txBody>
      </p:sp>
      <p:sp>
        <p:nvSpPr>
          <p:cNvPr id="58" name="Rectangle 57"/>
          <p:cNvSpPr/>
          <p:nvPr/>
        </p:nvSpPr>
        <p:spPr>
          <a:xfrm>
            <a:off x="6172200" y="4027932"/>
            <a:ext cx="523951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172200" y="4027932"/>
            <a:ext cx="73152"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373368" y="4128516"/>
            <a:ext cx="713232"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373368" y="4128516"/>
            <a:ext cx="713232" cy="310896"/>
          </a:xfrm>
          <a:prstGeom prst="rect">
            <a:avLst/>
          </a:prstGeom>
          <a:noFill/>
        </p:spPr>
        <p:txBody>
          <a:bodyPr wrap="square" anchor="ctr">
            <a:spAutoFit/>
          </a:bodyPr>
          <a:lstStyle/>
          <a:p>
            <a:pPr algn="ctr">
              <a:spcAft>
                <a:spcPts val="400"/>
              </a:spcAft>
            </a:pPr>
            <a:r>
              <a:rPr sz="950" b="1">
                <a:solidFill>
                  <a:srgbClr val="FFFFFF"/>
                </a:solidFill>
                <a:latin typeface="Arial"/>
              </a:rPr>
              <a:t>13:30</a:t>
            </a:r>
          </a:p>
        </p:txBody>
      </p:sp>
      <p:sp>
        <p:nvSpPr>
          <p:cNvPr id="62" name="TextBox 61"/>
          <p:cNvSpPr txBox="1"/>
          <p:nvPr/>
        </p:nvSpPr>
        <p:spPr>
          <a:xfrm>
            <a:off x="7214615" y="4027932"/>
            <a:ext cx="3995928" cy="457200"/>
          </a:xfrm>
          <a:prstGeom prst="rect">
            <a:avLst/>
          </a:prstGeom>
          <a:noFill/>
        </p:spPr>
        <p:txBody>
          <a:bodyPr wrap="square" anchor="ctr">
            <a:spAutoFit/>
          </a:bodyPr>
          <a:lstStyle/>
          <a:p>
            <a:pPr algn="l">
              <a:spcAft>
                <a:spcPts val="400"/>
              </a:spcAft>
            </a:pPr>
            <a:r>
              <a:rPr sz="1050" b="0">
                <a:solidFill>
                  <a:srgbClr val="161B26"/>
                </a:solidFill>
                <a:latin typeface="Arial"/>
              </a:rPr>
              <a:t>Lunch · digital attendance (PM)</a:t>
            </a:r>
          </a:p>
        </p:txBody>
      </p:sp>
      <p:sp>
        <p:nvSpPr>
          <p:cNvPr id="63" name="Rectangle 62"/>
          <p:cNvSpPr/>
          <p:nvPr/>
        </p:nvSpPr>
        <p:spPr>
          <a:xfrm>
            <a:off x="6172200" y="4535424"/>
            <a:ext cx="523951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172200" y="4535424"/>
            <a:ext cx="73152"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373368" y="4636008"/>
            <a:ext cx="713232"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373368" y="4636008"/>
            <a:ext cx="713232" cy="310896"/>
          </a:xfrm>
          <a:prstGeom prst="rect">
            <a:avLst/>
          </a:prstGeom>
          <a:noFill/>
        </p:spPr>
        <p:txBody>
          <a:bodyPr wrap="square" anchor="ctr">
            <a:spAutoFit/>
          </a:bodyPr>
          <a:lstStyle/>
          <a:p>
            <a:pPr algn="ctr">
              <a:spcAft>
                <a:spcPts val="400"/>
              </a:spcAft>
            </a:pPr>
            <a:r>
              <a:rPr sz="950" b="1">
                <a:solidFill>
                  <a:srgbClr val="FFFFFF"/>
                </a:solidFill>
                <a:latin typeface="Arial"/>
              </a:rPr>
              <a:t>14:30</a:t>
            </a:r>
          </a:p>
        </p:txBody>
      </p:sp>
      <p:sp>
        <p:nvSpPr>
          <p:cNvPr id="67" name="TextBox 66"/>
          <p:cNvSpPr txBox="1"/>
          <p:nvPr/>
        </p:nvSpPr>
        <p:spPr>
          <a:xfrm>
            <a:off x="7214615" y="4535424"/>
            <a:ext cx="3995928" cy="457200"/>
          </a:xfrm>
          <a:prstGeom prst="rect">
            <a:avLst/>
          </a:prstGeom>
          <a:noFill/>
        </p:spPr>
        <p:txBody>
          <a:bodyPr wrap="square" anchor="ctr">
            <a:spAutoFit/>
          </a:bodyPr>
          <a:lstStyle/>
          <a:p>
            <a:pPr algn="l">
              <a:spcAft>
                <a:spcPts val="400"/>
              </a:spcAft>
            </a:pPr>
            <a:r>
              <a:rPr sz="1050" b="0">
                <a:solidFill>
                  <a:srgbClr val="161B26"/>
                </a:solidFill>
                <a:latin typeface="Arial"/>
              </a:rPr>
              <a:t>Topic 4 — Incident documentation &amp; response (Labs 10–11)</a:t>
            </a:r>
          </a:p>
        </p:txBody>
      </p:sp>
      <p:sp>
        <p:nvSpPr>
          <p:cNvPr id="68" name="Rectangle 67"/>
          <p:cNvSpPr/>
          <p:nvPr/>
        </p:nvSpPr>
        <p:spPr>
          <a:xfrm>
            <a:off x="6172200" y="5042916"/>
            <a:ext cx="523951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6172200" y="5042916"/>
            <a:ext cx="73152"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6373368" y="5143500"/>
            <a:ext cx="713232"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373368" y="5143500"/>
            <a:ext cx="713232" cy="310896"/>
          </a:xfrm>
          <a:prstGeom prst="rect">
            <a:avLst/>
          </a:prstGeom>
          <a:noFill/>
        </p:spPr>
        <p:txBody>
          <a:bodyPr wrap="square" anchor="ctr">
            <a:spAutoFit/>
          </a:bodyPr>
          <a:lstStyle/>
          <a:p>
            <a:pPr algn="ctr">
              <a:spcAft>
                <a:spcPts val="400"/>
              </a:spcAft>
            </a:pPr>
            <a:r>
              <a:rPr sz="950" b="1">
                <a:solidFill>
                  <a:srgbClr val="FFFFFF"/>
                </a:solidFill>
                <a:latin typeface="Arial"/>
              </a:rPr>
              <a:t>16:15</a:t>
            </a:r>
          </a:p>
        </p:txBody>
      </p:sp>
      <p:sp>
        <p:nvSpPr>
          <p:cNvPr id="72" name="TextBox 71"/>
          <p:cNvSpPr txBox="1"/>
          <p:nvPr/>
        </p:nvSpPr>
        <p:spPr>
          <a:xfrm>
            <a:off x="7214615" y="5042916"/>
            <a:ext cx="3995928" cy="457200"/>
          </a:xfrm>
          <a:prstGeom prst="rect">
            <a:avLst/>
          </a:prstGeom>
          <a:noFill/>
        </p:spPr>
        <p:txBody>
          <a:bodyPr wrap="square" anchor="ctr">
            <a:spAutoFit/>
          </a:bodyPr>
          <a:lstStyle/>
          <a:p>
            <a:pPr algn="l">
              <a:spcAft>
                <a:spcPts val="400"/>
              </a:spcAft>
            </a:pPr>
            <a:r>
              <a:rPr sz="1050" b="0">
                <a:solidFill>
                  <a:srgbClr val="161B26"/>
                </a:solidFill>
                <a:latin typeface="Arial"/>
              </a:rPr>
              <a:t>Lab 12 · recap · TRAQOM · assessment attendance</a:t>
            </a:r>
          </a:p>
        </p:txBody>
      </p:sp>
      <p:sp>
        <p:nvSpPr>
          <p:cNvPr id="73" name="Rectangle 72"/>
          <p:cNvSpPr/>
          <p:nvPr/>
        </p:nvSpPr>
        <p:spPr>
          <a:xfrm>
            <a:off x="6172200" y="5550408"/>
            <a:ext cx="523951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172200" y="5550408"/>
            <a:ext cx="73152"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373368" y="5650992"/>
            <a:ext cx="713232"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373368" y="5650992"/>
            <a:ext cx="713232" cy="310896"/>
          </a:xfrm>
          <a:prstGeom prst="rect">
            <a:avLst/>
          </a:prstGeom>
          <a:noFill/>
        </p:spPr>
        <p:txBody>
          <a:bodyPr wrap="square" anchor="ctr">
            <a:spAutoFit/>
          </a:bodyPr>
          <a:lstStyle/>
          <a:p>
            <a:pPr algn="ctr">
              <a:spcAft>
                <a:spcPts val="400"/>
              </a:spcAft>
            </a:pPr>
            <a:r>
              <a:rPr sz="950" b="1">
                <a:solidFill>
                  <a:srgbClr val="FFFFFF"/>
                </a:solidFill>
                <a:latin typeface="Arial"/>
              </a:rPr>
              <a:t>16:45</a:t>
            </a:r>
          </a:p>
        </p:txBody>
      </p:sp>
      <p:sp>
        <p:nvSpPr>
          <p:cNvPr id="77" name="TextBox 76"/>
          <p:cNvSpPr txBox="1"/>
          <p:nvPr/>
        </p:nvSpPr>
        <p:spPr>
          <a:xfrm>
            <a:off x="7214615" y="5550408"/>
            <a:ext cx="3995928" cy="457200"/>
          </a:xfrm>
          <a:prstGeom prst="rect">
            <a:avLst/>
          </a:prstGeom>
          <a:noFill/>
        </p:spPr>
        <p:txBody>
          <a:bodyPr wrap="square" anchor="ctr">
            <a:spAutoFit/>
          </a:bodyPr>
          <a:lstStyle/>
          <a:p>
            <a:pPr algn="l">
              <a:spcAft>
                <a:spcPts val="400"/>
              </a:spcAft>
            </a:pPr>
            <a:r>
              <a:rPr sz="1050" b="0">
                <a:solidFill>
                  <a:srgbClr val="161B26"/>
                </a:solidFill>
                <a:latin typeface="Arial"/>
              </a:rPr>
              <a:t>Briefing for Assessment</a:t>
            </a:r>
          </a:p>
        </p:txBody>
      </p:sp>
      <p:sp>
        <p:nvSpPr>
          <p:cNvPr id="78" name="Rectangle 77"/>
          <p:cNvSpPr/>
          <p:nvPr/>
        </p:nvSpPr>
        <p:spPr>
          <a:xfrm>
            <a:off x="6172200" y="6057900"/>
            <a:ext cx="523951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6172200" y="6057900"/>
            <a:ext cx="73152"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6373368" y="6158484"/>
            <a:ext cx="713232"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6373368" y="6158484"/>
            <a:ext cx="713232" cy="310896"/>
          </a:xfrm>
          <a:prstGeom prst="rect">
            <a:avLst/>
          </a:prstGeom>
          <a:noFill/>
        </p:spPr>
        <p:txBody>
          <a:bodyPr wrap="square" anchor="ctr">
            <a:spAutoFit/>
          </a:bodyPr>
          <a:lstStyle/>
          <a:p>
            <a:pPr algn="ctr">
              <a:spcAft>
                <a:spcPts val="400"/>
              </a:spcAft>
            </a:pPr>
            <a:r>
              <a:rPr sz="950" b="1">
                <a:solidFill>
                  <a:srgbClr val="FFFFFF"/>
                </a:solidFill>
                <a:latin typeface="Arial"/>
              </a:rPr>
              <a:t>17:00</a:t>
            </a:r>
          </a:p>
        </p:txBody>
      </p:sp>
      <p:sp>
        <p:nvSpPr>
          <p:cNvPr id="82" name="TextBox 81"/>
          <p:cNvSpPr txBox="1"/>
          <p:nvPr/>
        </p:nvSpPr>
        <p:spPr>
          <a:xfrm>
            <a:off x="7214615" y="6057900"/>
            <a:ext cx="3995928" cy="457200"/>
          </a:xfrm>
          <a:prstGeom prst="rect">
            <a:avLst/>
          </a:prstGeom>
          <a:noFill/>
        </p:spPr>
        <p:txBody>
          <a:bodyPr wrap="square" anchor="ctr">
            <a:spAutoFit/>
          </a:bodyPr>
          <a:lstStyle/>
          <a:p>
            <a:pPr algn="l">
              <a:spcAft>
                <a:spcPts val="400"/>
              </a:spcAft>
            </a:pPr>
            <a:r>
              <a:rPr sz="1050" b="0">
                <a:solidFill>
                  <a:srgbClr val="161B26"/>
                </a:solidFill>
                <a:latin typeface="Arial"/>
              </a:rPr>
              <a:t>WA-SAQ 1 hr, then Case Study 1 hr</a:t>
            </a:r>
          </a:p>
        </p:txBody>
      </p:sp>
      <p:sp>
        <p:nvSpPr>
          <p:cNvPr id="83" name="TextBox 8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84" name="TextBox 8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85" name="TextBox 8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fast" advClick="1">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LO1 · Threats &amp; vulnerabilities</a:t>
            </a:r>
          </a:p>
          <a:p>
            <a:pPr algn="l">
              <a:spcAft>
                <a:spcPts val="300"/>
              </a:spcAft>
            </a:pPr>
            <a:r>
              <a:rPr sz="1300" b="0">
                <a:solidFill>
                  <a:srgbClr val="5B6372"/>
                </a:solidFill>
                <a:latin typeface="Arial"/>
              </a:rPr>
              <a:t>Analyse ICT configurations with AI assistance to identify network threats and vulnerabilities.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LO2 · Assets &amp; risk plans</a:t>
            </a:r>
          </a:p>
          <a:p>
            <a:pPr algn="l">
              <a:spcAft>
                <a:spcPts val="300"/>
              </a:spcAft>
            </a:pPr>
            <a:r>
              <a:rPr sz="1300" b="0">
                <a:solidFill>
                  <a:srgbClr val="5B6372"/>
                </a:solidFill>
                <a:latin typeface="Arial"/>
              </a:rPr>
              <a:t>Evaluate organisational assets and build AI-informed risk management plans for infrastructure weaknesses.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LO3 · Security measures</a:t>
            </a:r>
          </a:p>
          <a:p>
            <a:pPr algn="l">
              <a:spcAft>
                <a:spcPts val="300"/>
              </a:spcAft>
            </a:pPr>
            <a:r>
              <a:rPr sz="1300" b="0">
                <a:solidFill>
                  <a:srgbClr val="5B6372"/>
                </a:solidFill>
                <a:latin typeface="Arial"/>
              </a:rPr>
              <a:t>Design and implement AI-enhanced security measures across the planning, building and management phases.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LO4 · Incidents &amp; response</a:t>
            </a:r>
          </a:p>
          <a:p>
            <a:pPr algn="l">
              <a:spcAft>
                <a:spcPts val="300"/>
              </a:spcAft>
            </a:pPr>
            <a:r>
              <a:rPr sz="1300" b="0">
                <a:solidFill>
                  <a:srgbClr val="5B6372"/>
                </a:solidFill>
                <a:latin typeface="Arial"/>
              </a:rPr>
              <a:t>Document security incidents and apply incident response configurations using AI-assisted triage.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fast" advClick="1">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FOUR TOPICS  ·  12 HANDS-ON LABS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Course Outline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Topic 01 — AI-Assisted Network Threat and Vulnerability Analysis</a:t>
            </a:r>
          </a:p>
          <a:p>
            <a:pPr algn="l">
              <a:spcAft>
                <a:spcPts val="300"/>
              </a:spcAft>
            </a:pPr>
            <a:r>
              <a:rPr sz="1300" b="0">
                <a:solidFill>
                  <a:srgbClr val="5B6372"/>
                </a:solidFill>
                <a:latin typeface="Arial"/>
              </a:rPr>
              <a:t>ICT networks &amp; configuration · the AI threat landscape · AI anomaly detection · NDR · AI-assisted vulnerability analysis</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Topic 02 — AI-Powered Network Risk Assessment and Management Planning</a:t>
            </a:r>
          </a:p>
          <a:p>
            <a:pPr algn="l">
              <a:spcAft>
                <a:spcPts val="300"/>
              </a:spcAft>
            </a:pPr>
            <a:r>
              <a:rPr sz="1300" b="0">
                <a:solidFill>
                  <a:srgbClr val="5B6372"/>
                </a:solidFill>
                <a:latin typeface="Arial"/>
              </a:rPr>
              <a:t>Asset discovery &amp; classification · CIA impact · AI risk scoring · risk registers · treatment plans · NIST CSF &amp; AI RMF</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Topic 03 — Designing and Implementing AI-Enhanced Network Security Measures</a:t>
            </a:r>
          </a:p>
          <a:p>
            <a:pPr algn="l">
              <a:spcAft>
                <a:spcPts val="300"/>
              </a:spcAft>
            </a:pPr>
            <a:r>
              <a:rPr sz="1300" b="0">
                <a:solidFill>
                  <a:srgbClr val="5B6372"/>
                </a:solidFill>
                <a:latin typeface="Arial"/>
              </a:rPr>
              <a:t>Defence in depth · planning/building/management phases · segmentation &amp; zero trust · AI firewalls, IDS/IPS, NAC · AI security itself</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Topic 04 — AI-Assisted Security Incident Documentation and Response</a:t>
            </a:r>
          </a:p>
          <a:p>
            <a:pPr algn="l">
              <a:spcAft>
                <a:spcPts val="300"/>
              </a:spcAft>
            </a:pPr>
            <a:r>
              <a:rPr sz="1300" b="0">
                <a:solidFill>
                  <a:srgbClr val="5B6372"/>
                </a:solidFill>
                <a:latin typeface="Arial"/>
              </a:rPr>
              <a:t>Logging &amp; syslog · SIEM/SOAR · AI alert triage · the NIST IR lifecycle · incident documentation · playbooks &amp; post-incident review</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fast" advClick="1">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BEFORE YOU START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Clear your desk</a:t>
            </a:r>
          </a:p>
          <a:p>
            <a:pPr algn="l">
              <a:spcAft>
                <a:spcPts val="300"/>
              </a:spcAft>
            </a:pPr>
            <a:r>
              <a:rPr sz="1200" b="0">
                <a:solidFill>
                  <a:srgbClr val="5B6372"/>
                </a:solidFill>
                <a:latin typeface="Arial"/>
              </a:rPr>
              <a:t>Place phones and other materials under the table or on the floor.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recording</a:t>
            </a:r>
          </a:p>
          <a:p>
            <a:pPr algn="l">
              <a:spcAft>
                <a:spcPts val="300"/>
              </a:spcAft>
            </a:pPr>
            <a:r>
              <a:rPr sz="1200" b="0">
                <a:solidFill>
                  <a:srgbClr val="5B6372"/>
                </a:solidFill>
                <a:latin typeface="Arial"/>
              </a:rPr>
              <a:t>No photos or recording of assessment scripts.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discussion</a:t>
            </a:r>
          </a:p>
          <a:p>
            <a:pPr algn="l">
              <a:spcAft>
                <a:spcPts val="300"/>
              </a:spcAft>
            </a:pPr>
            <a:r>
              <a:rPr sz="1200" b="0">
                <a:solidFill>
                  <a:srgbClr val="5B6372"/>
                </a:solidFill>
                <a:latin typeface="Arial"/>
              </a:rPr>
              <a:t>Work individually — no discussion during the assessment.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Black or blue pen</a:t>
            </a:r>
          </a:p>
          <a:p>
            <a:pPr algn="l">
              <a:spcAft>
                <a:spcPts val="300"/>
              </a:spcAft>
            </a:pPr>
            <a:r>
              <a:rPr sz="1200" b="0">
                <a:solidFill>
                  <a:srgbClr val="5B6372"/>
                </a:solidFill>
                <a:latin typeface="Arial"/>
              </a:rPr>
              <a:t>Use a black or blue pen for hard-copy assessments.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correction fluid</a:t>
            </a:r>
          </a:p>
          <a:p>
            <a:pPr algn="l">
              <a:spcAft>
                <a:spcPts val="300"/>
              </a:spcAft>
            </a:pPr>
            <a:r>
              <a:rPr sz="1200" b="0">
                <a:solidFill>
                  <a:srgbClr val="5B6372"/>
                </a:solidFill>
                <a:latin typeface="Arial"/>
              </a:rPr>
              <a:t>No liquid paper or correction tape may be used.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Stop on time</a:t>
            </a:r>
          </a:p>
          <a:p>
            <a:pPr algn="l">
              <a:spcAft>
                <a:spcPts val="300"/>
              </a:spcAft>
            </a:pPr>
            <a:r>
              <a:rPr sz="1200" b="0">
                <a:solidFill>
                  <a:srgbClr val="5B6372"/>
                </a:solidFill>
                <a:latin typeface="Arial"/>
              </a:rPr>
              <a:t>Scripts are collected when time is up.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fast" advClick="1">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Written Assessment (WA-SAQ)</a:t>
            </a:r>
          </a:p>
          <a:p>
            <a:pPr algn="l">
              <a:spcAft>
                <a:spcPts val="300"/>
              </a:spcAft>
            </a:pPr>
            <a:r>
              <a:rPr sz="1200" b="0">
                <a:solidFill>
                  <a:srgbClr val="5B6372"/>
                </a:solidFill>
                <a:latin typeface="Arial"/>
              </a:rPr>
              <a:t>Short-Answer Questions · 1 hour · open book. Tests the underpinning knowledge K1–K4.</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Case Study (CS)</a:t>
            </a:r>
          </a:p>
          <a:p>
            <a:pPr algn="l">
              <a:spcAft>
                <a:spcPts val="300"/>
              </a:spcAft>
            </a:pPr>
            <a:r>
              <a:rPr sz="1200" b="0">
                <a:solidFill>
                  <a:srgbClr val="5B6372"/>
                </a:solidFill>
                <a:latin typeface="Arial"/>
              </a:rPr>
              <a:t>A realistic organisational scenario · 1 hour · open book. Tests the abilities A1–A9.</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Open book</a:t>
            </a:r>
          </a:p>
          <a:p>
            <a:pPr algn="l">
              <a:spcAft>
                <a:spcPts val="300"/>
              </a:spcAft>
            </a:pPr>
            <a:r>
              <a:rPr sz="1200" b="0">
                <a:solidFill>
                  <a:srgbClr val="5B6372"/>
                </a:solidFill>
                <a:latin typeface="Arial"/>
              </a:rPr>
              <a:t>You may use the course slides, the Learner Guide and approved materials only.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Eligibility</a:t>
            </a:r>
          </a:p>
          <a:p>
            <a:pPr algn="l">
              <a:spcAft>
                <a:spcPts val="300"/>
              </a:spcAft>
            </a:pPr>
            <a:r>
              <a:rPr sz="1200" b="0">
                <a:solidFill>
                  <a:srgbClr val="5B6372"/>
                </a:solidFill>
                <a:latin typeface="Arial"/>
              </a:rPr>
              <a:t>A minimum of 75% attendance is required to be eligible for assessment and funding.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Result</a:t>
            </a:r>
          </a:p>
          <a:p>
            <a:pPr algn="l">
              <a:spcAft>
                <a:spcPts val="300"/>
              </a:spcAft>
            </a:pPr>
            <a:r>
              <a:rPr sz="1200" b="0">
                <a:solidFill>
                  <a:srgbClr val="5B6372"/>
                </a:solidFill>
                <a:latin typeface="Arial"/>
              </a:rPr>
              <a:t>You are assessed as Competent (C) or Not Yet Competent (NYC) on each instrument.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Appeals</a:t>
            </a:r>
          </a:p>
          <a:p>
            <a:pPr algn="l">
              <a:spcAft>
                <a:spcPts val="300"/>
              </a:spcAft>
            </a:pPr>
            <a:r>
              <a:rPr sz="1200" b="0">
                <a:solidFill>
                  <a:srgbClr val="5B6372"/>
                </a:solidFill>
                <a:latin typeface="Arial"/>
              </a:rPr>
              <a:t>An appeal process is available if you wish to contest an assessment outcome.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fast" advClick="1">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TRAQOM survey</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Scan the QR code on the LMS</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Digital attendance</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Scan the SSG assessment QR</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Sit WA then CS</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Open book · 1 hour each</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Submit on the LMS</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Upload your completed answers</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Sign the record</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Sign the Assessment Summary Record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REMEMBER</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All five steps are mandatory for WSQ funding — missing the digital attendance or the TRAQOM survey can invalidate your claim.</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WSQ FUNDING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Criteria for Funding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Attendance</a:t>
            </a:r>
          </a:p>
          <a:p>
            <a:pPr algn="l">
              <a:spcAft>
                <a:spcPts val="300"/>
              </a:spcAft>
            </a:pPr>
            <a:r>
              <a:rPr sz="1300" b="0">
                <a:solidFill>
                  <a:srgbClr val="5B6372"/>
                </a:solidFill>
                <a:latin typeface="Arial"/>
              </a:rPr>
              <a:t>A minimum attendance rate of 75%, based on the SSG Digital Attendance record.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Assessment</a:t>
            </a:r>
          </a:p>
          <a:p>
            <a:pPr algn="l">
              <a:spcAft>
                <a:spcPts val="300"/>
              </a:spcAft>
            </a:pPr>
            <a:r>
              <a:rPr sz="1300" b="0">
                <a:solidFill>
                  <a:srgbClr val="5B6372"/>
                </a:solidFill>
                <a:latin typeface="Arial"/>
              </a:rPr>
              <a:t>Complete both assessment components and be assessed as 'Competent'.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Digital attendance</a:t>
            </a:r>
          </a:p>
          <a:p>
            <a:pPr algn="l">
              <a:spcAft>
                <a:spcPts val="300"/>
              </a:spcAft>
            </a:pPr>
            <a:r>
              <a:rPr sz="1300" b="0">
                <a:solidFill>
                  <a:srgbClr val="5B6372"/>
                </a:solidFill>
                <a:latin typeface="Arial"/>
              </a:rPr>
              <a:t>Scan the SSG QR code for AM, PM and Assessment on every training day.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TRAQOM survey</a:t>
            </a:r>
          </a:p>
          <a:p>
            <a:pPr algn="l">
              <a:spcAft>
                <a:spcPts val="300"/>
              </a:spcAft>
            </a:pPr>
            <a:r>
              <a:rPr sz="1300" b="0">
                <a:solidFill>
                  <a:srgbClr val="5B6372"/>
                </a:solidFill>
                <a:latin typeface="Arial"/>
              </a:rPr>
              <a:t>Complete the mandatory TRAQOM course feedback survey on the LMS.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fast" advClick="1">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ENVIRONMENT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Set Up Before We Start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Wireshark</a:t>
            </a:r>
          </a:p>
          <a:p>
            <a:pPr algn="l">
              <a:spcAft>
                <a:spcPts val="300"/>
              </a:spcAft>
            </a:pPr>
            <a:r>
              <a:rPr sz="1200" b="0">
                <a:solidFill>
                  <a:srgbClr val="5B6372"/>
                </a:solidFill>
                <a:latin typeface="Arial"/>
              </a:rPr>
              <a:t>Packet capture and protocol analysis for the traffic-baseline and anomaly labs.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Nmap</a:t>
            </a:r>
          </a:p>
          <a:p>
            <a:pPr algn="l">
              <a:spcAft>
                <a:spcPts val="300"/>
              </a:spcAft>
            </a:pPr>
            <a:r>
              <a:rPr sz="1200" b="0">
                <a:solidFill>
                  <a:srgbClr val="5B6372"/>
                </a:solidFill>
                <a:latin typeface="Arial"/>
              </a:rPr>
              <a:t>Host discovery, port and service scanning for the configuration-analysis labs.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Python 3 + pandas / scikit-learn</a:t>
            </a:r>
          </a:p>
          <a:p>
            <a:pPr algn="l">
              <a:spcAft>
                <a:spcPts val="300"/>
              </a:spcAft>
            </a:pPr>
            <a:r>
              <a:rPr sz="1200" b="0">
                <a:solidFill>
                  <a:srgbClr val="5B6372"/>
                </a:solidFill>
                <a:latin typeface="Arial"/>
              </a:rPr>
              <a:t>Runs the AI anomaly-detection and log-triage notebooks.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 generative AI assistant</a:t>
            </a:r>
          </a:p>
          <a:p>
            <a:pPr algn="l">
              <a:spcAft>
                <a:spcPts val="300"/>
              </a:spcAft>
            </a:pPr>
            <a:r>
              <a:rPr sz="1200" b="0">
                <a:solidFill>
                  <a:srgbClr val="5B6372"/>
                </a:solidFill>
                <a:latin typeface="Arial"/>
              </a:rPr>
              <a:t>Claude, ChatGPT or Copilot — used as the AI analyst copilot throughout the labs.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 spreadsheet</a:t>
            </a:r>
          </a:p>
          <a:p>
            <a:pPr algn="l">
              <a:spcAft>
                <a:spcPts val="300"/>
              </a:spcAft>
            </a:pPr>
            <a:r>
              <a:rPr sz="1200" b="0">
                <a:solidFill>
                  <a:srgbClr val="5B6372"/>
                </a:solidFill>
                <a:latin typeface="Arial"/>
              </a:rPr>
              <a:t>Excel, Numbers or Google Sheets for the asset register and risk register labs.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 modern browser</a:t>
            </a:r>
          </a:p>
          <a:p>
            <a:pPr algn="l">
              <a:spcAft>
                <a:spcPts val="300"/>
              </a:spcAft>
            </a:pPr>
            <a:r>
              <a:rPr sz="1200" b="0">
                <a:solidFill>
                  <a:srgbClr val="5B6372"/>
                </a:solidFill>
                <a:latin typeface="Arial"/>
              </a:rPr>
              <a:t>For the online reconnaissance, CVE lookup and simulator activities.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fast" advClick="1">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12 LABS  ·  GITHUB REPOSITORY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Access the Hands-On Labs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810512"/>
            <a:ext cx="10149840" cy="603504"/>
          </a:xfrm>
          <a:prstGeom prst="rect">
            <a:avLst/>
          </a:prstGeom>
          <a:noFill/>
        </p:spPr>
        <p:txBody>
          <a:bodyPr wrap="square">
            <a:spAutoFit/>
          </a:bodyPr>
          <a:lstStyle/>
          <a:p>
            <a:pPr algn="l"/>
            <a:r>
              <a:rPr sz="1500">
                <a:solidFill>
                  <a:srgbClr val="10B981"/>
                </a:solidFill>
              </a:rPr>
              <a:t>⌥  </a:t>
            </a:r>
            <a:r>
              <a:rPr sz="1500" b="1">
                <a:solidFill>
                  <a:srgbClr val="9CDCFE"/>
                </a:solidFill>
                <a:latin typeface="Consolas"/>
                <a:hlinkClick r:id="rId2"/>
              </a:rPr>
              <a:t>https://github.com/tertiarycourses/TGS-2024051414-AI-for-Network-Security</a:t>
            </a:r>
          </a:p>
        </p:txBody>
      </p:sp>
      <p:sp>
        <p:nvSpPr>
          <p:cNvPr id="9" name="Rectangle 8"/>
          <p:cNvSpPr/>
          <p:nvPr/>
        </p:nvSpPr>
        <p:spPr>
          <a:xfrm>
            <a:off x="777240" y="2743200"/>
            <a:ext cx="5239512" cy="2606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743200"/>
            <a:ext cx="523951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2" y="2926080"/>
            <a:ext cx="4782312" cy="365760"/>
          </a:xfrm>
          <a:prstGeom prst="rect">
            <a:avLst/>
          </a:prstGeom>
          <a:noFill/>
        </p:spPr>
        <p:txBody>
          <a:bodyPr wrap="square" anchor="t">
            <a:spAutoFit/>
          </a:bodyPr>
          <a:lstStyle/>
          <a:p>
            <a:pPr algn="l">
              <a:spcAft>
                <a:spcPts val="400"/>
              </a:spcAft>
            </a:pPr>
            <a:r>
              <a:rPr sz="1500" b="1">
                <a:solidFill>
                  <a:srgbClr val="1F6FEB"/>
                </a:solidFill>
                <a:latin typeface="Arial"/>
              </a:rPr>
              <a:t>Option A · Clone with Git</a:t>
            </a:r>
          </a:p>
        </p:txBody>
      </p:sp>
      <p:sp>
        <p:nvSpPr>
          <p:cNvPr id="12" name="TextBox 11"/>
          <p:cNvSpPr txBox="1"/>
          <p:nvPr/>
        </p:nvSpPr>
        <p:spPr>
          <a:xfrm>
            <a:off x="1033272" y="3401568"/>
            <a:ext cx="4782312" cy="1188720"/>
          </a:xfrm>
          <a:prstGeom prst="rect">
            <a:avLst/>
          </a:prstGeom>
          <a:noFill/>
        </p:spPr>
        <p:txBody>
          <a:bodyPr wrap="square">
            <a:spAutoFit/>
          </a:bodyPr>
          <a:lstStyle/>
          <a:p>
            <a:pPr>
              <a:spcAft>
                <a:spcPts val="700"/>
              </a:spcAft>
            </a:pPr>
            <a:r>
              <a:rPr sz="1150" b="0">
                <a:solidFill>
                  <a:srgbClr val="161B26"/>
                </a:solidFill>
                <a:latin typeface="Arial"/>
              </a:rPr>
              <a:t>•  Open a terminal in the folder you want the labs in.</a:t>
            </a:r>
          </a:p>
          <a:p>
            <a:pPr>
              <a:spcAft>
                <a:spcPts val="700"/>
              </a:spcAft>
            </a:pPr>
            <a:r>
              <a:rPr sz="1150" b="0">
                <a:solidFill>
                  <a:srgbClr val="161B26"/>
                </a:solidFill>
                <a:latin typeface="Arial"/>
              </a:rPr>
              <a:t>•  Run the clone command below.</a:t>
            </a:r>
          </a:p>
          <a:p>
            <a:pPr>
              <a:spcAft>
                <a:spcPts val="700"/>
              </a:spcAft>
            </a:pPr>
            <a:r>
              <a:rPr sz="1150" b="0">
                <a:solidFill>
                  <a:srgbClr val="161B26"/>
                </a:solidFill>
                <a:latin typeface="Arial"/>
              </a:rPr>
              <a:t>•  The labs/ folder appears with one folder per lab.</a:t>
            </a:r>
          </a:p>
        </p:txBody>
      </p:sp>
      <p:sp>
        <p:nvSpPr>
          <p:cNvPr id="13" name="Rectangle 12"/>
          <p:cNvSpPr/>
          <p:nvPr/>
        </p:nvSpPr>
        <p:spPr>
          <a:xfrm>
            <a:off x="1033272" y="4736592"/>
            <a:ext cx="4727448" cy="4572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79576" y="4736592"/>
            <a:ext cx="4507992" cy="457200"/>
          </a:xfrm>
          <a:prstGeom prst="rect">
            <a:avLst/>
          </a:prstGeom>
          <a:noFill/>
        </p:spPr>
        <p:txBody>
          <a:bodyPr wrap="square" anchor="ctr">
            <a:spAutoFit/>
          </a:bodyPr>
          <a:lstStyle/>
          <a:p>
            <a:pPr algn="l">
              <a:spcAft>
                <a:spcPts val="400"/>
              </a:spcAft>
            </a:pPr>
            <a:r>
              <a:rPr sz="950" b="0">
                <a:solidFill>
                  <a:srgbClr val="9CDCFE"/>
                </a:solidFill>
                <a:latin typeface="Arial"/>
              </a:rPr>
              <a:t>$ git clone https://github.com/tertiarycourses/TGS-2024051414-AI-for-Network-Security.git</a:t>
            </a:r>
          </a:p>
        </p:txBody>
      </p:sp>
      <p:sp>
        <p:nvSpPr>
          <p:cNvPr id="15" name="Rectangle 14"/>
          <p:cNvSpPr/>
          <p:nvPr/>
        </p:nvSpPr>
        <p:spPr>
          <a:xfrm>
            <a:off x="6172200" y="2743200"/>
            <a:ext cx="5239512" cy="2606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2743200"/>
            <a:ext cx="523951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2926080"/>
            <a:ext cx="4782312" cy="365760"/>
          </a:xfrm>
          <a:prstGeom prst="rect">
            <a:avLst/>
          </a:prstGeom>
          <a:noFill/>
        </p:spPr>
        <p:txBody>
          <a:bodyPr wrap="square" anchor="t">
            <a:spAutoFit/>
          </a:bodyPr>
          <a:lstStyle/>
          <a:p>
            <a:pPr algn="l">
              <a:spcAft>
                <a:spcPts val="400"/>
              </a:spcAft>
            </a:pPr>
            <a:r>
              <a:rPr sz="1500" b="1">
                <a:solidFill>
                  <a:srgbClr val="10B981"/>
                </a:solidFill>
                <a:latin typeface="Arial"/>
              </a:rPr>
              <a:t>Option B · Download the ZIP</a:t>
            </a:r>
          </a:p>
        </p:txBody>
      </p:sp>
      <p:sp>
        <p:nvSpPr>
          <p:cNvPr id="18" name="TextBox 17"/>
          <p:cNvSpPr txBox="1"/>
          <p:nvPr/>
        </p:nvSpPr>
        <p:spPr>
          <a:xfrm>
            <a:off x="6428232" y="3401568"/>
            <a:ext cx="4782312" cy="1188720"/>
          </a:xfrm>
          <a:prstGeom prst="rect">
            <a:avLst/>
          </a:prstGeom>
          <a:noFill/>
        </p:spPr>
        <p:txBody>
          <a:bodyPr wrap="square">
            <a:spAutoFit/>
          </a:bodyPr>
          <a:lstStyle/>
          <a:p>
            <a:pPr>
              <a:spcAft>
                <a:spcPts val="700"/>
              </a:spcAft>
            </a:pPr>
            <a:r>
              <a:rPr sz="1150" b="0">
                <a:solidFill>
                  <a:srgbClr val="161B26"/>
                </a:solidFill>
                <a:latin typeface="Arial"/>
              </a:rPr>
              <a:t>•  Open the repository link above in your browser.</a:t>
            </a:r>
          </a:p>
          <a:p>
            <a:pPr>
              <a:spcAft>
                <a:spcPts val="700"/>
              </a:spcAft>
            </a:pPr>
            <a:r>
              <a:rPr sz="1150" b="0">
                <a:solidFill>
                  <a:srgbClr val="161B26"/>
                </a:solidFill>
                <a:latin typeface="Arial"/>
              </a:rPr>
              <a:t>•  Click the green Code button, then Download ZIP.</a:t>
            </a:r>
          </a:p>
          <a:p>
            <a:pPr>
              <a:spcAft>
                <a:spcPts val="700"/>
              </a:spcAft>
            </a:pPr>
            <a:r>
              <a:rPr sz="1150" b="0">
                <a:solidFill>
                  <a:srgbClr val="161B26"/>
                </a:solidFill>
                <a:latin typeface="Arial"/>
              </a:rPr>
              <a:t>•  Unzip it anywhere on your laptop and open labs/.</a:t>
            </a:r>
          </a:p>
        </p:txBody>
      </p:sp>
      <p:sp>
        <p:nvSpPr>
          <p:cNvPr id="19" name="Rectangle 18"/>
          <p:cNvSpPr/>
          <p:nvPr/>
        </p:nvSpPr>
        <p:spPr>
          <a:xfrm>
            <a:off x="777240" y="5532120"/>
            <a:ext cx="10634472"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5532120"/>
            <a:ext cx="100584" cy="74980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5641848"/>
            <a:ext cx="10149840" cy="548640"/>
          </a:xfrm>
          <a:prstGeom prst="rect">
            <a:avLst/>
          </a:prstGeom>
          <a:noFill/>
        </p:spPr>
        <p:txBody>
          <a:bodyPr wrap="square" anchor="t">
            <a:spAutoFit/>
          </a:bodyPr>
          <a:lstStyle/>
          <a:p>
            <a:pPr algn="l">
              <a:spcAft>
                <a:spcPts val="400"/>
              </a:spcAft>
            </a:pPr>
            <a:r>
              <a:rPr sz="1100" b="1">
                <a:solidFill>
                  <a:srgbClr val="F59E0B"/>
                </a:solidFill>
                <a:latin typeface="Arial"/>
              </a:rPr>
              <a:t>EVERY LAB IS SELF-CONTAINED  </a:t>
            </a:r>
            <a:r>
              <a:rPr sz="1150" b="0">
                <a:solidFill>
                  <a:srgbClr val="161B26"/>
                </a:solidFill>
                <a:latin typeface="Arial"/>
              </a:rPr>
              <a:t>Each labs/lab-NN-*/ folder holds its own step-by-step guide, sample data and expected output. Scan only networks you own or are authorised in writing to test.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fast" advClick="1">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BROWSER TOOLS USED IN THE LABS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Interactive Practice Tools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Cybersecurity Simulator</a:t>
            </a:r>
          </a:p>
          <a:p>
            <a:pPr algn="l">
              <a:spcAft>
                <a:spcPts val="300"/>
              </a:spcAft>
            </a:pPr>
            <a:r>
              <a:rPr sz="1100" b="0">
                <a:solidFill>
                  <a:srgbClr val="5B6372"/>
                </a:solidFill>
                <a:latin typeface="Arial"/>
              </a:rPr>
              <a:t>Play through phishing, malware and DDoS attacks — alfredang.github.io/cybersecuritysimulator</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Ethical Hacking Simulator</a:t>
            </a:r>
          </a:p>
          <a:p>
            <a:pPr algn="l">
              <a:spcAft>
                <a:spcPts val="300"/>
              </a:spcAft>
            </a:pPr>
            <a:r>
              <a:rPr sz="1100" b="0">
                <a:solidFill>
                  <a:srgbClr val="5B6372"/>
                </a:solidFill>
                <a:latin typeface="Arial"/>
              </a:rPr>
              <a:t>See how a security test is scoped and run — alfredang.github.io/ethnicalhacking</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063240"/>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FauxBank Pentest Target</a:t>
            </a:r>
          </a:p>
          <a:p>
            <a:pPr algn="l">
              <a:spcAft>
                <a:spcPts val="300"/>
              </a:spcAft>
            </a:pPr>
            <a:r>
              <a:rPr sz="1100" b="0">
                <a:solidFill>
                  <a:srgbClr val="5B6372"/>
                </a:solidFill>
                <a:latin typeface="Arial"/>
              </a:rPr>
              <a:t>A safe, deliberately vulnerable web app — pentest-fauxbank.vercel.app</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063240"/>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Cryptography Toolkit</a:t>
            </a:r>
          </a:p>
          <a:p>
            <a:pPr algn="l">
              <a:spcAft>
                <a:spcPts val="300"/>
              </a:spcAft>
            </a:pPr>
            <a:r>
              <a:rPr sz="1100" b="0">
                <a:solidFill>
                  <a:srgbClr val="5B6372"/>
                </a:solidFill>
                <a:latin typeface="Arial"/>
              </a:rPr>
              <a:t>Hash and encrypt to see confidentiality and integrity — alfredang.github.io/cryptography-toolkit</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215384"/>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IP Calculator</a:t>
            </a:r>
          </a:p>
          <a:p>
            <a:pPr algn="l">
              <a:spcAft>
                <a:spcPts val="300"/>
              </a:spcAft>
            </a:pPr>
            <a:r>
              <a:rPr sz="1100" b="0">
                <a:solidFill>
                  <a:srgbClr val="5B6372"/>
                </a:solidFill>
                <a:latin typeface="Arial"/>
              </a:rPr>
              <a:t>Work out network, broadcast and host ranges — alfredang.github.io/ipcalculator</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215384"/>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PCAP Analyzer</a:t>
            </a:r>
          </a:p>
          <a:p>
            <a:pPr algn="l">
              <a:spcAft>
                <a:spcPts val="300"/>
              </a:spcAft>
            </a:pPr>
            <a:r>
              <a:rPr sz="1100" b="0">
                <a:solidFill>
                  <a:srgbClr val="5B6372"/>
                </a:solidFill>
                <a:latin typeface="Arial"/>
              </a:rPr>
              <a:t>Upload a capture for a quick conversation summary — alfredang.github.io/pcapanalyzer</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367528"/>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Regex Generator</a:t>
            </a:r>
          </a:p>
          <a:p>
            <a:pPr algn="l">
              <a:spcAft>
                <a:spcPts val="300"/>
              </a:spcAft>
            </a:pPr>
            <a:r>
              <a:rPr sz="1100" b="0">
                <a:solidFill>
                  <a:srgbClr val="5B6372"/>
                </a:solidFill>
                <a:latin typeface="Arial"/>
              </a:rPr>
              <a:t>Build patterns to filter and search log files — alfredang.github.io/regexgenerator</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fast" advClick="1">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Network Security, and Why It Now Needs AI</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med" advClick="1">
    <p:push dir="l"/>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BIG IDEA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Is Network Security?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 combination of controls</a:t>
            </a:r>
          </a:p>
          <a:p>
            <a:pPr algn="l">
              <a:spcAft>
                <a:spcPts val="300"/>
              </a:spcAft>
            </a:pPr>
            <a:r>
              <a:rPr sz="1300" b="0">
                <a:solidFill>
                  <a:srgbClr val="5B6372"/>
                </a:solidFill>
                <a:latin typeface="Arial"/>
              </a:rPr>
              <a:t>The policies, processes and technologies that protect a network and the data crossing it from unauthorised access, misuse and disruption.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Layered, not a single tool</a:t>
            </a:r>
          </a:p>
          <a:p>
            <a:pPr algn="l">
              <a:spcAft>
                <a:spcPts val="300"/>
              </a:spcAft>
            </a:pPr>
            <a:r>
              <a:rPr sz="1300" b="0">
                <a:solidFill>
                  <a:srgbClr val="5B6372"/>
                </a:solidFill>
                <a:latin typeface="Arial"/>
              </a:rPr>
              <a:t>Defence in depth: many coordinated layers, so that if one control fails another still stops the attacker.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Protects data everywhere</a:t>
            </a:r>
          </a:p>
          <a:p>
            <a:pPr algn="l">
              <a:spcAft>
                <a:spcPts val="300"/>
              </a:spcAft>
            </a:pPr>
            <a:r>
              <a:rPr sz="1300" b="0">
                <a:solidFill>
                  <a:srgbClr val="5B6372"/>
                </a:solidFill>
                <a:latin typeface="Arial"/>
              </a:rPr>
              <a:t>Data at rest, data in transit and data in processing — plus the infrastructure and the people using it.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The first line of defence</a:t>
            </a:r>
          </a:p>
          <a:p>
            <a:pPr algn="l">
              <a:spcAft>
                <a:spcPts val="300"/>
              </a:spcAft>
            </a:pPr>
            <a:r>
              <a:rPr sz="1300" b="0">
                <a:solidFill>
                  <a:srgbClr val="5B6372"/>
                </a:solidFill>
                <a:latin typeface="Arial"/>
              </a:rPr>
              <a:t>Detect threats, locate the attack, block access, encrypt the data and keep the network available.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fast" advClick="1">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FRAMEWORK BEHIND EVERY CONTROL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CIA Triad — the Three Goals of Security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Confidentiality</a:t>
            </a:r>
          </a:p>
          <a:p>
            <a:pPr algn="l">
              <a:spcAft>
                <a:spcPts val="300"/>
              </a:spcAft>
            </a:pPr>
            <a:r>
              <a:rPr sz="1300" b="0">
                <a:solidFill>
                  <a:srgbClr val="5B6372"/>
                </a:solidFill>
                <a:latin typeface="Arial"/>
              </a:rPr>
              <a:t>Only authorised parties can read the data — delivered by encryption, access control and strong authentication.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Integrity</a:t>
            </a:r>
          </a:p>
          <a:p>
            <a:pPr algn="l">
              <a:spcAft>
                <a:spcPts val="300"/>
              </a:spcAft>
            </a:pPr>
            <a:r>
              <a:rPr sz="1300" b="0">
                <a:solidFill>
                  <a:srgbClr val="5B6372"/>
                </a:solidFill>
                <a:latin typeface="Arial"/>
              </a:rPr>
              <a:t>Data is not altered without detection — delivered by cryptographic hashing, digital signatures and validation checks.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Availability</a:t>
            </a:r>
          </a:p>
          <a:p>
            <a:pPr algn="l">
              <a:spcAft>
                <a:spcPts val="300"/>
              </a:spcAft>
            </a:pPr>
            <a:r>
              <a:rPr sz="1300" b="0">
                <a:solidFill>
                  <a:srgbClr val="5B6372"/>
                </a:solidFill>
                <a:latin typeface="Arial"/>
              </a:rPr>
              <a:t>Services stay up and reachable — delivered by DDoS protection, redundancy and resilient design.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Every control serves the triad</a:t>
            </a:r>
          </a:p>
          <a:p>
            <a:pPr algn="l">
              <a:spcAft>
                <a:spcPts val="300"/>
              </a:spcAft>
            </a:pPr>
            <a:r>
              <a:rPr sz="1300" b="0">
                <a:solidFill>
                  <a:srgbClr val="5B6372"/>
                </a:solidFill>
                <a:latin typeface="Arial"/>
              </a:rPr>
              <a:t>When you evaluate any security control, ask which of the three goals it protects — and at what cost to the others.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fast" advClick="1">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SHARED VOCABULARY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Language of Networks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Host and endpoint</a:t>
            </a:r>
          </a:p>
          <a:p>
            <a:pPr algn="l">
              <a:spcAft>
                <a:spcPts val="300"/>
              </a:spcAft>
            </a:pPr>
            <a:r>
              <a:rPr sz="1200" b="0">
                <a:solidFill>
                  <a:srgbClr val="5B6372"/>
                </a:solidFill>
                <a:latin typeface="Arial"/>
              </a:rPr>
              <a:t>Any device with an address on the network — a laptop, a server, a phone, a camera, a sensor.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Switch and router</a:t>
            </a:r>
          </a:p>
          <a:p>
            <a:pPr algn="l">
              <a:spcAft>
                <a:spcPts val="300"/>
              </a:spcAft>
            </a:pPr>
            <a:r>
              <a:rPr sz="1200" b="0">
                <a:solidFill>
                  <a:srgbClr val="5B6372"/>
                </a:solidFill>
                <a:latin typeface="Arial"/>
              </a:rPr>
              <a:t>Switches move frames inside a segment; routers move packets between segments and enforce the boundary.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Firewall</a:t>
            </a:r>
          </a:p>
          <a:p>
            <a:pPr algn="l">
              <a:spcAft>
                <a:spcPts val="300"/>
              </a:spcAft>
            </a:pPr>
            <a:r>
              <a:rPr sz="1200" b="0">
                <a:solidFill>
                  <a:srgbClr val="5B6372"/>
                </a:solidFill>
                <a:latin typeface="Arial"/>
              </a:rPr>
              <a:t>The policy enforcement point between zones — it decides which traffic is allowed to cross.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Port and service</a:t>
            </a:r>
          </a:p>
          <a:p>
            <a:pPr algn="l">
              <a:spcAft>
                <a:spcPts val="300"/>
              </a:spcAft>
            </a:pPr>
            <a:r>
              <a:rPr sz="1200" b="0">
                <a:solidFill>
                  <a:srgbClr val="5B6372"/>
                </a:solidFill>
                <a:latin typeface="Arial"/>
              </a:rPr>
              <a:t>A service listens on a port; an open port is a door, and every open door is an entry to defend.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Protocol</a:t>
            </a:r>
          </a:p>
          <a:p>
            <a:pPr algn="l">
              <a:spcAft>
                <a:spcPts val="300"/>
              </a:spcAft>
            </a:pPr>
            <a:r>
              <a:rPr sz="1200" b="0">
                <a:solidFill>
                  <a:srgbClr val="5B6372"/>
                </a:solidFill>
                <a:latin typeface="Arial"/>
              </a:rPr>
              <a:t>The agreed rules for an exchange — HTTP, DNS, SMB, SSH. Some encrypt by default and some do not.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Segment and zone</a:t>
            </a:r>
          </a:p>
          <a:p>
            <a:pPr algn="l">
              <a:spcAft>
                <a:spcPts val="300"/>
              </a:spcAft>
            </a:pPr>
            <a:r>
              <a:rPr sz="1200" b="0">
                <a:solidFill>
                  <a:srgbClr val="5B6372"/>
                </a:solidFill>
                <a:latin typeface="Arial"/>
              </a:rPr>
              <a:t>A group of hosts with a shared trust level; the boundary between zones is where control is applied.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fast" advClick="1">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WHY AI, WHY NOW</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Attacks now move at machine speed. Defence cannot stay manual.</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Signature matching only finds what someone has already named — and an analyst can only read so many alerts an hour. Artificial intelligence closes both gaps.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fast" advClick="1">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THE CORE COMPARISON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Traditional Detection vs AI-Driven Detection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Dimension</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Signature-based</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AI / behavioural</a:t>
            </a:r>
          </a:p>
        </p:txBody>
      </p:sp>
      <p:sp>
        <p:nvSpPr>
          <p:cNvPr id="13" name="Rectangle 12"/>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What it matches</a:t>
            </a:r>
          </a:p>
        </p:txBody>
      </p:sp>
      <p:sp>
        <p:nvSpPr>
          <p:cNvPr id="15" name="Rectangle 14"/>
          <p:cNvSpPr/>
          <p:nvPr/>
        </p:nvSpPr>
        <p:spPr>
          <a:xfrm>
            <a:off x="3542202"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 known pattern in a threat database</a:t>
            </a:r>
          </a:p>
        </p:txBody>
      </p:sp>
      <p:sp>
        <p:nvSpPr>
          <p:cNvPr id="17" name="Rectangle 16"/>
          <p:cNvSpPr/>
          <p:nvPr/>
        </p:nvSpPr>
        <p:spPr>
          <a:xfrm>
            <a:off x="7476957"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 deviation from learned normal behaviour</a:t>
            </a:r>
          </a:p>
        </p:txBody>
      </p:sp>
      <p:sp>
        <p:nvSpPr>
          <p:cNvPr id="19" name="Rectangle 18"/>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Zero-day exploits</a:t>
            </a:r>
          </a:p>
        </p:txBody>
      </p:sp>
      <p:sp>
        <p:nvSpPr>
          <p:cNvPr id="21" name="Rectangle 20"/>
          <p:cNvSpPr/>
          <p:nvPr/>
        </p:nvSpPr>
        <p:spPr>
          <a:xfrm>
            <a:off x="3542202"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Structurally cannot detect — no signature exists</a:t>
            </a:r>
          </a:p>
        </p:txBody>
      </p:sp>
      <p:sp>
        <p:nvSpPr>
          <p:cNvPr id="23" name="Rectangle 22"/>
          <p:cNvSpPr/>
          <p:nvPr/>
        </p:nvSpPr>
        <p:spPr>
          <a:xfrm>
            <a:off x="7476957"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Can detect, because the behaviour is still abnormal</a:t>
            </a:r>
          </a:p>
        </p:txBody>
      </p:sp>
      <p:sp>
        <p:nvSpPr>
          <p:cNvPr id="25" name="Rectangle 24"/>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Polymorphic malware</a:t>
            </a:r>
          </a:p>
        </p:txBody>
      </p:sp>
      <p:sp>
        <p:nvSpPr>
          <p:cNvPr id="27" name="Rectangle 26"/>
          <p:cNvSpPr/>
          <p:nvPr/>
        </p:nvSpPr>
        <p:spPr>
          <a:xfrm>
            <a:off x="3542202"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Easily evaded by changing the pattern</a:t>
            </a:r>
          </a:p>
        </p:txBody>
      </p:sp>
      <p:sp>
        <p:nvSpPr>
          <p:cNvPr id="29" name="Rectangle 28"/>
          <p:cNvSpPr/>
          <p:nvPr/>
        </p:nvSpPr>
        <p:spPr>
          <a:xfrm>
            <a:off x="7476957"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Harder to evade — the behaviour must also change</a:t>
            </a:r>
          </a:p>
        </p:txBody>
      </p:sp>
      <p:sp>
        <p:nvSpPr>
          <p:cNvPr id="31" name="Rectangle 30"/>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False positives</a:t>
            </a:r>
          </a:p>
        </p:txBody>
      </p:sp>
      <p:sp>
        <p:nvSpPr>
          <p:cNvPr id="33" name="Rectangle 32"/>
          <p:cNvSpPr/>
          <p:nvPr/>
        </p:nvSpPr>
        <p:spPr>
          <a:xfrm>
            <a:off x="3542202"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Low on known threats, blind to the rest</a:t>
            </a:r>
          </a:p>
        </p:txBody>
      </p:sp>
      <p:sp>
        <p:nvSpPr>
          <p:cNvPr id="35" name="Rectangle 34"/>
          <p:cNvSpPr/>
          <p:nvPr/>
        </p:nvSpPr>
        <p:spPr>
          <a:xfrm>
            <a:off x="7476957"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Higher initially; falls as the model is tuned</a:t>
            </a:r>
          </a:p>
        </p:txBody>
      </p:sp>
      <p:sp>
        <p:nvSpPr>
          <p:cNvPr id="37" name="Rectangle 3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Analyst effort</a:t>
            </a:r>
          </a:p>
        </p:txBody>
      </p:sp>
      <p:sp>
        <p:nvSpPr>
          <p:cNvPr id="39" name="Rectangle 38"/>
          <p:cNvSpPr/>
          <p:nvPr/>
        </p:nvSpPr>
        <p:spPr>
          <a:xfrm>
            <a:off x="3542202"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Manual triage of every alert</a:t>
            </a:r>
          </a:p>
        </p:txBody>
      </p:sp>
      <p:sp>
        <p:nvSpPr>
          <p:cNvPr id="41" name="Rectangle 40"/>
          <p:cNvSpPr/>
          <p:nvPr/>
        </p:nvSpPr>
        <p:spPr>
          <a:xfrm>
            <a:off x="7476957"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Deduplicated, clustered and ranked before a human sees it</a:t>
            </a:r>
          </a:p>
        </p:txBody>
      </p:sp>
      <p:sp>
        <p:nvSpPr>
          <p:cNvPr id="43" name="Rectangle 42"/>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Explainability</a:t>
            </a:r>
          </a:p>
        </p:txBody>
      </p:sp>
      <p:sp>
        <p:nvSpPr>
          <p:cNvPr id="45" name="Rectangle 44"/>
          <p:cNvSpPr/>
          <p:nvPr/>
        </p:nvSpPr>
        <p:spPr>
          <a:xfrm>
            <a:off x="3542202"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Excellent — the rule says exactly why</a:t>
            </a:r>
          </a:p>
        </p:txBody>
      </p:sp>
      <p:sp>
        <p:nvSpPr>
          <p:cNvPr id="47" name="Rectangle 46"/>
          <p:cNvSpPr/>
          <p:nvPr/>
        </p:nvSpPr>
        <p:spPr>
          <a:xfrm>
            <a:off x="7476957"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4973"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Varies — this is why explainability is a requirement, not a nicety</a:t>
            </a:r>
          </a:p>
        </p:txBody>
      </p:sp>
      <p:sp>
        <p:nvSpPr>
          <p:cNvPr id="49" name="Rectangle 48"/>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35838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Neither replaces the other. Signatures give precision on named threats; AI gives coverage of the unnamed. A mature operation runs both.</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fast" advClick="1">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DETECTION PIPELINE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AI Anomaly Detection Works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Collect</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Traffic, logs, flows and identity events</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Learn</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Build the pattern of life baseline</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Score</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Measure deviation from that baseline</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Correlate</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Join with asset value and threat intel</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Act</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Rank, alert, or contain automatically</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The model never learns what an attack is — it learns what normal is, and reports what fails to fit. That is why it can catch a threat nobody has named yet.</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EIGHT APPLICATIONS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Where AI Is Applied in Network Security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AI network monitoring</a:t>
            </a:r>
          </a:p>
          <a:p>
            <a:pPr algn="l">
              <a:spcAft>
                <a:spcPts val="300"/>
              </a:spcAft>
            </a:pPr>
            <a:r>
              <a:rPr sz="1100" b="0">
                <a:solidFill>
                  <a:srgbClr val="5B6372"/>
                </a:solidFill>
                <a:latin typeface="Arial"/>
              </a:rPr>
              <a:t>Real-time visibility across hybrid and multi-cloud estates; surfaces misconfigurations and vulnerable assets.</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Anomaly detection</a:t>
            </a:r>
          </a:p>
          <a:p>
            <a:pPr algn="l">
              <a:spcAft>
                <a:spcPts val="300"/>
              </a:spcAft>
            </a:pPr>
            <a:r>
              <a:rPr sz="1100" b="0">
                <a:solidFill>
                  <a:srgbClr val="5B6372"/>
                </a:solidFill>
                <a:latin typeface="Arial"/>
              </a:rPr>
              <a:t>Learns normal activity and flags deviations in real time — unusual logins, odd hours, unexpected data volumes.</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063240"/>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AI threat detection</a:t>
            </a:r>
          </a:p>
          <a:p>
            <a:pPr algn="l">
              <a:spcAft>
                <a:spcPts val="300"/>
              </a:spcAft>
            </a:pPr>
            <a:r>
              <a:rPr sz="1100" b="0">
                <a:solidFill>
                  <a:srgbClr val="5B6372"/>
                </a:solidFill>
                <a:latin typeface="Arial"/>
              </a:rPr>
              <a:t>Correlates logs, flows and user behaviour to spot malware, ransomware and multi-stage attacks.</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063240"/>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Automated response (SOAR)</a:t>
            </a:r>
          </a:p>
          <a:p>
            <a:pPr algn="l">
              <a:spcAft>
                <a:spcPts val="300"/>
              </a:spcAft>
            </a:pPr>
            <a:r>
              <a:rPr sz="1100" b="0">
                <a:solidFill>
                  <a:srgbClr val="5B6372"/>
                </a:solidFill>
                <a:latin typeface="Arial"/>
              </a:rPr>
              <a:t>Isolates a host, revokes a credential or blocks an address in seconds, cutting mean time to remediate.</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215384"/>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Vulnerability prioritisation</a:t>
            </a:r>
          </a:p>
          <a:p>
            <a:pPr algn="l">
              <a:spcAft>
                <a:spcPts val="300"/>
              </a:spcAft>
            </a:pPr>
            <a:r>
              <a:rPr sz="1100" b="0">
                <a:solidFill>
                  <a:srgbClr val="5B6372"/>
                </a:solidFill>
                <a:latin typeface="Arial"/>
              </a:rPr>
              <a:t>Predicts exploitability and business impact, turning a long scan report into a ranked worklist.</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215384"/>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Adaptive access control</a:t>
            </a:r>
          </a:p>
          <a:p>
            <a:pPr algn="l">
              <a:spcAft>
                <a:spcPts val="300"/>
              </a:spcAft>
            </a:pPr>
            <a:r>
              <a:rPr sz="1100" b="0">
                <a:solidFill>
                  <a:srgbClr val="5B6372"/>
                </a:solidFill>
                <a:latin typeface="Arial"/>
              </a:rPr>
              <a:t>Scores device, behaviour, location and time, and steps up authentication when risk rises.</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367528"/>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Phishing detection (NLP)</a:t>
            </a:r>
          </a:p>
          <a:p>
            <a:pPr algn="l">
              <a:spcAft>
                <a:spcPts val="300"/>
              </a:spcAft>
            </a:pPr>
            <a:r>
              <a:rPr sz="1100" b="0">
                <a:solidFill>
                  <a:srgbClr val="5B6372"/>
                </a:solidFill>
                <a:latin typeface="Arial"/>
              </a:rPr>
              <a:t>Reads tone and wording for social-engineering markers; computer vision spots fake login pages.</a:t>
            </a:r>
          </a:p>
        </p:txBody>
      </p:sp>
      <p:sp>
        <p:nvSpPr>
          <p:cNvPr id="42" name="Rectangle 41"/>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87668"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87668"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46" name="TextBox 45"/>
          <p:cNvSpPr txBox="1"/>
          <p:nvPr/>
        </p:nvSpPr>
        <p:spPr>
          <a:xfrm>
            <a:off x="7219188" y="5367528"/>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GenAI security copilots</a:t>
            </a:r>
          </a:p>
          <a:p>
            <a:pPr algn="l">
              <a:spcAft>
                <a:spcPts val="300"/>
              </a:spcAft>
            </a:pPr>
            <a:r>
              <a:rPr sz="1100" b="0">
                <a:solidFill>
                  <a:srgbClr val="5B6372"/>
                </a:solidFill>
                <a:latin typeface="Arial"/>
              </a:rPr>
              <a:t>Answer questions in natural language, summarise intelligence and draft incident reports.</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fast" advClick="1">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LESSON PLAN · TIME ALLOCATION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Where Course Time Goes — Topic Weighting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Topic 3 carries the largest weighting because designing and implementing the security measures is where most of the assessable practical ability (A5–A7) sits — plan your revision accordingly.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fast" advClick="1">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INDUSTRY SHIFT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Enterprise Adoption of AI-Augmented Security Platforms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100" b="1">
                <a:solidFill>
                  <a:srgbClr val="10B981"/>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Gartner forecasts that over 60% of organisations will rely on cybersecurity platforms with AI-augmented automation in 2026, up from under 20% in 2023 — AI in the SOC has moved from novelty to baseline expectation.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fast" advClick="1">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SETTING EXPECTATIONS HONESTLY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AI Does NOT Do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It does not remove the analyst</a:t>
            </a:r>
          </a:p>
          <a:p>
            <a:pPr algn="l">
              <a:spcAft>
                <a:spcPts val="300"/>
              </a:spcAft>
            </a:pPr>
            <a:r>
              <a:rPr sz="1200" b="0">
                <a:solidFill>
                  <a:srgbClr val="5B6372"/>
                </a:solidFill>
                <a:latin typeface="Arial"/>
              </a:rPr>
              <a:t>AI assists, it does not replace. Context, judgement and accountability stay human.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It does not explain itself for free</a:t>
            </a:r>
          </a:p>
          <a:p>
            <a:pPr algn="l">
              <a:spcAft>
                <a:spcPts val="300"/>
              </a:spcAft>
            </a:pPr>
            <a:r>
              <a:rPr sz="1200" b="0">
                <a:solidFill>
                  <a:srgbClr val="5B6372"/>
                </a:solidFill>
                <a:latin typeface="Arial"/>
              </a:rPr>
              <a:t>If you cannot say why the model flagged something, you cannot defend the decision. Demand explainability.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It is not immune to attack</a:t>
            </a:r>
          </a:p>
          <a:p>
            <a:pPr algn="l">
              <a:spcAft>
                <a:spcPts val="300"/>
              </a:spcAft>
            </a:pPr>
            <a:r>
              <a:rPr sz="1200" b="0">
                <a:solidFill>
                  <a:srgbClr val="5B6372"/>
                </a:solidFill>
                <a:latin typeface="Arial"/>
              </a:rPr>
              <a:t>Evasion, poisoning, privacy and misuse attacks target the model itself — we cover these in Topic 3.</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It does not fix bad data</a:t>
            </a:r>
          </a:p>
          <a:p>
            <a:pPr algn="l">
              <a:spcAft>
                <a:spcPts val="300"/>
              </a:spcAft>
            </a:pPr>
            <a:r>
              <a:rPr sz="1200" b="0">
                <a:solidFill>
                  <a:srgbClr val="5B6372"/>
                </a:solidFill>
                <a:latin typeface="Arial"/>
              </a:rPr>
              <a:t>A model trained on incomplete or skewed logs will confidently produce incomplete or skewed results.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It does not own the decision</a:t>
            </a:r>
          </a:p>
          <a:p>
            <a:pPr algn="l">
              <a:spcAft>
                <a:spcPts val="300"/>
              </a:spcAft>
            </a:pPr>
            <a:r>
              <a:rPr sz="1200" b="0">
                <a:solidFill>
                  <a:srgbClr val="5B6372"/>
                </a:solidFill>
                <a:latin typeface="Arial"/>
              </a:rPr>
              <a:t>Destructive or wide-blast-radius actions need a named human approver, every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It does not stay accurate by itself</a:t>
            </a:r>
          </a:p>
          <a:p>
            <a:pPr algn="l">
              <a:spcAft>
                <a:spcPts val="300"/>
              </a:spcAft>
            </a:pPr>
            <a:r>
              <a:rPr sz="1200" b="0">
                <a:solidFill>
                  <a:srgbClr val="5B6372"/>
                </a:solidFill>
                <a:latin typeface="Arial"/>
              </a:rPr>
              <a:t>Models drift as the network changes; retraining and revalidation are operational work, not a one-off.</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fast" advClick="1">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LO1 · DESIGN DECISION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Should This Detection Be a Rule or a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Can you write down
exactly what the
bad behaviour
looks like?</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YES — write a rule</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 signature or a threshold rule gives precision, an instant explanation, and no training data. Use it for known, well-defined patterns.</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NO — train a model</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When 'bad' is only definable as 'not normal', use a behavioural model. Accept that it needs a baseline, tuning and explainability work.</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Most real detections need both: the rule catches the named threat cheaply, the model covers the space of threats nobody has named yet.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fast" advClick="1">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AI-Assisted Network Threat and Vulnerability Analysis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ICT networks &amp; configuration · the AI threat landscape · AI anomaly detection · NDR · AI-assisted vulnerability analysis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med" advClick="1">
    <p:push dir="l"/>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01 · ROADMAP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Topic 01 — What It Covers and How It Is Assessed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Learning outcome</a:t>
            </a:r>
          </a:p>
          <a:p>
            <a:pPr algn="l">
              <a:spcAft>
                <a:spcPts val="300"/>
              </a:spcAft>
            </a:pPr>
            <a:r>
              <a:rPr sz="1100" b="0">
                <a:solidFill>
                  <a:srgbClr val="5B6372"/>
                </a:solidFill>
                <a:latin typeface="Arial"/>
              </a:rPr>
              <a:t>LO1 — Identify and assess network threats and vulnerabilities by analysing ICT configurations.</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Knowledge assessed (WA-SAQ)</a:t>
            </a:r>
          </a:p>
          <a:p>
            <a:pPr algn="l">
              <a:spcAft>
                <a:spcPts val="300"/>
              </a:spcAft>
            </a:pPr>
            <a:r>
              <a:rPr sz="1100" b="0">
                <a:solidFill>
                  <a:srgbClr val="5B6372"/>
                </a:solidFill>
                <a:latin typeface="Arial"/>
              </a:rPr>
              <a:t>K1: Infocomm Technology (ICT) networks and their configuration</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Abilities assessed (Case Study)</a:t>
            </a:r>
          </a:p>
          <a:p>
            <a:pPr algn="l">
              <a:spcAft>
                <a:spcPts val="300"/>
              </a:spcAft>
            </a:pPr>
            <a:r>
              <a:rPr sz="1100" b="0">
                <a:solidFill>
                  <a:srgbClr val="5B6372"/>
                </a:solidFill>
                <a:latin typeface="Arial"/>
              </a:rPr>
              <a:t>A1: Identify threats to network security · A2: Analyse security risks</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Hands-on labs</a:t>
            </a:r>
          </a:p>
          <a:p>
            <a:pPr algn="l">
              <a:spcAft>
                <a:spcPts val="300"/>
              </a:spcAft>
            </a:pPr>
            <a:r>
              <a:rPr sz="1100" b="0">
                <a:solidFill>
                  <a:srgbClr val="5B6372"/>
                </a:solidFill>
                <a:latin typeface="Arial"/>
              </a:rPr>
              <a:t>Labs 1, 2, 3 — 25% of course time.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fast" advClick="1">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Topic 01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An ICT network is a layered system — hosts, switches, routers, firewalls, wireless, servers and cloud edges — and every layer carries its own configuration and its own attack surface.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Traditional signature-based detection fails against zero-day exploits, polymorphic malware and Living-off-the-Land (LOTL) techniques; AI closes the gap by learning behaviour rather than matching known strings.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AI network monitoring gives real-time visibility across hybrid and multi-cloud estates, flags misconfigurations and surfaces vulnerable assets before an incident escalates.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fast" advClick="1">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Topic 01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AI anomaly detection learns the 'pattern of life' of a network — who normally talks to whom, when, and how much — then reports statistically significant deviations as candidate intrusions.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Network Detection and Response (NDR) applies behavioural AI to reconnaissance, credential abuse, lateral movement and data staging across the whole attack lifecycle.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AI-assisted vulnerability analysis adds contextual prioritisation to a raw scan: predicted exploitability and business impact turn a 900-line report into a ranked worklist.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fast" advClick="1">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K2 · WHAT YOU ARE UP AGAINST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Threat Landscape You Are Defending Against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Malware &amp; ransomware</a:t>
            </a:r>
          </a:p>
          <a:p>
            <a:pPr algn="l">
              <a:spcAft>
                <a:spcPts val="300"/>
              </a:spcAft>
            </a:pPr>
            <a:r>
              <a:rPr sz="1100" b="0">
                <a:solidFill>
                  <a:srgbClr val="5B6372"/>
                </a:solidFill>
                <a:latin typeface="Arial"/>
              </a:rPr>
              <a:t>Code that encrypts, steals or destroys — increasingly polymorphic, so its signature changes every build.</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Phishing &amp; social engineering</a:t>
            </a:r>
          </a:p>
          <a:p>
            <a:pPr algn="l">
              <a:spcAft>
                <a:spcPts val="300"/>
              </a:spcAft>
            </a:pPr>
            <a:r>
              <a:rPr sz="1100" b="0">
                <a:solidFill>
                  <a:srgbClr val="5B6372"/>
                </a:solidFill>
                <a:latin typeface="Arial"/>
              </a:rPr>
              <a:t>The most common initial access route; AI-generated lures are now fluent and personalised.</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063240"/>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DDoS</a:t>
            </a:r>
          </a:p>
          <a:p>
            <a:pPr algn="l">
              <a:spcAft>
                <a:spcPts val="300"/>
              </a:spcAft>
            </a:pPr>
            <a:r>
              <a:rPr sz="1100" b="0">
                <a:solidFill>
                  <a:srgbClr val="5B6372"/>
                </a:solidFill>
                <a:latin typeface="Arial"/>
              </a:rPr>
              <a:t>Floods a service until it is unavailable — an attack on the availability leg of the CIA triad.</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063240"/>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Man-in-the-middle</a:t>
            </a:r>
          </a:p>
          <a:p>
            <a:pPr algn="l">
              <a:spcAft>
                <a:spcPts val="300"/>
              </a:spcAft>
            </a:pPr>
            <a:r>
              <a:rPr sz="1100" b="0">
                <a:solidFill>
                  <a:srgbClr val="5B6372"/>
                </a:solidFill>
                <a:latin typeface="Arial"/>
              </a:rPr>
              <a:t>Intercepts or alters traffic in transit; defeated by strong encryption and certificate validation.</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215384"/>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Advanced Persistent Threats</a:t>
            </a:r>
          </a:p>
          <a:p>
            <a:pPr algn="l">
              <a:spcAft>
                <a:spcPts val="300"/>
              </a:spcAft>
            </a:pPr>
            <a:r>
              <a:rPr sz="1100" b="0">
                <a:solidFill>
                  <a:srgbClr val="5B6372"/>
                </a:solidFill>
                <a:latin typeface="Arial"/>
              </a:rPr>
              <a:t>Patient, well-resourced intruders who dwell for months — behaviour analytics is the main way to find them.</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215384"/>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Living off the Land (LOTL)</a:t>
            </a:r>
          </a:p>
          <a:p>
            <a:pPr algn="l">
              <a:spcAft>
                <a:spcPts val="300"/>
              </a:spcAft>
            </a:pPr>
            <a:r>
              <a:rPr sz="1100" b="0">
                <a:solidFill>
                  <a:srgbClr val="5B6372"/>
                </a:solidFill>
                <a:latin typeface="Arial"/>
              </a:rPr>
              <a:t>Uses the built-in admin tools already on the host, so there is no malware file to detect.</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367528"/>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Insider threat</a:t>
            </a:r>
          </a:p>
          <a:p>
            <a:pPr algn="l">
              <a:spcAft>
                <a:spcPts val="300"/>
              </a:spcAft>
            </a:pPr>
            <a:r>
              <a:rPr sz="1100" b="0">
                <a:solidFill>
                  <a:srgbClr val="5B6372"/>
                </a:solidFill>
                <a:latin typeface="Arial"/>
              </a:rPr>
              <a:t>An authorised user acting against the organisation — only detectable as a deviation from their own norm.</a:t>
            </a:r>
          </a:p>
        </p:txBody>
      </p:sp>
      <p:sp>
        <p:nvSpPr>
          <p:cNvPr id="42" name="Rectangle 41"/>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87668"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87668"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46" name="TextBox 45"/>
          <p:cNvSpPr txBox="1"/>
          <p:nvPr/>
        </p:nvSpPr>
        <p:spPr>
          <a:xfrm>
            <a:off x="7219188" y="5367528"/>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AI-enabled attacks</a:t>
            </a:r>
          </a:p>
          <a:p>
            <a:pPr algn="l">
              <a:spcAft>
                <a:spcPts val="300"/>
              </a:spcAft>
            </a:pPr>
            <a:r>
              <a:rPr sz="1100" b="0">
                <a:solidFill>
                  <a:srgbClr val="5B6372"/>
                </a:solidFill>
                <a:latin typeface="Arial"/>
              </a:rPr>
              <a:t>Adversaries use AI to raise the speed, scale and quality of attacks — defence must match that tempo.</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fast" advClick="1">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HOW THE MODEL LEARNS NORMAL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Building a 'Pattern of Life' Baseline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Observe</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Every connection, device and identity</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Profile</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Normal peers, ports, volumes, hours</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Establish</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A per-entity, not global, baseline</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Compare</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Score each new event against it</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Re-learn</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Update as the network legitimately changes</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WHY PER-ENTITY</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backup server moving 400 GB at 02:00 is normal; a laptop doing it is not. A single global threshold cannot express that — a per-entity baseline can.</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THE ATTACK LIFECYCLE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Network Detection and Response (NDR)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What it is</a:t>
            </a:r>
          </a:p>
          <a:p>
            <a:pPr algn="l">
              <a:spcAft>
                <a:spcPts val="300"/>
              </a:spcAft>
            </a:pPr>
            <a:r>
              <a:rPr sz="1100" b="0">
                <a:solidFill>
                  <a:srgbClr val="5B6372"/>
                </a:solidFill>
                <a:latin typeface="Arial"/>
              </a:rPr>
              <a:t>A platform that applies behavioural AI to network traffic to detect attacker activity that endpoint and perimeter tools miss.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Reconnaissance</a:t>
            </a:r>
          </a:p>
          <a:p>
            <a:pPr algn="l">
              <a:spcAft>
                <a:spcPts val="300"/>
              </a:spcAft>
            </a:pPr>
            <a:r>
              <a:rPr sz="1100" b="0">
                <a:solidFill>
                  <a:srgbClr val="5B6372"/>
                </a:solidFill>
                <a:latin typeface="Arial"/>
              </a:rPr>
              <a:t>Spots scanning and enumeration — one host suddenly touching many hosts or many ports.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Credential abuse</a:t>
            </a:r>
          </a:p>
          <a:p>
            <a:pPr algn="l">
              <a:spcAft>
                <a:spcPts val="300"/>
              </a:spcAft>
            </a:pPr>
            <a:r>
              <a:rPr sz="1100" b="0">
                <a:solidFill>
                  <a:srgbClr val="5B6372"/>
                </a:solidFill>
                <a:latin typeface="Arial"/>
              </a:rPr>
              <a:t>Flags an account used from a new device, a new location or at an impossible hour.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Lateral movement</a:t>
            </a:r>
          </a:p>
          <a:p>
            <a:pPr algn="l">
              <a:spcAft>
                <a:spcPts val="300"/>
              </a:spcAft>
            </a:pPr>
            <a:r>
              <a:rPr sz="1100" b="0">
                <a:solidFill>
                  <a:srgbClr val="5B6372"/>
                </a:solidFill>
                <a:latin typeface="Arial"/>
              </a:rPr>
              <a:t>Detects east-west traffic that crosses a zone boundary it has never crossed before.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staging &amp; exfiltration</a:t>
            </a:r>
          </a:p>
          <a:p>
            <a:pPr algn="l">
              <a:spcAft>
                <a:spcPts val="300"/>
              </a:spcAft>
            </a:pPr>
            <a:r>
              <a:rPr sz="1100" b="0">
                <a:solidFill>
                  <a:srgbClr val="5B6372"/>
                </a:solidFill>
                <a:latin typeface="Arial"/>
              </a:rPr>
              <a:t>Notices collection into an unusual location and outbound volume that breaks the baseline.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Encrypted traffic</a:t>
            </a:r>
          </a:p>
          <a:p>
            <a:pPr algn="l">
              <a:spcAft>
                <a:spcPts val="300"/>
              </a:spcAft>
            </a:pPr>
            <a:r>
              <a:rPr sz="1100" b="0">
                <a:solidFill>
                  <a:srgbClr val="5B6372"/>
                </a:solidFill>
                <a:latin typeface="Arial"/>
              </a:rPr>
              <a:t>Infers behaviour from flow metadata — timing, volume and direction — without needing to decrypt.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fast" advClick="1">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LO1 · A2 · TURNING A SCAN INTO A WORKLIST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Prioritising Vulnerabilities — Three Approaches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Approach</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How it ranks</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Weakness</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Verdict</a:t>
            </a:r>
          </a:p>
        </p:txBody>
      </p:sp>
      <p:sp>
        <p:nvSpPr>
          <p:cNvPr id="15" name="Rectangle 14"/>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CVSS only</a:t>
            </a:r>
          </a:p>
        </p:txBody>
      </p:sp>
      <p:sp>
        <p:nvSpPr>
          <p:cNvPr id="17" name="Rectangle 16"/>
          <p:cNvSpPr/>
          <p:nvPr/>
        </p:nvSpPr>
        <p:spPr>
          <a:xfrm>
            <a:off x="354220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By base severity score</a:t>
            </a:r>
          </a:p>
        </p:txBody>
      </p:sp>
      <p:sp>
        <p:nvSpPr>
          <p:cNvPr id="19" name="Rectangle 18"/>
          <p:cNvSpPr/>
          <p:nvPr/>
        </p:nvSpPr>
        <p:spPr>
          <a:xfrm>
            <a:off x="616537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Ignores whether it is exploited and what the asset is worth</a:t>
            </a:r>
          </a:p>
        </p:txBody>
      </p:sp>
      <p:sp>
        <p:nvSpPr>
          <p:cNvPr id="21" name="Rectangle 20"/>
          <p:cNvSpPr/>
          <p:nvPr/>
        </p:nvSpPr>
        <p:spPr>
          <a:xfrm>
            <a:off x="878854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Necessary, not sufficient</a:t>
            </a:r>
          </a:p>
        </p:txBody>
      </p:sp>
      <p:sp>
        <p:nvSpPr>
          <p:cNvPr id="23" name="Rectangle 22"/>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CVSS + KEV</a:t>
            </a:r>
          </a:p>
        </p:txBody>
      </p:sp>
      <p:sp>
        <p:nvSpPr>
          <p:cNvPr id="25" name="Rectangle 24"/>
          <p:cNvSpPr/>
          <p:nvPr/>
        </p:nvSpPr>
        <p:spPr>
          <a:xfrm>
            <a:off x="354220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Severity, with known-exploited first</a:t>
            </a:r>
          </a:p>
        </p:txBody>
      </p:sp>
      <p:sp>
        <p:nvSpPr>
          <p:cNvPr id="27" name="Rectangle 26"/>
          <p:cNvSpPr/>
          <p:nvPr/>
        </p:nvSpPr>
        <p:spPr>
          <a:xfrm>
            <a:off x="616537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Still ignores business context</a:t>
            </a:r>
          </a:p>
        </p:txBody>
      </p:sp>
      <p:sp>
        <p:nvSpPr>
          <p:cNvPr id="29" name="Rectangle 28"/>
          <p:cNvSpPr/>
          <p:nvPr/>
        </p:nvSpPr>
        <p:spPr>
          <a:xfrm>
            <a:off x="878854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Much better — free and fast</a:t>
            </a:r>
          </a:p>
        </p:txBody>
      </p:sp>
      <p:sp>
        <p:nvSpPr>
          <p:cNvPr id="31" name="Rectangle 30"/>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AI-assisted contextual</a:t>
            </a:r>
          </a:p>
        </p:txBody>
      </p:sp>
      <p:sp>
        <p:nvSpPr>
          <p:cNvPr id="33" name="Rectangle 32"/>
          <p:cNvSpPr/>
          <p:nvPr/>
        </p:nvSpPr>
        <p:spPr>
          <a:xfrm>
            <a:off x="354220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Predicted exploitability x asset criticality x exposure</a:t>
            </a:r>
          </a:p>
        </p:txBody>
      </p:sp>
      <p:sp>
        <p:nvSpPr>
          <p:cNvPr id="35" name="Rectangle 34"/>
          <p:cNvSpPr/>
          <p:nvPr/>
        </p:nvSpPr>
        <p:spPr>
          <a:xfrm>
            <a:off x="616537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Needs a trustworthy asset register</a:t>
            </a:r>
          </a:p>
        </p:txBody>
      </p:sp>
      <p:sp>
        <p:nvSpPr>
          <p:cNvPr id="37" name="Rectangle 36"/>
          <p:cNvSpPr/>
          <p:nvPr/>
        </p:nvSpPr>
        <p:spPr>
          <a:xfrm>
            <a:off x="878854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Best — and it is what Lab 3 builds</a:t>
            </a:r>
          </a:p>
        </p:txBody>
      </p:sp>
      <p:sp>
        <p:nvSpPr>
          <p:cNvPr id="39" name="Rectangle 38"/>
          <p:cNvSpPr/>
          <p:nvPr/>
        </p:nvSpPr>
        <p:spPr>
          <a:xfrm>
            <a:off x="777240" y="4599432"/>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77240" y="4599432"/>
            <a:ext cx="100584"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51560" y="4709160"/>
            <a:ext cx="10085832" cy="603504"/>
          </a:xfrm>
          <a:prstGeom prst="rect">
            <a:avLst/>
          </a:prstGeom>
          <a:noFill/>
        </p:spPr>
        <p:txBody>
          <a:bodyPr wrap="square" anchor="t">
            <a:spAutoFit/>
          </a:bodyPr>
          <a:lstStyle/>
          <a:p>
            <a:pPr algn="l">
              <a:spcAft>
                <a:spcPts val="400"/>
              </a:spcAft>
            </a:pPr>
            <a:r>
              <a:rPr sz="1100" b="1">
                <a:solidFill>
                  <a:srgbClr val="7C3AED"/>
                </a:solidFill>
                <a:latin typeface="Arial"/>
              </a:rPr>
              <a:t>WHEN IT MATTERS  </a:t>
            </a:r>
            <a:r>
              <a:rPr sz="1200" b="0">
                <a:solidFill>
                  <a:srgbClr val="161B26"/>
                </a:solidFill>
                <a:latin typeface="Arial"/>
              </a:rPr>
              <a:t>A ranking you cannot explain is a ranking nobody will fund. Whatever method you choose, write the formula down so the order is reproducible.</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fast" advClick="1">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Hands-On Labs — Topic 01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1</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Map the ICT Network and Analyse Its Configuration</a:t>
            </a:r>
          </a:p>
          <a:p>
            <a:pPr>
              <a:spcAft>
                <a:spcPts val="900"/>
              </a:spcAft>
            </a:pPr>
            <a:r>
              <a:rPr sz="1400" b="0">
                <a:solidFill>
                  <a:srgbClr val="161B26"/>
                </a:solidFill>
                <a:latin typeface="Arial"/>
              </a:rPr>
              <a:t>•  </a:t>
            </a:r>
          </a:p>
          <a:p>
            <a:pPr>
              <a:spcAft>
                <a:spcPts val="900"/>
              </a:spcAft>
            </a:pPr>
            <a:r>
              <a:rPr sz="1400" b="0">
                <a:solidFill>
                  <a:srgbClr val="161B26"/>
                </a:solidFill>
                <a:latin typeface="Arial"/>
              </a:rPr>
              <a:t>•  Establish what the network actually is before judging whether it is safe: discover live hosts, open ports and services, </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2</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Baseline Normal Traffic and Detect an Anomaly with AI</a:t>
            </a:r>
          </a:p>
          <a:p>
            <a:pPr>
              <a:spcAft>
                <a:spcPts val="900"/>
              </a:spcAft>
            </a:pPr>
            <a:r>
              <a:rPr sz="1400" b="0">
                <a:solidFill>
                  <a:srgbClr val="161B26"/>
                </a:solidFill>
                <a:latin typeface="Arial"/>
              </a:rPr>
              <a:t>•  </a:t>
            </a:r>
          </a:p>
          <a:p>
            <a:pPr>
              <a:spcAft>
                <a:spcPts val="900"/>
              </a:spcAft>
            </a:pPr>
            <a:r>
              <a:rPr sz="1400" b="0">
                <a:solidFill>
                  <a:srgbClr val="161B26"/>
                </a:solidFill>
                <a:latin typeface="Arial"/>
              </a:rPr>
              <a:t>•  Learn what 'normal' looks like on a network, then let a machine-learning model tell you when traffic stops being normal.</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3</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AI-Assisted Vulnerability Analysis and Prioritisation</a:t>
            </a:r>
          </a:p>
          <a:p>
            <a:pPr>
              <a:spcAft>
                <a:spcPts val="900"/>
              </a:spcAft>
            </a:pPr>
            <a:r>
              <a:rPr sz="1400" b="0">
                <a:solidFill>
                  <a:srgbClr val="161B26"/>
                </a:solidFill>
                <a:latin typeface="Arial"/>
              </a:rPr>
              <a:t>•  </a:t>
            </a:r>
          </a:p>
          <a:p>
            <a:pPr>
              <a:spcAft>
                <a:spcPts val="900"/>
              </a:spcAft>
            </a:pPr>
            <a:r>
              <a:rPr sz="1400" b="0">
                <a:solidFill>
                  <a:srgbClr val="161B26"/>
                </a:solidFill>
                <a:latin typeface="Arial"/>
              </a:rPr>
              <a:t>•  Turn a raw vulnerability list into a ranked, defensible worklist by combining CVSS severity with exploitability and busi</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fast" advClick="1">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Map the ICT Network and Analyse Its Configuration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K1 · A1 — Establish what the network actually is before judging whether it is safe: discover live hosts, open ports and services, and read the configuration for weaknesses.</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are handed an unfamiliar subnet and asked the question every security review starts with: what is on this network, and what is it running? You use Nmap to discover live hosts and their open ports and service versions, record the result as a structured inventory, and then read the configuration evidence for the weaknesses that matter — management ports exposed, unencrypted protocols in use, out-of-date service versions and default configurations left in place.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network configuration inventory (host, IP, OS guess, open ports, service versions) plus a written list of the configuration weaknesses you found and why each one matters.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Nmap, Zenmap, a spreadsheet, a generative AI assistant</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inventory names every live host with its open ports and service versions, and your weakness list contains at least five configuration weaknesses, each tied to specific evidence in the scan output. You can state, for each AI-suggested finding, whether the scan evidence actually supports it.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fast" advClick="1">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Confirm authorisation</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Ping sweep</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Service &amp; version scan</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Full port scan</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Export inventory</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K1 · A1 — Establish what the network actually is before judging whether it is safe: discover live hosts, open ports and services, and read the configuration for weaknesses.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Map the ICT Network and Analyse Its Configuration — Part 1/2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1986076"/>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98607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55648"/>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Confirm you are scanning only the lab network you have been authorised to scan. Never scan a network you do not own or have written permission to test.</a:t>
            </a:r>
          </a:p>
        </p:txBody>
      </p:sp>
      <p:sp>
        <p:nvSpPr>
          <p:cNvPr id="12" name="Rectangle 11"/>
          <p:cNvSpPr/>
          <p:nvPr/>
        </p:nvSpPr>
        <p:spPr>
          <a:xfrm>
            <a:off x="777240" y="2673705"/>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673705"/>
            <a:ext cx="82296" cy="82661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2904133"/>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290413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728569"/>
            <a:ext cx="9692640" cy="329184"/>
          </a:xfrm>
          <a:prstGeom prst="rect">
            <a:avLst/>
          </a:prstGeom>
          <a:noFill/>
        </p:spPr>
        <p:txBody>
          <a:bodyPr wrap="square" anchor="ctr">
            <a:spAutoFit/>
          </a:bodyPr>
          <a:lstStyle/>
          <a:p>
            <a:pPr algn="l">
              <a:spcAft>
                <a:spcPts val="400"/>
              </a:spcAft>
            </a:pPr>
            <a:r>
              <a:rPr sz="1250" b="1">
                <a:solidFill>
                  <a:srgbClr val="161B26"/>
                </a:solidFill>
                <a:latin typeface="Arial"/>
              </a:rPr>
              <a:t>Discover which hosts are alive on the lab subnet with a ping sweep. Note how many hosts answer.</a:t>
            </a:r>
          </a:p>
        </p:txBody>
      </p:sp>
      <p:sp>
        <p:nvSpPr>
          <p:cNvPr id="17" name="Rectangle 16"/>
          <p:cNvSpPr/>
          <p:nvPr/>
        </p:nvSpPr>
        <p:spPr>
          <a:xfrm>
            <a:off x="1481328" y="3094329"/>
            <a:ext cx="9601200" cy="31455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27632" y="3094329"/>
            <a:ext cx="9326880" cy="314553"/>
          </a:xfrm>
          <a:prstGeom prst="rect">
            <a:avLst/>
          </a:prstGeom>
          <a:noFill/>
        </p:spPr>
        <p:txBody>
          <a:bodyPr wrap="square" anchor="ctr">
            <a:spAutoFit/>
          </a:bodyPr>
          <a:lstStyle/>
          <a:p>
            <a:pPr algn="l">
              <a:spcAft>
                <a:spcPts val="400"/>
              </a:spcAft>
            </a:pPr>
            <a:r>
              <a:rPr sz="1050" b="0">
                <a:solidFill>
                  <a:srgbClr val="9CDCFE"/>
                </a:solidFill>
                <a:latin typeface="Arial"/>
              </a:rPr>
              <a:t>$ nmap -sn 192.168.56.0/24</a:t>
            </a:r>
          </a:p>
        </p:txBody>
      </p:sp>
      <p:sp>
        <p:nvSpPr>
          <p:cNvPr id="19" name="Rectangle 18"/>
          <p:cNvSpPr/>
          <p:nvPr/>
        </p:nvSpPr>
        <p:spPr>
          <a:xfrm>
            <a:off x="777240" y="3591762"/>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591762"/>
            <a:ext cx="82296" cy="82661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3822190"/>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382219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3" name="TextBox 22"/>
          <p:cNvSpPr txBox="1"/>
          <p:nvPr/>
        </p:nvSpPr>
        <p:spPr>
          <a:xfrm>
            <a:off x="1481328" y="3646626"/>
            <a:ext cx="9692640" cy="329184"/>
          </a:xfrm>
          <a:prstGeom prst="rect">
            <a:avLst/>
          </a:prstGeom>
          <a:noFill/>
        </p:spPr>
        <p:txBody>
          <a:bodyPr wrap="square" anchor="ctr">
            <a:spAutoFit/>
          </a:bodyPr>
          <a:lstStyle/>
          <a:p>
            <a:pPr algn="l">
              <a:spcAft>
                <a:spcPts val="400"/>
              </a:spcAft>
            </a:pPr>
            <a:r>
              <a:rPr sz="1250" b="1">
                <a:solidFill>
                  <a:srgbClr val="161B26"/>
                </a:solidFill>
                <a:latin typeface="Arial"/>
              </a:rPr>
              <a:t>Run a service and version scan against the live hosts to learn what each one is actually running.</a:t>
            </a:r>
          </a:p>
        </p:txBody>
      </p:sp>
      <p:sp>
        <p:nvSpPr>
          <p:cNvPr id="24" name="Rectangle 23"/>
          <p:cNvSpPr/>
          <p:nvPr/>
        </p:nvSpPr>
        <p:spPr>
          <a:xfrm>
            <a:off x="1481328" y="4012386"/>
            <a:ext cx="9601200" cy="31455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627632" y="4012386"/>
            <a:ext cx="9326880" cy="314553"/>
          </a:xfrm>
          <a:prstGeom prst="rect">
            <a:avLst/>
          </a:prstGeom>
          <a:noFill/>
        </p:spPr>
        <p:txBody>
          <a:bodyPr wrap="square" anchor="ctr">
            <a:spAutoFit/>
          </a:bodyPr>
          <a:lstStyle/>
          <a:p>
            <a:pPr algn="l">
              <a:spcAft>
                <a:spcPts val="400"/>
              </a:spcAft>
            </a:pPr>
            <a:r>
              <a:rPr sz="1050" b="0">
                <a:solidFill>
                  <a:srgbClr val="9CDCFE"/>
                </a:solidFill>
                <a:latin typeface="Arial"/>
              </a:rPr>
              <a:t>$ nmap -sV -O -T4 192.168.56.0/24 -oN inventory.txt</a:t>
            </a:r>
          </a:p>
        </p:txBody>
      </p:sp>
      <p:sp>
        <p:nvSpPr>
          <p:cNvPr id="26" name="Rectangle 25"/>
          <p:cNvSpPr/>
          <p:nvPr/>
        </p:nvSpPr>
        <p:spPr>
          <a:xfrm>
            <a:off x="777240" y="4509819"/>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509819"/>
            <a:ext cx="82296" cy="82661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69264" y="4740247"/>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9264" y="4740247"/>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30" name="TextBox 29"/>
          <p:cNvSpPr txBox="1"/>
          <p:nvPr/>
        </p:nvSpPr>
        <p:spPr>
          <a:xfrm>
            <a:off x="1481328" y="4564683"/>
            <a:ext cx="9692640" cy="329184"/>
          </a:xfrm>
          <a:prstGeom prst="rect">
            <a:avLst/>
          </a:prstGeom>
          <a:noFill/>
        </p:spPr>
        <p:txBody>
          <a:bodyPr wrap="square" anchor="ctr">
            <a:spAutoFit/>
          </a:bodyPr>
          <a:lstStyle/>
          <a:p>
            <a:pPr algn="l">
              <a:spcAft>
                <a:spcPts val="400"/>
              </a:spcAft>
            </a:pPr>
            <a:r>
              <a:rPr sz="1250" b="1">
                <a:solidFill>
                  <a:srgbClr val="161B26"/>
                </a:solidFill>
                <a:latin typeface="Arial"/>
              </a:rPr>
              <a:t>Scan the full TCP port range on the one host that looks most interesting, so nothing above port 1024 is missed.</a:t>
            </a:r>
          </a:p>
        </p:txBody>
      </p:sp>
      <p:sp>
        <p:nvSpPr>
          <p:cNvPr id="31" name="Rectangle 30"/>
          <p:cNvSpPr/>
          <p:nvPr/>
        </p:nvSpPr>
        <p:spPr>
          <a:xfrm>
            <a:off x="1481328" y="4930443"/>
            <a:ext cx="9601200" cy="31455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627632" y="4930443"/>
            <a:ext cx="9326880" cy="314553"/>
          </a:xfrm>
          <a:prstGeom prst="rect">
            <a:avLst/>
          </a:prstGeom>
          <a:noFill/>
        </p:spPr>
        <p:txBody>
          <a:bodyPr wrap="square" anchor="ctr">
            <a:spAutoFit/>
          </a:bodyPr>
          <a:lstStyle/>
          <a:p>
            <a:pPr algn="l">
              <a:spcAft>
                <a:spcPts val="400"/>
              </a:spcAft>
            </a:pPr>
            <a:r>
              <a:rPr sz="1050" b="0">
                <a:solidFill>
                  <a:srgbClr val="9CDCFE"/>
                </a:solidFill>
                <a:latin typeface="Arial"/>
              </a:rPr>
              <a:t>$ nmap -sV -p- -T4 192.168.56.101 -oN host101-full.txt</a:t>
            </a:r>
          </a:p>
        </p:txBody>
      </p:sp>
      <p:sp>
        <p:nvSpPr>
          <p:cNvPr id="33" name="Rectangle 32"/>
          <p:cNvSpPr/>
          <p:nvPr/>
        </p:nvSpPr>
        <p:spPr>
          <a:xfrm>
            <a:off x="777240" y="5427876"/>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77240" y="5427876"/>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969264" y="565830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69264" y="565830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7" name="TextBox 36"/>
          <p:cNvSpPr txBox="1"/>
          <p:nvPr/>
        </p:nvSpPr>
        <p:spPr>
          <a:xfrm>
            <a:off x="1481328" y="5482740"/>
            <a:ext cx="9692640" cy="329184"/>
          </a:xfrm>
          <a:prstGeom prst="rect">
            <a:avLst/>
          </a:prstGeom>
          <a:noFill/>
        </p:spPr>
        <p:txBody>
          <a:bodyPr wrap="square" anchor="ctr">
            <a:spAutoFit/>
          </a:bodyPr>
          <a:lstStyle/>
          <a:p>
            <a:pPr algn="l">
              <a:spcAft>
                <a:spcPts val="400"/>
              </a:spcAft>
            </a:pPr>
            <a:r>
              <a:rPr sz="1250" b="1">
                <a:solidFill>
                  <a:srgbClr val="161B26"/>
                </a:solidFill>
                <a:latin typeface="Arial"/>
              </a:rPr>
              <a:t>Export the scan to a machine-readable form so it can be loaded into a spreadsheet or a script.</a:t>
            </a:r>
          </a:p>
        </p:txBody>
      </p:sp>
      <p:sp>
        <p:nvSpPr>
          <p:cNvPr id="38" name="Rectangle 37"/>
          <p:cNvSpPr/>
          <p:nvPr/>
        </p:nvSpPr>
        <p:spPr>
          <a:xfrm>
            <a:off x="1481328" y="5848500"/>
            <a:ext cx="9601200" cy="31455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627632" y="5848500"/>
            <a:ext cx="9326880" cy="314553"/>
          </a:xfrm>
          <a:prstGeom prst="rect">
            <a:avLst/>
          </a:prstGeom>
          <a:noFill/>
        </p:spPr>
        <p:txBody>
          <a:bodyPr wrap="square" anchor="ctr">
            <a:spAutoFit/>
          </a:bodyPr>
          <a:lstStyle/>
          <a:p>
            <a:pPr algn="l">
              <a:spcAft>
                <a:spcPts val="400"/>
              </a:spcAft>
            </a:pPr>
            <a:r>
              <a:rPr sz="1050" b="0">
                <a:solidFill>
                  <a:srgbClr val="9CDCFE"/>
                </a:solidFill>
                <a:latin typeface="Arial"/>
              </a:rPr>
              <a:t>$ nmap -sV 192.168.56.0/24 -oX inventory.xml</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fast" advClick="1">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Map the ICT Network and Analyse Its Configuration — Part 2/2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1" name="TextBox 10"/>
          <p:cNvSpPr txBox="1"/>
          <p:nvPr/>
        </p:nvSpPr>
        <p:spPr>
          <a:xfrm>
            <a:off x="1481328" y="1755648"/>
            <a:ext cx="9692640" cy="1024128"/>
          </a:xfrm>
          <a:prstGeom prst="rect">
            <a:avLst/>
          </a:prstGeom>
          <a:noFill/>
        </p:spPr>
        <p:txBody>
          <a:bodyPr wrap="square" anchor="ctr">
            <a:spAutoFit/>
          </a:bodyPr>
          <a:lstStyle/>
          <a:p>
            <a:pPr algn="l">
              <a:spcAft>
                <a:spcPts val="400"/>
              </a:spcAft>
            </a:pPr>
            <a:r>
              <a:rPr sz="900" b="0">
                <a:solidFill>
                  <a:srgbClr val="161B26"/>
                </a:solidFill>
                <a:latin typeface="Arial"/>
              </a:rPr>
              <a:t>Build the inventory table in a spreadsheet with the columns Host, IP, OS, Open Ports, Services, Versions, Owner, Business Function.</a:t>
            </a:r>
          </a:p>
        </p:txBody>
      </p:sp>
      <p:sp>
        <p:nvSpPr>
          <p:cNvPr id="12" name="Rectangle 11"/>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6" name="TextBox 15"/>
          <p:cNvSpPr txBox="1"/>
          <p:nvPr/>
        </p:nvSpPr>
        <p:spPr>
          <a:xfrm>
            <a:off x="1481328" y="2871216"/>
            <a:ext cx="9692640" cy="1024128"/>
          </a:xfrm>
          <a:prstGeom prst="rect">
            <a:avLst/>
          </a:prstGeom>
          <a:noFill/>
        </p:spPr>
        <p:txBody>
          <a:bodyPr wrap="square" anchor="ctr">
            <a:spAutoFit/>
          </a:bodyPr>
          <a:lstStyle/>
          <a:p>
            <a:pPr algn="l">
              <a:spcAft>
                <a:spcPts val="400"/>
              </a:spcAft>
            </a:pPr>
            <a:r>
              <a:rPr sz="900" b="0">
                <a:solidFill>
                  <a:srgbClr val="161B26"/>
                </a:solidFill>
                <a:latin typeface="Arial"/>
              </a:rPr>
              <a:t>Read the inventory for configuration weaknesses. Flag every unencrypted management protocol (Telnet 23, FTP 21, HTTP 80 on an admin interface), every service version that is behind, and every port that has no business being open.</a:t>
            </a:r>
          </a:p>
        </p:txBody>
      </p:sp>
      <p:sp>
        <p:nvSpPr>
          <p:cNvPr id="17" name="Rectangle 16"/>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21" name="TextBox 20"/>
          <p:cNvSpPr txBox="1"/>
          <p:nvPr/>
        </p:nvSpPr>
        <p:spPr>
          <a:xfrm>
            <a:off x="1481328" y="4041648"/>
            <a:ext cx="9692640" cy="329184"/>
          </a:xfrm>
          <a:prstGeom prst="rect">
            <a:avLst/>
          </a:prstGeom>
          <a:noFill/>
        </p:spPr>
        <p:txBody>
          <a:bodyPr wrap="square" anchor="ctr">
            <a:spAutoFit/>
          </a:bodyPr>
          <a:lstStyle/>
          <a:p>
            <a:pPr algn="l">
              <a:spcAft>
                <a:spcPts val="400"/>
              </a:spcAft>
            </a:pPr>
            <a:r>
              <a:rPr sz="900" b="1">
                <a:solidFill>
                  <a:srgbClr val="161B26"/>
                </a:solidFill>
                <a:latin typeface="Arial"/>
              </a:rPr>
              <a:t>Paste the sanitised Nmap output into your AI assistant and ask it to identify the configuration weaknesses and explain the risk of each. Compare its list against yours.</a:t>
            </a:r>
          </a:p>
        </p:txBody>
      </p:sp>
      <p:sp>
        <p:nvSpPr>
          <p:cNvPr id="22" name="Rectangle 21"/>
          <p:cNvSpPr/>
          <p:nvPr/>
        </p:nvSpPr>
        <p:spPr>
          <a:xfrm>
            <a:off x="1481328" y="4407408"/>
            <a:ext cx="9601200" cy="5120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627632" y="4407408"/>
            <a:ext cx="9326880" cy="512064"/>
          </a:xfrm>
          <a:prstGeom prst="rect">
            <a:avLst/>
          </a:prstGeom>
          <a:noFill/>
        </p:spPr>
        <p:txBody>
          <a:bodyPr wrap="square" anchor="ctr">
            <a:spAutoFit/>
          </a:bodyPr>
          <a:lstStyle/>
          <a:p>
            <a:pPr algn="l">
              <a:spcAft>
                <a:spcPts val="400"/>
              </a:spcAft>
            </a:pPr>
            <a:r>
              <a:rPr sz="850" b="0">
                <a:solidFill>
                  <a:srgbClr val="9CDCFE"/>
                </a:solidFill>
                <a:latin typeface="Arial"/>
              </a:rPr>
              <a:t>$ Prompt: 'Here is Nmap output from a network I am authorised to assess. Identify configuration weaknesses, name the affected protocol or service, and explain the risk of each in one sentence.'</a:t>
            </a:r>
          </a:p>
        </p:txBody>
      </p:sp>
      <p:sp>
        <p:nvSpPr>
          <p:cNvPr id="24" name="Rectangle 23"/>
          <p:cNvSpPr/>
          <p:nvPr/>
        </p:nvSpPr>
        <p:spPr>
          <a:xfrm>
            <a:off x="777240" y="5102352"/>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5102352"/>
            <a:ext cx="82296" cy="10241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9264" y="5431536"/>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 y="543153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28" name="TextBox 27"/>
          <p:cNvSpPr txBox="1"/>
          <p:nvPr/>
        </p:nvSpPr>
        <p:spPr>
          <a:xfrm>
            <a:off x="1481328" y="5102352"/>
            <a:ext cx="9692640" cy="1024128"/>
          </a:xfrm>
          <a:prstGeom prst="rect">
            <a:avLst/>
          </a:prstGeom>
          <a:noFill/>
        </p:spPr>
        <p:txBody>
          <a:bodyPr wrap="square" anchor="ctr">
            <a:spAutoFit/>
          </a:bodyPr>
          <a:lstStyle/>
          <a:p>
            <a:pPr algn="l">
              <a:spcAft>
                <a:spcPts val="400"/>
              </a:spcAft>
            </a:pPr>
            <a:r>
              <a:rPr sz="900" b="0">
                <a:solidFill>
                  <a:srgbClr val="161B26"/>
                </a:solidFill>
                <a:latin typeface="Arial"/>
              </a:rPr>
              <a:t>Reconcile the two lists. Record anything the AI found that you missed, and anything it claimed that the evidence does not support — the second list is the more important one.</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fast" advClick="1">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Map the ICT Network and Analyse Its Configuration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inventory names every live host with its open ports and service versions, and your weakness list contains at least five configuration weaknesses, each tied to specific evidence in the scan output. You can state, for each AI-suggested finding, whether the scan evidence actually supports it.</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No hosts answer the ping sweep</a:t>
            </a:r>
          </a:p>
        </p:txBody>
      </p:sp>
      <p:sp>
        <p:nvSpPr>
          <p:cNvPr id="15" name="TextBox 14"/>
          <p:cNvSpPr txBox="1"/>
          <p:nvPr/>
        </p:nvSpPr>
        <p:spPr>
          <a:xfrm>
            <a:off x="996696"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the lab hosts may block ICMP; re-run with `nmap -Pn`.</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The version scan is slow</a:t>
            </a:r>
          </a:p>
        </p:txBody>
      </p:sp>
      <p:sp>
        <p:nvSpPr>
          <p:cNvPr id="19" name="TextBox 18"/>
          <p:cNvSpPr txBox="1"/>
          <p:nvPr/>
        </p:nvSpPr>
        <p:spPr>
          <a:xfrm>
            <a:off x="4617720"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narrow the port range with `-p 1-1024` or raise the timing to `-T4`.</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`-O` reports 'too many fingerprints'</a:t>
            </a:r>
          </a:p>
        </p:txBody>
      </p:sp>
      <p:sp>
        <p:nvSpPr>
          <p:cNvPr id="23" name="TextBox 22"/>
          <p:cNvSpPr txBox="1"/>
          <p:nvPr/>
        </p:nvSpPr>
        <p:spPr>
          <a:xfrm>
            <a:off x="8238744"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OS detection needs at least one open and one closed port; it is a hint, not evidence.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fast" advClick="1">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Baseline Normal Traffic and Detect an Anomaly with 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K1 · K2 · A1 — Learn what 'normal' looks like on a network, then let a machine-learning model tell you when traffic stops being normal.</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Signature detection only finds what someone has already named. This lab builds the other half of the picture. You capture live traffic in Wireshark, turn it into per-connection features, train an unsupervised anomaly-detection model on the quiet 'pattern of life' period, and then score a period that contains a port scan and a data-staging burst. You see for yourself which events the model scores as anomalous and — just as importantly — which normal events it wrongly flags.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labelled anomaly report: the connections your Isolation Forest model scored as anomalous, ranked by score, with your own verdict of true positive or false positive against the packet evidence.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Wireshark, tshark, Python 3, pandas, scikit-learn, a generative AI assistant</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port scan appears in your top-ranked anomalies — it shows as many short connections from one source to many destination ports. You can name at least one false positive and explain why the model flagged legitimate traffic, and you can state your model's precision on the twenty you reviewed.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fast" advClick="1">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Capture baseline traffic</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Generate the anomaly</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Save the capture</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Extract flow features</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Export to CSV</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K1 · K2 · A1 — Learn what 'normal' looks like on a network, then let a machine-learning model tell you when traffic stops being normal.</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Baseline Normal Traffic and Detect an Anomaly with AI — Part 1/2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1986076"/>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98607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55648"/>
            <a:ext cx="9692640" cy="826617"/>
          </a:xfrm>
          <a:prstGeom prst="rect">
            <a:avLst/>
          </a:prstGeom>
          <a:noFill/>
        </p:spPr>
        <p:txBody>
          <a:bodyPr wrap="square" anchor="ctr">
            <a:spAutoFit/>
          </a:bodyPr>
          <a:lstStyle/>
          <a:p>
            <a:pPr algn="l">
              <a:spcAft>
                <a:spcPts val="400"/>
              </a:spcAft>
            </a:pPr>
            <a:r>
              <a:rPr sz="1150" b="0">
                <a:solidFill>
                  <a:srgbClr val="161B26"/>
                </a:solidFill>
                <a:latin typeface="Arial"/>
              </a:rPr>
              <a:t>Start a Wireshark capture on the lab interface and leave it running while you browse and use the lab services normally for five minutes. This is your baseline period.</a:t>
            </a:r>
          </a:p>
        </p:txBody>
      </p:sp>
      <p:sp>
        <p:nvSpPr>
          <p:cNvPr id="12" name="Rectangle 11"/>
          <p:cNvSpPr/>
          <p:nvPr/>
        </p:nvSpPr>
        <p:spPr>
          <a:xfrm>
            <a:off x="777240" y="2673705"/>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673705"/>
            <a:ext cx="82296" cy="82661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2904133"/>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290413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728569"/>
            <a:ext cx="9692640" cy="329184"/>
          </a:xfrm>
          <a:prstGeom prst="rect">
            <a:avLst/>
          </a:prstGeom>
          <a:noFill/>
        </p:spPr>
        <p:txBody>
          <a:bodyPr wrap="square" anchor="ctr">
            <a:spAutoFit/>
          </a:bodyPr>
          <a:lstStyle/>
          <a:p>
            <a:pPr algn="l">
              <a:spcAft>
                <a:spcPts val="400"/>
              </a:spcAft>
            </a:pPr>
            <a:r>
              <a:rPr sz="1150" b="1">
                <a:solidFill>
                  <a:srgbClr val="161B26"/>
                </a:solidFill>
                <a:latin typeface="Arial"/>
              </a:rPr>
              <a:t>While the capture runs, generate the anomalous period: run a port scan against a lab host and then copy a large file across the network.</a:t>
            </a:r>
          </a:p>
        </p:txBody>
      </p:sp>
      <p:sp>
        <p:nvSpPr>
          <p:cNvPr id="17" name="Rectangle 16"/>
          <p:cNvSpPr/>
          <p:nvPr/>
        </p:nvSpPr>
        <p:spPr>
          <a:xfrm>
            <a:off x="1481328" y="3094329"/>
            <a:ext cx="9601200" cy="31455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27632" y="3094329"/>
            <a:ext cx="9326880" cy="314553"/>
          </a:xfrm>
          <a:prstGeom prst="rect">
            <a:avLst/>
          </a:prstGeom>
          <a:noFill/>
        </p:spPr>
        <p:txBody>
          <a:bodyPr wrap="square" anchor="ctr">
            <a:spAutoFit/>
          </a:bodyPr>
          <a:lstStyle/>
          <a:p>
            <a:pPr algn="l">
              <a:spcAft>
                <a:spcPts val="400"/>
              </a:spcAft>
            </a:pPr>
            <a:r>
              <a:rPr sz="1050" b="0">
                <a:solidFill>
                  <a:srgbClr val="9CDCFE"/>
                </a:solidFill>
                <a:latin typeface="Arial"/>
              </a:rPr>
              <a:t>$ nmap -sS -p- 192.168.56.101</a:t>
            </a:r>
          </a:p>
        </p:txBody>
      </p:sp>
      <p:sp>
        <p:nvSpPr>
          <p:cNvPr id="19" name="Rectangle 18"/>
          <p:cNvSpPr/>
          <p:nvPr/>
        </p:nvSpPr>
        <p:spPr>
          <a:xfrm>
            <a:off x="777240" y="3591762"/>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591762"/>
            <a:ext cx="82296" cy="82661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3822190"/>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382219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3" name="TextBox 22"/>
          <p:cNvSpPr txBox="1"/>
          <p:nvPr/>
        </p:nvSpPr>
        <p:spPr>
          <a:xfrm>
            <a:off x="1481328" y="3591762"/>
            <a:ext cx="9692640" cy="826617"/>
          </a:xfrm>
          <a:prstGeom prst="rect">
            <a:avLst/>
          </a:prstGeom>
          <a:noFill/>
        </p:spPr>
        <p:txBody>
          <a:bodyPr wrap="square" anchor="ctr">
            <a:spAutoFit/>
          </a:bodyPr>
          <a:lstStyle/>
          <a:p>
            <a:pPr algn="l">
              <a:spcAft>
                <a:spcPts val="400"/>
              </a:spcAft>
            </a:pPr>
            <a:r>
              <a:rPr sz="1150" b="0">
                <a:solidFill>
                  <a:srgbClr val="161B26"/>
                </a:solidFill>
                <a:latin typeface="Arial"/>
              </a:rPr>
              <a:t>Stop the capture and save it as traffic.pcapng.</a:t>
            </a:r>
          </a:p>
        </p:txBody>
      </p:sp>
      <p:sp>
        <p:nvSpPr>
          <p:cNvPr id="24" name="Rectangle 23"/>
          <p:cNvSpPr/>
          <p:nvPr/>
        </p:nvSpPr>
        <p:spPr>
          <a:xfrm>
            <a:off x="777240" y="4509819"/>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4509819"/>
            <a:ext cx="82296" cy="82661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9264" y="4740247"/>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 y="4740247"/>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8" name="TextBox 27"/>
          <p:cNvSpPr txBox="1"/>
          <p:nvPr/>
        </p:nvSpPr>
        <p:spPr>
          <a:xfrm>
            <a:off x="1481328" y="4564683"/>
            <a:ext cx="9692640" cy="329184"/>
          </a:xfrm>
          <a:prstGeom prst="rect">
            <a:avLst/>
          </a:prstGeom>
          <a:noFill/>
        </p:spPr>
        <p:txBody>
          <a:bodyPr wrap="square" anchor="ctr">
            <a:spAutoFit/>
          </a:bodyPr>
          <a:lstStyle/>
          <a:p>
            <a:pPr algn="l">
              <a:spcAft>
                <a:spcPts val="400"/>
              </a:spcAft>
            </a:pPr>
            <a:r>
              <a:rPr sz="1150" b="1">
                <a:solidFill>
                  <a:srgbClr val="161B26"/>
                </a:solidFill>
                <a:latin typeface="Arial"/>
              </a:rPr>
              <a:t>Export per-connection features from the capture with tshark — source, destination, port, packet count, byte count and duration.</a:t>
            </a:r>
          </a:p>
        </p:txBody>
      </p:sp>
      <p:sp>
        <p:nvSpPr>
          <p:cNvPr id="29" name="Rectangle 28"/>
          <p:cNvSpPr/>
          <p:nvPr/>
        </p:nvSpPr>
        <p:spPr>
          <a:xfrm>
            <a:off x="1481328" y="4930443"/>
            <a:ext cx="9601200" cy="31455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627632" y="4930443"/>
            <a:ext cx="9326880" cy="314553"/>
          </a:xfrm>
          <a:prstGeom prst="rect">
            <a:avLst/>
          </a:prstGeom>
          <a:noFill/>
        </p:spPr>
        <p:txBody>
          <a:bodyPr wrap="square" anchor="ctr">
            <a:spAutoFit/>
          </a:bodyPr>
          <a:lstStyle/>
          <a:p>
            <a:pPr algn="l">
              <a:spcAft>
                <a:spcPts val="400"/>
              </a:spcAft>
            </a:pPr>
            <a:r>
              <a:rPr sz="1050" b="0">
                <a:solidFill>
                  <a:srgbClr val="9CDCFE"/>
                </a:solidFill>
                <a:latin typeface="Arial"/>
              </a:rPr>
              <a:t>$ tshark -r traffic.pcapng -q -z conv,tcp &gt; conversations.txt</a:t>
            </a:r>
          </a:p>
        </p:txBody>
      </p:sp>
      <p:sp>
        <p:nvSpPr>
          <p:cNvPr id="31" name="Rectangle 30"/>
          <p:cNvSpPr/>
          <p:nvPr/>
        </p:nvSpPr>
        <p:spPr>
          <a:xfrm>
            <a:off x="777240" y="5427876"/>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427876"/>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69264" y="565830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9264" y="565830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5" name="TextBox 34"/>
          <p:cNvSpPr txBox="1"/>
          <p:nvPr/>
        </p:nvSpPr>
        <p:spPr>
          <a:xfrm>
            <a:off x="1481328" y="5482740"/>
            <a:ext cx="9692640" cy="329184"/>
          </a:xfrm>
          <a:prstGeom prst="rect">
            <a:avLst/>
          </a:prstGeom>
          <a:noFill/>
        </p:spPr>
        <p:txBody>
          <a:bodyPr wrap="square" anchor="ctr">
            <a:spAutoFit/>
          </a:bodyPr>
          <a:lstStyle/>
          <a:p>
            <a:pPr algn="l">
              <a:spcAft>
                <a:spcPts val="400"/>
              </a:spcAft>
            </a:pPr>
            <a:r>
              <a:rPr sz="1150" b="1">
                <a:solidFill>
                  <a:srgbClr val="161B26"/>
                </a:solidFill>
                <a:latin typeface="Arial"/>
              </a:rPr>
              <a:t>Export the same data as CSV for the model to read.</a:t>
            </a:r>
          </a:p>
        </p:txBody>
      </p:sp>
      <p:sp>
        <p:nvSpPr>
          <p:cNvPr id="36" name="Rectangle 35"/>
          <p:cNvSpPr/>
          <p:nvPr/>
        </p:nvSpPr>
        <p:spPr>
          <a:xfrm>
            <a:off x="1481328" y="5848500"/>
            <a:ext cx="9601200" cy="31455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627632" y="5848500"/>
            <a:ext cx="9326880" cy="314553"/>
          </a:xfrm>
          <a:prstGeom prst="rect">
            <a:avLst/>
          </a:prstGeom>
          <a:noFill/>
        </p:spPr>
        <p:txBody>
          <a:bodyPr wrap="square" anchor="ctr">
            <a:spAutoFit/>
          </a:bodyPr>
          <a:lstStyle/>
          <a:p>
            <a:pPr algn="l">
              <a:spcAft>
                <a:spcPts val="400"/>
              </a:spcAft>
            </a:pPr>
            <a:r>
              <a:rPr sz="850" b="0">
                <a:solidFill>
                  <a:srgbClr val="9CDCFE"/>
                </a:solidFill>
                <a:latin typeface="Arial"/>
              </a:rPr>
              <a:t>$ tshark -r traffic.pcapng -T fields -e ip.src -e ip.dst -e tcp.dstport -e frame.len -e frame.time_relative -E header=y -E separator=, &gt; traffic.csv</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fast" advClick="1">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Baseline Normal Traffic and Detect an Anomaly with AI — Part 2/2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1986076"/>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98607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1" name="TextBox 10"/>
          <p:cNvSpPr txBox="1"/>
          <p:nvPr/>
        </p:nvSpPr>
        <p:spPr>
          <a:xfrm>
            <a:off x="1481328" y="1810512"/>
            <a:ext cx="9692640" cy="329184"/>
          </a:xfrm>
          <a:prstGeom prst="rect">
            <a:avLst/>
          </a:prstGeom>
          <a:noFill/>
        </p:spPr>
        <p:txBody>
          <a:bodyPr wrap="square" anchor="ctr">
            <a:spAutoFit/>
          </a:bodyPr>
          <a:lstStyle/>
          <a:p>
            <a:pPr algn="l">
              <a:spcAft>
                <a:spcPts val="400"/>
              </a:spcAft>
            </a:pPr>
            <a:r>
              <a:rPr sz="850" b="1">
                <a:solidFill>
                  <a:srgbClr val="161B26"/>
                </a:solidFill>
                <a:latin typeface="Arial"/>
              </a:rPr>
              <a:t>Load traffic.csv into pandas and aggregate it per (source, destination, port) conversation: packet count, total bytes, mean packet size and duration.</a:t>
            </a:r>
          </a:p>
        </p:txBody>
      </p:sp>
      <p:sp>
        <p:nvSpPr>
          <p:cNvPr id="12" name="Rectangle 11"/>
          <p:cNvSpPr/>
          <p:nvPr/>
        </p:nvSpPr>
        <p:spPr>
          <a:xfrm>
            <a:off x="1481328" y="2176272"/>
            <a:ext cx="9601200" cy="31455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76272"/>
            <a:ext cx="9326880" cy="314553"/>
          </a:xfrm>
          <a:prstGeom prst="rect">
            <a:avLst/>
          </a:prstGeom>
          <a:noFill/>
        </p:spPr>
        <p:txBody>
          <a:bodyPr wrap="square" anchor="ctr">
            <a:spAutoFit/>
          </a:bodyPr>
          <a:lstStyle/>
          <a:p>
            <a:pPr algn="l">
              <a:spcAft>
                <a:spcPts val="400"/>
              </a:spcAft>
            </a:pPr>
            <a:r>
              <a:rPr sz="1050" b="0">
                <a:solidFill>
                  <a:srgbClr val="9CDCFE"/>
                </a:solidFill>
                <a:latin typeface="Arial"/>
              </a:rPr>
              <a:t>$ python3 baseline.py   # provided in labs/lab-02/</a:t>
            </a:r>
          </a:p>
        </p:txBody>
      </p:sp>
      <p:sp>
        <p:nvSpPr>
          <p:cNvPr id="14" name="Rectangle 13"/>
          <p:cNvSpPr/>
          <p:nvPr/>
        </p:nvSpPr>
        <p:spPr>
          <a:xfrm>
            <a:off x="777240" y="2673705"/>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673705"/>
            <a:ext cx="82296" cy="82661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2904133"/>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290413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8" name="TextBox 17"/>
          <p:cNvSpPr txBox="1"/>
          <p:nvPr/>
        </p:nvSpPr>
        <p:spPr>
          <a:xfrm>
            <a:off x="1481328" y="2728569"/>
            <a:ext cx="9692640" cy="329184"/>
          </a:xfrm>
          <a:prstGeom prst="rect">
            <a:avLst/>
          </a:prstGeom>
          <a:noFill/>
        </p:spPr>
        <p:txBody>
          <a:bodyPr wrap="square" anchor="ctr">
            <a:spAutoFit/>
          </a:bodyPr>
          <a:lstStyle/>
          <a:p>
            <a:pPr algn="l">
              <a:spcAft>
                <a:spcPts val="400"/>
              </a:spcAft>
            </a:pPr>
            <a:r>
              <a:rPr sz="850" b="1">
                <a:solidFill>
                  <a:srgbClr val="161B26"/>
                </a:solidFill>
                <a:latin typeface="Arial"/>
              </a:rPr>
              <a:t>Fit an Isolation Forest on the baseline period only, with a contamination rate of 0.02, then score every conversation in the full capture.</a:t>
            </a:r>
          </a:p>
        </p:txBody>
      </p:sp>
      <p:sp>
        <p:nvSpPr>
          <p:cNvPr id="19" name="Rectangle 18"/>
          <p:cNvSpPr/>
          <p:nvPr/>
        </p:nvSpPr>
        <p:spPr>
          <a:xfrm>
            <a:off x="1481328" y="3094329"/>
            <a:ext cx="9601200" cy="31455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094329"/>
            <a:ext cx="9326880" cy="314553"/>
          </a:xfrm>
          <a:prstGeom prst="rect">
            <a:avLst/>
          </a:prstGeom>
          <a:noFill/>
        </p:spPr>
        <p:txBody>
          <a:bodyPr wrap="square" anchor="ctr">
            <a:spAutoFit/>
          </a:bodyPr>
          <a:lstStyle/>
          <a:p>
            <a:pPr algn="l">
              <a:spcAft>
                <a:spcPts val="400"/>
              </a:spcAft>
            </a:pPr>
            <a:r>
              <a:rPr sz="1050" b="0">
                <a:solidFill>
                  <a:srgbClr val="9CDCFE"/>
                </a:solidFill>
                <a:latin typeface="Arial"/>
              </a:rPr>
              <a:t>$ from sklearn.ensemble import IsolationForest</a:t>
            </a:r>
          </a:p>
        </p:txBody>
      </p:sp>
      <p:sp>
        <p:nvSpPr>
          <p:cNvPr id="21" name="Rectangle 20"/>
          <p:cNvSpPr/>
          <p:nvPr/>
        </p:nvSpPr>
        <p:spPr>
          <a:xfrm>
            <a:off x="777240" y="3591762"/>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591762"/>
            <a:ext cx="82296" cy="82661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3822190"/>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382219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25" name="TextBox 24"/>
          <p:cNvSpPr txBox="1"/>
          <p:nvPr/>
        </p:nvSpPr>
        <p:spPr>
          <a:xfrm>
            <a:off x="1481328" y="3646626"/>
            <a:ext cx="9692640" cy="329184"/>
          </a:xfrm>
          <a:prstGeom prst="rect">
            <a:avLst/>
          </a:prstGeom>
          <a:noFill/>
        </p:spPr>
        <p:txBody>
          <a:bodyPr wrap="square" anchor="ctr">
            <a:spAutoFit/>
          </a:bodyPr>
          <a:lstStyle/>
          <a:p>
            <a:pPr algn="l">
              <a:spcAft>
                <a:spcPts val="400"/>
              </a:spcAft>
            </a:pPr>
            <a:r>
              <a:rPr sz="850" b="1">
                <a:solidFill>
                  <a:srgbClr val="161B26"/>
                </a:solidFill>
                <a:latin typeface="Arial"/>
              </a:rPr>
              <a:t>Sort by score ascending and inspect the twenty most anomalous conversations. Open each one in Wireshark using a display filter and decide what it actually was.</a:t>
            </a:r>
          </a:p>
        </p:txBody>
      </p:sp>
      <p:sp>
        <p:nvSpPr>
          <p:cNvPr id="26" name="Rectangle 25"/>
          <p:cNvSpPr/>
          <p:nvPr/>
        </p:nvSpPr>
        <p:spPr>
          <a:xfrm>
            <a:off x="1481328" y="4012386"/>
            <a:ext cx="9601200" cy="31455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012386"/>
            <a:ext cx="9326880" cy="314553"/>
          </a:xfrm>
          <a:prstGeom prst="rect">
            <a:avLst/>
          </a:prstGeom>
          <a:noFill/>
        </p:spPr>
        <p:txBody>
          <a:bodyPr wrap="square" anchor="ctr">
            <a:spAutoFit/>
          </a:bodyPr>
          <a:lstStyle/>
          <a:p>
            <a:pPr algn="l">
              <a:spcAft>
                <a:spcPts val="400"/>
              </a:spcAft>
            </a:pPr>
            <a:r>
              <a:rPr sz="1050" b="0">
                <a:solidFill>
                  <a:srgbClr val="9CDCFE"/>
                </a:solidFill>
                <a:latin typeface="Arial"/>
              </a:rPr>
              <a:t>$ ip.addr == 192.168.56.101 &amp;&amp; tcp.port == 445</a:t>
            </a:r>
          </a:p>
        </p:txBody>
      </p:sp>
      <p:sp>
        <p:nvSpPr>
          <p:cNvPr id="28" name="Rectangle 27"/>
          <p:cNvSpPr/>
          <p:nvPr/>
        </p:nvSpPr>
        <p:spPr>
          <a:xfrm>
            <a:off x="777240" y="4509819"/>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4509819"/>
            <a:ext cx="82296" cy="82661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69264" y="4740247"/>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9264" y="4740247"/>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32" name="TextBox 31"/>
          <p:cNvSpPr txBox="1"/>
          <p:nvPr/>
        </p:nvSpPr>
        <p:spPr>
          <a:xfrm>
            <a:off x="1481328" y="4509819"/>
            <a:ext cx="9692640" cy="826617"/>
          </a:xfrm>
          <a:prstGeom prst="rect">
            <a:avLst/>
          </a:prstGeom>
          <a:noFill/>
        </p:spPr>
        <p:txBody>
          <a:bodyPr wrap="square" anchor="ctr">
            <a:spAutoFit/>
          </a:bodyPr>
          <a:lstStyle/>
          <a:p>
            <a:pPr algn="l">
              <a:spcAft>
                <a:spcPts val="400"/>
              </a:spcAft>
            </a:pPr>
            <a:r>
              <a:rPr sz="850" b="0">
                <a:solidFill>
                  <a:srgbClr val="161B26"/>
                </a:solidFill>
                <a:latin typeface="Arial"/>
              </a:rPr>
              <a:t>Mark each of the twenty as a true positive or a false positive, and write one sentence saying what evidence decided it.</a:t>
            </a:r>
          </a:p>
        </p:txBody>
      </p:sp>
      <p:sp>
        <p:nvSpPr>
          <p:cNvPr id="33" name="Rectangle 32"/>
          <p:cNvSpPr/>
          <p:nvPr/>
        </p:nvSpPr>
        <p:spPr>
          <a:xfrm>
            <a:off x="777240" y="5427876"/>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77240" y="5427876"/>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969264" y="565830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69264" y="565830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37" name="TextBox 36"/>
          <p:cNvSpPr txBox="1"/>
          <p:nvPr/>
        </p:nvSpPr>
        <p:spPr>
          <a:xfrm>
            <a:off x="1481328" y="5482740"/>
            <a:ext cx="9692640" cy="329184"/>
          </a:xfrm>
          <a:prstGeom prst="rect">
            <a:avLst/>
          </a:prstGeom>
          <a:noFill/>
        </p:spPr>
        <p:txBody>
          <a:bodyPr wrap="square" anchor="ctr">
            <a:spAutoFit/>
          </a:bodyPr>
          <a:lstStyle/>
          <a:p>
            <a:pPr algn="l">
              <a:spcAft>
                <a:spcPts val="400"/>
              </a:spcAft>
            </a:pPr>
            <a:r>
              <a:rPr sz="850" b="1">
                <a:solidFill>
                  <a:srgbClr val="161B26"/>
                </a:solidFill>
                <a:latin typeface="Arial"/>
              </a:rPr>
              <a:t>Ask your AI assistant to explain the anomalies and suggest which features would separate the scan from the file copy more cleanly. Test one of its suggestions and record whether it improved the result.</a:t>
            </a:r>
          </a:p>
        </p:txBody>
      </p:sp>
      <p:sp>
        <p:nvSpPr>
          <p:cNvPr id="38" name="Rectangle 37"/>
          <p:cNvSpPr/>
          <p:nvPr/>
        </p:nvSpPr>
        <p:spPr>
          <a:xfrm>
            <a:off x="1481328" y="5848500"/>
            <a:ext cx="9601200" cy="31455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627632" y="5848500"/>
            <a:ext cx="9326880" cy="314553"/>
          </a:xfrm>
          <a:prstGeom prst="rect">
            <a:avLst/>
          </a:prstGeom>
          <a:noFill/>
        </p:spPr>
        <p:txBody>
          <a:bodyPr wrap="square" anchor="ctr">
            <a:spAutoFit/>
          </a:bodyPr>
          <a:lstStyle/>
          <a:p>
            <a:pPr algn="l">
              <a:spcAft>
                <a:spcPts val="400"/>
              </a:spcAft>
            </a:pPr>
            <a:r>
              <a:rPr sz="850" b="0">
                <a:solidFill>
                  <a:srgbClr val="9CDCFE"/>
                </a:solidFill>
                <a:latin typeface="Arial"/>
              </a:rPr>
              <a:t>$ Prompt: 'These network conversations were scored as anomalous by an Isolation Forest. Given packet count, byte count and duration, explain what behaviour each likely represents and suggest one additional feature that would separate port scanning from a legitimate large file transfer.'</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fast" advClick="1">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Baseline Normal Traffic and Detect an Anomaly with 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port scan appears in your top-ranked anomalies — it shows as many short connections from one source to many destination ports. You can name at least one false positive and explain why the model flagged legitimate traffic, and you can state your model's precision on the twenty you reviewed.</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tshark is not found</a:t>
            </a:r>
          </a:p>
        </p:txBody>
      </p:sp>
      <p:sp>
        <p:nvSpPr>
          <p:cNvPr id="15" name="TextBox 14"/>
          <p:cNvSpPr txBox="1"/>
          <p:nvPr/>
        </p:nvSpPr>
        <p:spPr>
          <a:xfrm>
            <a:off x="996696"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it ships with Wireshark; on macOS add /Applications/Wireshark.app/Contents/MacOS to PATH.</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The capture is empty</a:t>
            </a:r>
          </a:p>
        </p:txBody>
      </p:sp>
      <p:sp>
        <p:nvSpPr>
          <p:cNvPr id="19" name="TextBox 18"/>
          <p:cNvSpPr txBox="1"/>
          <p:nvPr/>
        </p:nvSpPr>
        <p:spPr>
          <a:xfrm>
            <a:off x="4617720"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you may be capturing on the wrong interface; list them with `tshark -D`.</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Everything scores as anomalous</a:t>
            </a:r>
          </a:p>
        </p:txBody>
      </p:sp>
      <p:sp>
        <p:nvSpPr>
          <p:cNvPr id="23" name="TextBox 22"/>
          <p:cNvSpPr txBox="1"/>
          <p:nvPr/>
        </p:nvSpPr>
        <p:spPr>
          <a:xfrm>
            <a:off x="8238744"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your baseline period contained the attack traffic; re-cut the baseline to the quiet window only.</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fast" advClick="1">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AI-Assisted Vulnerability Analysis and Prioritisation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3</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K2 · A1 · A2 — Turn a raw vulnerability list into a ranked, defensible worklist by combining CVSS severity with exploitability and business context.</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A scanner will hand you hundreds of findings and no opinion about which one to fix on Monday morning. In this lab you take the service inventory from Lab 1, look up the real CVEs affecting those service versions, and then build a prioritisation that a manager would actually accept: CVSS base score combined with known-exploited status and the business criticality of the affected asset. You use an AI assistant to accelerate the research and then verify every claim it makes against the authoritative source.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prioritised vulnerability worklist: CVE, affected asset, CVSS score, known-exploited flag, asset criticality, computed priority and a one-line recommended fix — ranked, with the top five justified.</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Nmap service inventory, NVD, CISA KEV catalogue, a spreadsheet, a generative AI assistant</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worklist ranks every finding by a computed priority, not by CVSS alone; a KEV-listed CVE on a high-criticality asset sits above a higher-CVSS finding on a low-criticality one. You can point to at least one AI-supplied detail you corrected against the NVD.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fast" advClick="1">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3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Select key services</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Look up CVEs</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Check the KEV list</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Rate asset criticality</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Compute priority score</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K2 · A1 · A2 — Turn a raw vulnerability list into a ranked, defensible worklist by combining CVSS severity with exploitability and business context.</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AI-Assisted Vulnerability Analysis and Prioritisation — Part 1/2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1986076"/>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98607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55648"/>
            <a:ext cx="9692640" cy="826617"/>
          </a:xfrm>
          <a:prstGeom prst="rect">
            <a:avLst/>
          </a:prstGeom>
          <a:noFill/>
        </p:spPr>
        <p:txBody>
          <a:bodyPr wrap="square" anchor="ctr">
            <a:spAutoFit/>
          </a:bodyPr>
          <a:lstStyle/>
          <a:p>
            <a:pPr algn="l">
              <a:spcAft>
                <a:spcPts val="400"/>
              </a:spcAft>
            </a:pPr>
            <a:r>
              <a:rPr sz="850" b="0">
                <a:solidFill>
                  <a:srgbClr val="161B26"/>
                </a:solidFill>
                <a:latin typeface="Arial"/>
              </a:rPr>
              <a:t>Take the service-version list from Lab 1. Pick the six most significant services — anything internet-facing, anything running as an administrator, anything holding data.</a:t>
            </a:r>
          </a:p>
        </p:txBody>
      </p:sp>
      <p:sp>
        <p:nvSpPr>
          <p:cNvPr id="12" name="Rectangle 11"/>
          <p:cNvSpPr/>
          <p:nvPr/>
        </p:nvSpPr>
        <p:spPr>
          <a:xfrm>
            <a:off x="777240" y="2673705"/>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673705"/>
            <a:ext cx="82296" cy="82661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2904133"/>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290413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728569"/>
            <a:ext cx="9692640" cy="329184"/>
          </a:xfrm>
          <a:prstGeom prst="rect">
            <a:avLst/>
          </a:prstGeom>
          <a:noFill/>
        </p:spPr>
        <p:txBody>
          <a:bodyPr wrap="square" anchor="ctr">
            <a:spAutoFit/>
          </a:bodyPr>
          <a:lstStyle/>
          <a:p>
            <a:pPr algn="l">
              <a:spcAft>
                <a:spcPts val="400"/>
              </a:spcAft>
            </a:pPr>
            <a:r>
              <a:rPr sz="850" b="1">
                <a:solidFill>
                  <a:srgbClr val="161B26"/>
                </a:solidFill>
                <a:latin typeface="Arial"/>
              </a:rPr>
              <a:t>For each service version, search the NIST National Vulnerability Database for matching CVEs and record the CVE ID and CVSS v3 base score.</a:t>
            </a:r>
          </a:p>
        </p:txBody>
      </p:sp>
      <p:sp>
        <p:nvSpPr>
          <p:cNvPr id="17" name="Rectangle 16"/>
          <p:cNvSpPr/>
          <p:nvPr/>
        </p:nvSpPr>
        <p:spPr>
          <a:xfrm>
            <a:off x="1481328" y="3094329"/>
            <a:ext cx="9601200" cy="31455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27632" y="3094329"/>
            <a:ext cx="9326880" cy="314553"/>
          </a:xfrm>
          <a:prstGeom prst="rect">
            <a:avLst/>
          </a:prstGeom>
          <a:noFill/>
        </p:spPr>
        <p:txBody>
          <a:bodyPr wrap="square" anchor="ctr">
            <a:spAutoFit/>
          </a:bodyPr>
          <a:lstStyle/>
          <a:p>
            <a:pPr algn="l">
              <a:spcAft>
                <a:spcPts val="400"/>
              </a:spcAft>
            </a:pPr>
            <a:r>
              <a:rPr sz="1050" b="0">
                <a:solidFill>
                  <a:srgbClr val="9CDCFE"/>
                </a:solidFill>
                <a:latin typeface="Arial"/>
              </a:rPr>
              <a:t>$ https://nvd.nist.gov/vuln/search</a:t>
            </a:r>
          </a:p>
        </p:txBody>
      </p:sp>
      <p:sp>
        <p:nvSpPr>
          <p:cNvPr id="19" name="Rectangle 18"/>
          <p:cNvSpPr/>
          <p:nvPr/>
        </p:nvSpPr>
        <p:spPr>
          <a:xfrm>
            <a:off x="777240" y="3591762"/>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591762"/>
            <a:ext cx="82296" cy="82661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3822190"/>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382219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3" name="TextBox 22"/>
          <p:cNvSpPr txBox="1"/>
          <p:nvPr/>
        </p:nvSpPr>
        <p:spPr>
          <a:xfrm>
            <a:off x="1481328" y="3646626"/>
            <a:ext cx="9692640" cy="329184"/>
          </a:xfrm>
          <a:prstGeom prst="rect">
            <a:avLst/>
          </a:prstGeom>
          <a:noFill/>
        </p:spPr>
        <p:txBody>
          <a:bodyPr wrap="square" anchor="ctr">
            <a:spAutoFit/>
          </a:bodyPr>
          <a:lstStyle/>
          <a:p>
            <a:pPr algn="l">
              <a:spcAft>
                <a:spcPts val="400"/>
              </a:spcAft>
            </a:pPr>
            <a:r>
              <a:rPr sz="850" b="1">
                <a:solidFill>
                  <a:srgbClr val="161B26"/>
                </a:solidFill>
                <a:latin typeface="Arial"/>
              </a:rPr>
              <a:t>Check each CVE against the CISA Known Exploited Vulnerabilities catalogue. A CVE on the KEV list is being exploited in the wild right now and outranks a higher CVSS score that is not.</a:t>
            </a:r>
          </a:p>
        </p:txBody>
      </p:sp>
      <p:sp>
        <p:nvSpPr>
          <p:cNvPr id="24" name="Rectangle 23"/>
          <p:cNvSpPr/>
          <p:nvPr/>
        </p:nvSpPr>
        <p:spPr>
          <a:xfrm>
            <a:off x="1481328" y="4012386"/>
            <a:ext cx="9601200" cy="31455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627632" y="4012386"/>
            <a:ext cx="9326880" cy="314553"/>
          </a:xfrm>
          <a:prstGeom prst="rect">
            <a:avLst/>
          </a:prstGeom>
          <a:noFill/>
        </p:spPr>
        <p:txBody>
          <a:bodyPr wrap="square" anchor="ctr">
            <a:spAutoFit/>
          </a:bodyPr>
          <a:lstStyle/>
          <a:p>
            <a:pPr algn="l">
              <a:spcAft>
                <a:spcPts val="400"/>
              </a:spcAft>
            </a:pPr>
            <a:r>
              <a:rPr sz="1050" b="0">
                <a:solidFill>
                  <a:srgbClr val="9CDCFE"/>
                </a:solidFill>
                <a:latin typeface="Arial"/>
              </a:rPr>
              <a:t>$ https://www.cisa.gov/known-exploited-vulnerabilities-catalog</a:t>
            </a:r>
          </a:p>
        </p:txBody>
      </p:sp>
      <p:sp>
        <p:nvSpPr>
          <p:cNvPr id="26" name="Rectangle 25"/>
          <p:cNvSpPr/>
          <p:nvPr/>
        </p:nvSpPr>
        <p:spPr>
          <a:xfrm>
            <a:off x="777240" y="4509819"/>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509819"/>
            <a:ext cx="82296" cy="82661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69264" y="4740247"/>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9264" y="4740247"/>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30" name="TextBox 29"/>
          <p:cNvSpPr txBox="1"/>
          <p:nvPr/>
        </p:nvSpPr>
        <p:spPr>
          <a:xfrm>
            <a:off x="1481328" y="4509819"/>
            <a:ext cx="9692640" cy="826617"/>
          </a:xfrm>
          <a:prstGeom prst="rect">
            <a:avLst/>
          </a:prstGeom>
          <a:noFill/>
        </p:spPr>
        <p:txBody>
          <a:bodyPr wrap="square" anchor="ctr">
            <a:spAutoFit/>
          </a:bodyPr>
          <a:lstStyle/>
          <a:p>
            <a:pPr algn="l">
              <a:spcAft>
                <a:spcPts val="400"/>
              </a:spcAft>
            </a:pPr>
            <a:r>
              <a:rPr sz="850" b="0">
                <a:solidFill>
                  <a:srgbClr val="161B26"/>
                </a:solidFill>
                <a:latin typeface="Arial"/>
              </a:rPr>
              <a:t>Assign each affected asset a business criticality of High, Medium or Low, based on what a loss of confidentiality, integrity or availability would cost. Write the justification in the row.</a:t>
            </a:r>
          </a:p>
        </p:txBody>
      </p:sp>
      <p:sp>
        <p:nvSpPr>
          <p:cNvPr id="31" name="Rectangle 30"/>
          <p:cNvSpPr/>
          <p:nvPr/>
        </p:nvSpPr>
        <p:spPr>
          <a:xfrm>
            <a:off x="777240" y="5427876"/>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427876"/>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69264" y="565830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9264" y="565830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5" name="TextBox 34"/>
          <p:cNvSpPr txBox="1"/>
          <p:nvPr/>
        </p:nvSpPr>
        <p:spPr>
          <a:xfrm>
            <a:off x="1481328" y="5482740"/>
            <a:ext cx="9692640" cy="329184"/>
          </a:xfrm>
          <a:prstGeom prst="rect">
            <a:avLst/>
          </a:prstGeom>
          <a:noFill/>
        </p:spPr>
        <p:txBody>
          <a:bodyPr wrap="square" anchor="ctr">
            <a:spAutoFit/>
          </a:bodyPr>
          <a:lstStyle/>
          <a:p>
            <a:pPr algn="l">
              <a:spcAft>
                <a:spcPts val="400"/>
              </a:spcAft>
            </a:pPr>
            <a:r>
              <a:rPr sz="850" b="1">
                <a:solidFill>
                  <a:srgbClr val="161B26"/>
                </a:solidFill>
                <a:latin typeface="Arial"/>
              </a:rPr>
              <a:t>Compute a priority score for every finding so the ranking is reproducible rather than a matter of taste.</a:t>
            </a:r>
          </a:p>
        </p:txBody>
      </p:sp>
      <p:sp>
        <p:nvSpPr>
          <p:cNvPr id="36" name="Rectangle 35"/>
          <p:cNvSpPr/>
          <p:nvPr/>
        </p:nvSpPr>
        <p:spPr>
          <a:xfrm>
            <a:off x="1481328" y="5848500"/>
            <a:ext cx="9601200" cy="31455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627632" y="5848500"/>
            <a:ext cx="9326880" cy="314553"/>
          </a:xfrm>
          <a:prstGeom prst="rect">
            <a:avLst/>
          </a:prstGeom>
          <a:noFill/>
        </p:spPr>
        <p:txBody>
          <a:bodyPr wrap="square" anchor="ctr">
            <a:spAutoFit/>
          </a:bodyPr>
          <a:lstStyle/>
          <a:p>
            <a:pPr algn="l">
              <a:spcAft>
                <a:spcPts val="400"/>
              </a:spcAft>
            </a:pPr>
            <a:r>
              <a:rPr sz="1050" b="0">
                <a:solidFill>
                  <a:srgbClr val="9CDCFE"/>
                </a:solidFill>
                <a:latin typeface="Arial"/>
              </a:rPr>
              <a:t>$ Priority = CVSS x Criticality weight x KEV multiplier</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fast" advClick="1">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AI-Assisted Vulnerability Analysis and Prioritisation — Part 2/2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1" name="TextBox 10"/>
          <p:cNvSpPr txBox="1"/>
          <p:nvPr/>
        </p:nvSpPr>
        <p:spPr>
          <a:xfrm>
            <a:off x="1481328" y="1755648"/>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Sort by priority and inspect the top ten. Check that the order matches your professional judgement — if it does not, your weights are wrong, so fix the weights rather than the ranking.</a:t>
            </a:r>
          </a:p>
        </p:txBody>
      </p:sp>
      <p:sp>
        <p:nvSpPr>
          <p:cNvPr id="12" name="Rectangle 11"/>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6" name="TextBox 15"/>
          <p:cNvSpPr txBox="1"/>
          <p:nvPr/>
        </p:nvSpPr>
        <p:spPr>
          <a:xfrm>
            <a:off x="1481328" y="2926080"/>
            <a:ext cx="9692640" cy="329184"/>
          </a:xfrm>
          <a:prstGeom prst="rect">
            <a:avLst/>
          </a:prstGeom>
          <a:noFill/>
        </p:spPr>
        <p:txBody>
          <a:bodyPr wrap="square" anchor="ctr">
            <a:spAutoFit/>
          </a:bodyPr>
          <a:lstStyle/>
          <a:p>
            <a:pPr algn="l">
              <a:spcAft>
                <a:spcPts val="400"/>
              </a:spcAft>
            </a:pPr>
            <a:r>
              <a:rPr sz="1250" b="1">
                <a:solidFill>
                  <a:srgbClr val="161B26"/>
                </a:solidFill>
                <a:latin typeface="Arial"/>
              </a:rPr>
              <a:t>Ask your AI assistant to summarise each of your top five CVEs and propose a remediation for each.</a:t>
            </a:r>
          </a:p>
        </p:txBody>
      </p:sp>
      <p:sp>
        <p:nvSpPr>
          <p:cNvPr id="17" name="Rectangle 16"/>
          <p:cNvSpPr/>
          <p:nvPr/>
        </p:nvSpPr>
        <p:spPr>
          <a:xfrm>
            <a:off x="1481328" y="3291840"/>
            <a:ext cx="9601200" cy="5120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27632" y="3291840"/>
            <a:ext cx="9326880" cy="512064"/>
          </a:xfrm>
          <a:prstGeom prst="rect">
            <a:avLst/>
          </a:prstGeom>
          <a:noFill/>
        </p:spPr>
        <p:txBody>
          <a:bodyPr wrap="square" anchor="ctr">
            <a:spAutoFit/>
          </a:bodyPr>
          <a:lstStyle/>
          <a:p>
            <a:pPr algn="l">
              <a:spcAft>
                <a:spcPts val="400"/>
              </a:spcAft>
            </a:pPr>
            <a:r>
              <a:rPr sz="850" b="0">
                <a:solidFill>
                  <a:srgbClr val="9CDCFE"/>
                </a:solidFill>
                <a:latin typeface="Arial"/>
              </a:rPr>
              <a:t>$ Prompt: 'For each of these CVEs, give the vulnerability class, the attack prerequisite, the practical impact, and the recommended remediation. State the CVSS v3 base score. Flag any CVE you are not certain about.'</a:t>
            </a:r>
          </a:p>
        </p:txBody>
      </p:sp>
      <p:sp>
        <p:nvSpPr>
          <p:cNvPr id="19" name="Rectangle 18"/>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23" name="TextBox 22"/>
          <p:cNvSpPr txBox="1"/>
          <p:nvPr/>
        </p:nvSpPr>
        <p:spPr>
          <a:xfrm>
            <a:off x="1481328" y="3986784"/>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Verify every AI-supplied CVSS score and remediation against the NVD entry. Correct anything wrong and note where the AI was inaccurate — this is the evidence that you validated the model rather than trusted it.</a:t>
            </a:r>
          </a:p>
        </p:txBody>
      </p:sp>
      <p:sp>
        <p:nvSpPr>
          <p:cNvPr id="24" name="Rectangle 23"/>
          <p:cNvSpPr/>
          <p:nvPr/>
        </p:nvSpPr>
        <p:spPr>
          <a:xfrm>
            <a:off x="777240" y="5102352"/>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5102352"/>
            <a:ext cx="82296" cy="10241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9264" y="5431536"/>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 y="543153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28" name="TextBox 27"/>
          <p:cNvSpPr txBox="1"/>
          <p:nvPr/>
        </p:nvSpPr>
        <p:spPr>
          <a:xfrm>
            <a:off x="1481328" y="5102352"/>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Write the two-sentence justification for your number-one priority: what could happen, and why it outranks everything else on the list.</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fast" advClick="1">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AI-Assisted Vulnerability Analysis and Prioritisation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worklist ranks every finding by a computed priority, not by CVSS alone; a KEV-listed CVE on a high-criticality asset sits above a higher-CVSS finding on a low-criticality one. You can point to at least one AI-supplied detail you corrected against the NVD.</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NVD returns no CVE for a version string</a:t>
            </a:r>
          </a:p>
        </p:txBody>
      </p:sp>
      <p:sp>
        <p:nvSpPr>
          <p:cNvPr id="15" name="TextBox 14"/>
          <p:cNvSpPr txBox="1"/>
          <p:nvPr/>
        </p:nvSpPr>
        <p:spPr>
          <a:xfrm>
            <a:off x="996696"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search the product name and major version rather than the full banner.</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Every finding scores the same</a:t>
            </a:r>
          </a:p>
        </p:txBody>
      </p:sp>
      <p:sp>
        <p:nvSpPr>
          <p:cNvPr id="19" name="TextBox 18"/>
          <p:cNvSpPr txBox="1"/>
          <p:nvPr/>
        </p:nvSpPr>
        <p:spPr>
          <a:xfrm>
            <a:off x="4617720"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your criticality ratings are all identical; force a spread by ranking assets against each other.</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The AI invents a CVE ID</a:t>
            </a:r>
          </a:p>
        </p:txBody>
      </p:sp>
      <p:sp>
        <p:nvSpPr>
          <p:cNvPr id="23" name="TextBox 22"/>
          <p:cNvSpPr txBox="1"/>
          <p:nvPr/>
        </p:nvSpPr>
        <p:spPr>
          <a:xfrm>
            <a:off x="8238744"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this is exactly why step 8 exists; a CVE that is not in the NVD does not exist.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fast" advClick="1">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Topic 01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Lab 1 — Map the ICT Network and Analyse Its Configuration</a:t>
            </a:r>
          </a:p>
          <a:p>
            <a:pPr algn="l">
              <a:spcAft>
                <a:spcPts val="300"/>
              </a:spcAft>
            </a:pPr>
            <a:r>
              <a:rPr sz="1200" b="0">
                <a:solidFill>
                  <a:srgbClr val="5B6372"/>
                </a:solidFill>
                <a:latin typeface="Arial"/>
              </a:rPr>
              <a:t>Establish what the network actually is before judging whether it is safe: discover live hosts, open ports and services, and read the configuration for weaknesses.</a:t>
            </a:r>
          </a:p>
        </p:txBody>
      </p:sp>
      <p:sp>
        <p:nvSpPr>
          <p:cNvPr id="12" name="Rectangle 11"/>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447288"/>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Lab 2 — Baseline Normal Traffic and Detect an Anomaly with AI</a:t>
            </a:r>
          </a:p>
          <a:p>
            <a:pPr algn="l">
              <a:spcAft>
                <a:spcPts val="300"/>
              </a:spcAft>
            </a:pPr>
            <a:r>
              <a:rPr sz="1200" b="0">
                <a:solidFill>
                  <a:srgbClr val="5B6372"/>
                </a:solidFill>
                <a:latin typeface="Arial"/>
              </a:rPr>
              <a:t>Learn what 'normal' looks like on a network, then let a machine-learning model tell you when traffic stops being normal.</a:t>
            </a:r>
          </a:p>
        </p:txBody>
      </p:sp>
      <p:sp>
        <p:nvSpPr>
          <p:cNvPr id="17" name="Rectangle 16"/>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983480"/>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Lab 3 — AI-Assisted Vulnerability Analysis and Prioritisation</a:t>
            </a:r>
          </a:p>
          <a:p>
            <a:pPr algn="l">
              <a:spcAft>
                <a:spcPts val="300"/>
              </a:spcAft>
            </a:pPr>
            <a:r>
              <a:rPr sz="1200" b="0">
                <a:solidFill>
                  <a:srgbClr val="5B6372"/>
                </a:solidFill>
                <a:latin typeface="Arial"/>
              </a:rPr>
              <a:t>Turn a raw vulnerability list into a ranked, defensible worklist by combining CVSS severity with exploitability and business context.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fast" advClick="1">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AI-Powered Network Risk Assessment and Management Planning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Asset discovery &amp; classification · CIA impact · AI risk scoring · risk registers · treatment plans · NIST CSF &amp; AI RMF</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med" advClick="1">
    <p:push dir="l"/>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02 · ROADMAP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Topic 02 — What It Covers and How It Is Assessed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Learning outcome</a:t>
            </a:r>
          </a:p>
          <a:p>
            <a:pPr algn="l">
              <a:spcAft>
                <a:spcPts val="300"/>
              </a:spcAft>
            </a:pPr>
            <a:r>
              <a:rPr sz="1100" b="0">
                <a:solidFill>
                  <a:srgbClr val="5B6372"/>
                </a:solidFill>
                <a:latin typeface="Arial"/>
              </a:rPr>
              <a:t>LO2 — Evaluate organisational assets and develop risk management plans to address network infrastructure weaknesses effectively.</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Knowledge assessed (WA-SAQ)</a:t>
            </a:r>
          </a:p>
          <a:p>
            <a:pPr algn="l">
              <a:spcAft>
                <a:spcPts val="300"/>
              </a:spcAft>
            </a:pPr>
            <a:r>
              <a:rPr sz="1100" b="0">
                <a:solidFill>
                  <a:srgbClr val="5B6372"/>
                </a:solidFill>
                <a:latin typeface="Arial"/>
              </a:rPr>
              <a:t>K2: Types of network attacks, vulnerabilities and related weaknesses of installed infrastructure</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Abilities assessed (Case Study)</a:t>
            </a:r>
          </a:p>
          <a:p>
            <a:pPr algn="l">
              <a:spcAft>
                <a:spcPts val="300"/>
              </a:spcAft>
            </a:pPr>
            <a:r>
              <a:rPr sz="1100" b="0">
                <a:solidFill>
                  <a:srgbClr val="5B6372"/>
                </a:solidFill>
                <a:latin typeface="Arial"/>
              </a:rPr>
              <a:t>A3: Determine organisational assets that require protection · A4: Create risk management plans to mitigate risks</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Hands-on labs</a:t>
            </a:r>
          </a:p>
          <a:p>
            <a:pPr algn="l">
              <a:spcAft>
                <a:spcPts val="300"/>
              </a:spcAft>
            </a:pPr>
            <a:r>
              <a:rPr sz="1100" b="0">
                <a:solidFill>
                  <a:srgbClr val="5B6372"/>
                </a:solidFill>
                <a:latin typeface="Arial"/>
              </a:rPr>
              <a:t>Labs 4, 5, 6 — 25% of course time.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fast" advClick="1">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Topic 02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You cannot protect what you have not inventoried — AI-driven asset discovery continuously fingerprints every identity, device and workload rather than relying on a stale spreadsheet.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Asset criticality is a business judgement expressed against the CIA triad: what does a loss of confidentiality, integrity or availability actually cost this organisation?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Risk = Likelihood x Impact. AI improves the likelihood term with exploit-prediction models and threat-intelligence correlation, and improves the impact term with real dependency mapping.</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fast" advClick="1">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Topic 02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A risk register is the working artefact of risk management: asset, threat, vulnerability, existing control, inherent risk, treatment, owner, target date and residual risk.</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The four treatment options are mitigate, transfer, avoid and accept — every entry on the register must land on one of them, with a named owner.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The NIST Cybersecurity Framework (Govern, Identify, Protect, Detect, Respond, Recover) and the NIST AI Risk Management Framework (Govern, Map, Measure, Manage) give the planning scaffold.</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fast" advClick="1">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LO2 · THE RISK MANAGEMENT CYCLE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From Asset to Treated Risk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Inventory</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Discover and classify every asset</a:t>
            </a:r>
          </a:p>
        </p:txBody>
      </p:sp>
      <p:cxnSp>
        <p:nvCxnSpPr>
          <p:cNvPr id="13" name="Connector 12"/>
          <p:cNvCxnSpPr/>
          <p:nvPr/>
        </p:nvCxnSpPr>
        <p:spPr>
          <a:xfrm>
            <a:off x="2651760"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Value</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Rate C, I and A business impact</a:t>
            </a:r>
          </a:p>
        </p:txBody>
      </p:sp>
      <p:cxnSp>
        <p:nvCxnSpPr>
          <p:cNvPr id="20" name="Connector 19"/>
          <p:cNvCxnSpPr/>
          <p:nvPr/>
        </p:nvCxnSpPr>
        <p:spPr>
          <a:xfrm>
            <a:off x="4855464"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Assess</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Score likelihood x impact</a:t>
            </a:r>
          </a:p>
        </p:txBody>
      </p:sp>
      <p:cxnSp>
        <p:nvCxnSpPr>
          <p:cNvPr id="27" name="Connector 26"/>
          <p:cNvCxnSpPr/>
          <p:nvPr/>
        </p:nvCxnSpPr>
        <p:spPr>
          <a:xfrm>
            <a:off x="7059168"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Treat</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Mitigate, transfer, avoid or accept</a:t>
            </a:r>
          </a:p>
        </p:txBody>
      </p:sp>
      <p:cxnSp>
        <p:nvCxnSpPr>
          <p:cNvPr id="34" name="Connector 33"/>
          <p:cNvCxnSpPr/>
          <p:nvPr/>
        </p:nvCxnSpPr>
        <p:spPr>
          <a:xfrm>
            <a:off x="9262872"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Monitor</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Review on a defined cadence</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7C3AED"/>
                </a:solidFill>
                <a:latin typeface="Arial"/>
              </a:rPr>
              <a:t>THE DISCIPLINE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Every step produces a named artefact — asset register, impact rating, risk register, treatment plan, review schedule. If a step has no artefact, it did not happen.</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LO2 · A2 · SCORING CONSISTENTLY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5x5 Risk Matrix — Reading the Score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Impact ↓ / Likelihood →</a:t>
            </a:r>
          </a:p>
        </p:txBody>
      </p:sp>
      <p:sp>
        <p:nvSpPr>
          <p:cNvPr id="9" name="Rectangle 8"/>
          <p:cNvSpPr/>
          <p:nvPr/>
        </p:nvSpPr>
        <p:spPr>
          <a:xfrm>
            <a:off x="3542202" y="1783080"/>
            <a:ext cx="157390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1317870" cy="475488"/>
          </a:xfrm>
          <a:prstGeom prst="rect">
            <a:avLst/>
          </a:prstGeom>
          <a:noFill/>
        </p:spPr>
        <p:txBody>
          <a:bodyPr wrap="square" anchor="ctr">
            <a:spAutoFit/>
          </a:bodyPr>
          <a:lstStyle/>
          <a:p>
            <a:pPr algn="l">
              <a:spcAft>
                <a:spcPts val="400"/>
              </a:spcAft>
            </a:pPr>
            <a:r>
              <a:rPr sz="1300" b="1">
                <a:solidFill>
                  <a:srgbClr val="FFFFFF"/>
                </a:solidFill>
                <a:latin typeface="Arial"/>
              </a:rPr>
              <a:t>1 Rare</a:t>
            </a:r>
          </a:p>
        </p:txBody>
      </p:sp>
      <p:sp>
        <p:nvSpPr>
          <p:cNvPr id="11" name="Rectangle 10"/>
          <p:cNvSpPr/>
          <p:nvPr/>
        </p:nvSpPr>
        <p:spPr>
          <a:xfrm>
            <a:off x="5116104" y="1783080"/>
            <a:ext cx="157390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44120" y="1783080"/>
            <a:ext cx="1317870" cy="475488"/>
          </a:xfrm>
          <a:prstGeom prst="rect">
            <a:avLst/>
          </a:prstGeom>
          <a:noFill/>
        </p:spPr>
        <p:txBody>
          <a:bodyPr wrap="square" anchor="ctr">
            <a:spAutoFit/>
          </a:bodyPr>
          <a:lstStyle/>
          <a:p>
            <a:pPr algn="l">
              <a:spcAft>
                <a:spcPts val="400"/>
              </a:spcAft>
            </a:pPr>
            <a:r>
              <a:rPr sz="1300" b="1">
                <a:solidFill>
                  <a:srgbClr val="FFFFFF"/>
                </a:solidFill>
                <a:latin typeface="Arial"/>
              </a:rPr>
              <a:t>2 Unlikely</a:t>
            </a:r>
          </a:p>
        </p:txBody>
      </p:sp>
      <p:sp>
        <p:nvSpPr>
          <p:cNvPr id="13" name="Rectangle 12"/>
          <p:cNvSpPr/>
          <p:nvPr/>
        </p:nvSpPr>
        <p:spPr>
          <a:xfrm>
            <a:off x="6690006" y="1783080"/>
            <a:ext cx="157390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18022" y="1783080"/>
            <a:ext cx="1317870" cy="475488"/>
          </a:xfrm>
          <a:prstGeom prst="rect">
            <a:avLst/>
          </a:prstGeom>
          <a:noFill/>
        </p:spPr>
        <p:txBody>
          <a:bodyPr wrap="square" anchor="ctr">
            <a:spAutoFit/>
          </a:bodyPr>
          <a:lstStyle/>
          <a:p>
            <a:pPr algn="l">
              <a:spcAft>
                <a:spcPts val="400"/>
              </a:spcAft>
            </a:pPr>
            <a:r>
              <a:rPr sz="1300" b="1">
                <a:solidFill>
                  <a:srgbClr val="FFFFFF"/>
                </a:solidFill>
                <a:latin typeface="Arial"/>
              </a:rPr>
              <a:t>3 Possible</a:t>
            </a:r>
          </a:p>
        </p:txBody>
      </p:sp>
      <p:sp>
        <p:nvSpPr>
          <p:cNvPr id="15" name="Rectangle 14"/>
          <p:cNvSpPr/>
          <p:nvPr/>
        </p:nvSpPr>
        <p:spPr>
          <a:xfrm>
            <a:off x="8263908" y="1783080"/>
            <a:ext cx="1573902"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91924" y="1783080"/>
            <a:ext cx="1317870" cy="475488"/>
          </a:xfrm>
          <a:prstGeom prst="rect">
            <a:avLst/>
          </a:prstGeom>
          <a:noFill/>
        </p:spPr>
        <p:txBody>
          <a:bodyPr wrap="square" anchor="ctr">
            <a:spAutoFit/>
          </a:bodyPr>
          <a:lstStyle/>
          <a:p>
            <a:pPr algn="l">
              <a:spcAft>
                <a:spcPts val="400"/>
              </a:spcAft>
            </a:pPr>
            <a:r>
              <a:rPr sz="1300" b="1">
                <a:solidFill>
                  <a:srgbClr val="FFFFFF"/>
                </a:solidFill>
                <a:latin typeface="Arial"/>
              </a:rPr>
              <a:t>4 Likely</a:t>
            </a:r>
          </a:p>
        </p:txBody>
      </p:sp>
      <p:sp>
        <p:nvSpPr>
          <p:cNvPr id="17" name="Rectangle 16"/>
          <p:cNvSpPr/>
          <p:nvPr/>
        </p:nvSpPr>
        <p:spPr>
          <a:xfrm>
            <a:off x="9837810" y="1783080"/>
            <a:ext cx="157390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5826" y="1783080"/>
            <a:ext cx="1317870" cy="475488"/>
          </a:xfrm>
          <a:prstGeom prst="rect">
            <a:avLst/>
          </a:prstGeom>
          <a:noFill/>
        </p:spPr>
        <p:txBody>
          <a:bodyPr wrap="square" anchor="ctr">
            <a:spAutoFit/>
          </a:bodyPr>
          <a:lstStyle/>
          <a:p>
            <a:pPr algn="l">
              <a:spcAft>
                <a:spcPts val="400"/>
              </a:spcAft>
            </a:pPr>
            <a:r>
              <a:rPr sz="1300" b="1">
                <a:solidFill>
                  <a:srgbClr val="FFFFFF"/>
                </a:solidFill>
                <a:latin typeface="Arial"/>
              </a:rPr>
              <a:t>5 Almost certain</a:t>
            </a:r>
          </a:p>
        </p:txBody>
      </p:sp>
      <p:sp>
        <p:nvSpPr>
          <p:cNvPr id="19" name="Rectangle 18"/>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5 · Severe</a:t>
            </a:r>
          </a:p>
        </p:txBody>
      </p:sp>
      <p:sp>
        <p:nvSpPr>
          <p:cNvPr id="21" name="Rectangle 20"/>
          <p:cNvSpPr/>
          <p:nvPr/>
        </p:nvSpPr>
        <p:spPr>
          <a:xfrm>
            <a:off x="3542202" y="2258568"/>
            <a:ext cx="157390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258568"/>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5 Med</a:t>
            </a:r>
          </a:p>
        </p:txBody>
      </p:sp>
      <p:sp>
        <p:nvSpPr>
          <p:cNvPr id="23" name="Rectangle 22"/>
          <p:cNvSpPr/>
          <p:nvPr/>
        </p:nvSpPr>
        <p:spPr>
          <a:xfrm>
            <a:off x="5116104" y="2258568"/>
            <a:ext cx="157390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244120" y="2258568"/>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10 High</a:t>
            </a:r>
          </a:p>
        </p:txBody>
      </p:sp>
      <p:sp>
        <p:nvSpPr>
          <p:cNvPr id="25" name="Rectangle 24"/>
          <p:cNvSpPr/>
          <p:nvPr/>
        </p:nvSpPr>
        <p:spPr>
          <a:xfrm>
            <a:off x="6690006" y="2258568"/>
            <a:ext cx="157390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18022" y="2258568"/>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15 Critical</a:t>
            </a:r>
          </a:p>
        </p:txBody>
      </p:sp>
      <p:sp>
        <p:nvSpPr>
          <p:cNvPr id="27" name="Rectangle 26"/>
          <p:cNvSpPr/>
          <p:nvPr/>
        </p:nvSpPr>
        <p:spPr>
          <a:xfrm>
            <a:off x="8263908" y="2258568"/>
            <a:ext cx="157390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91924" y="2258568"/>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20 Critical</a:t>
            </a:r>
          </a:p>
        </p:txBody>
      </p:sp>
      <p:sp>
        <p:nvSpPr>
          <p:cNvPr id="29" name="Rectangle 28"/>
          <p:cNvSpPr/>
          <p:nvPr/>
        </p:nvSpPr>
        <p:spPr>
          <a:xfrm>
            <a:off x="9837810" y="2258568"/>
            <a:ext cx="157390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965826" y="2258568"/>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25 Critical</a:t>
            </a:r>
          </a:p>
        </p:txBody>
      </p:sp>
      <p:sp>
        <p:nvSpPr>
          <p:cNvPr id="31" name="Rectangle 30"/>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4 · Major</a:t>
            </a:r>
          </a:p>
        </p:txBody>
      </p:sp>
      <p:sp>
        <p:nvSpPr>
          <p:cNvPr id="33" name="Rectangle 32"/>
          <p:cNvSpPr/>
          <p:nvPr/>
        </p:nvSpPr>
        <p:spPr>
          <a:xfrm>
            <a:off x="3542202" y="2838297"/>
            <a:ext cx="157390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2838297"/>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4 Low</a:t>
            </a:r>
          </a:p>
        </p:txBody>
      </p:sp>
      <p:sp>
        <p:nvSpPr>
          <p:cNvPr id="35" name="Rectangle 34"/>
          <p:cNvSpPr/>
          <p:nvPr/>
        </p:nvSpPr>
        <p:spPr>
          <a:xfrm>
            <a:off x="5116104" y="2838297"/>
            <a:ext cx="157390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244120" y="2838297"/>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8 Med</a:t>
            </a:r>
          </a:p>
        </p:txBody>
      </p:sp>
      <p:sp>
        <p:nvSpPr>
          <p:cNvPr id="37" name="Rectangle 36"/>
          <p:cNvSpPr/>
          <p:nvPr/>
        </p:nvSpPr>
        <p:spPr>
          <a:xfrm>
            <a:off x="6690006" y="2838297"/>
            <a:ext cx="157390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18022" y="2838297"/>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12 High</a:t>
            </a:r>
          </a:p>
        </p:txBody>
      </p:sp>
      <p:sp>
        <p:nvSpPr>
          <p:cNvPr id="39" name="Rectangle 38"/>
          <p:cNvSpPr/>
          <p:nvPr/>
        </p:nvSpPr>
        <p:spPr>
          <a:xfrm>
            <a:off x="8263908" y="2838297"/>
            <a:ext cx="157390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391924" y="2838297"/>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16 Critical</a:t>
            </a:r>
          </a:p>
        </p:txBody>
      </p:sp>
      <p:sp>
        <p:nvSpPr>
          <p:cNvPr id="41" name="Rectangle 40"/>
          <p:cNvSpPr/>
          <p:nvPr/>
        </p:nvSpPr>
        <p:spPr>
          <a:xfrm>
            <a:off x="9837810" y="2838297"/>
            <a:ext cx="157390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965826" y="2838297"/>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20 Critical</a:t>
            </a:r>
          </a:p>
        </p:txBody>
      </p:sp>
      <p:sp>
        <p:nvSpPr>
          <p:cNvPr id="43" name="Rectangle 42"/>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3 · Moderate</a:t>
            </a:r>
          </a:p>
        </p:txBody>
      </p:sp>
      <p:sp>
        <p:nvSpPr>
          <p:cNvPr id="45" name="Rectangle 44"/>
          <p:cNvSpPr/>
          <p:nvPr/>
        </p:nvSpPr>
        <p:spPr>
          <a:xfrm>
            <a:off x="3542202" y="3418026"/>
            <a:ext cx="157390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3418026"/>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3 Low</a:t>
            </a:r>
          </a:p>
        </p:txBody>
      </p:sp>
      <p:sp>
        <p:nvSpPr>
          <p:cNvPr id="47" name="Rectangle 46"/>
          <p:cNvSpPr/>
          <p:nvPr/>
        </p:nvSpPr>
        <p:spPr>
          <a:xfrm>
            <a:off x="5116104" y="3418026"/>
            <a:ext cx="157390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244120" y="3418026"/>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6 Med</a:t>
            </a:r>
          </a:p>
        </p:txBody>
      </p:sp>
      <p:sp>
        <p:nvSpPr>
          <p:cNvPr id="49" name="Rectangle 48"/>
          <p:cNvSpPr/>
          <p:nvPr/>
        </p:nvSpPr>
        <p:spPr>
          <a:xfrm>
            <a:off x="6690006" y="3418026"/>
            <a:ext cx="157390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818022" y="3418026"/>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9 Med</a:t>
            </a:r>
          </a:p>
        </p:txBody>
      </p:sp>
      <p:sp>
        <p:nvSpPr>
          <p:cNvPr id="51" name="Rectangle 50"/>
          <p:cNvSpPr/>
          <p:nvPr/>
        </p:nvSpPr>
        <p:spPr>
          <a:xfrm>
            <a:off x="8263908" y="3418026"/>
            <a:ext cx="157390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391924" y="3418026"/>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12 High</a:t>
            </a:r>
          </a:p>
        </p:txBody>
      </p:sp>
      <p:sp>
        <p:nvSpPr>
          <p:cNvPr id="53" name="Rectangle 52"/>
          <p:cNvSpPr/>
          <p:nvPr/>
        </p:nvSpPr>
        <p:spPr>
          <a:xfrm>
            <a:off x="9837810" y="3418026"/>
            <a:ext cx="157390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965826" y="3418026"/>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15 Critical</a:t>
            </a:r>
          </a:p>
        </p:txBody>
      </p:sp>
      <p:sp>
        <p:nvSpPr>
          <p:cNvPr id="55" name="Rectangle 54"/>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2 · Minor</a:t>
            </a:r>
          </a:p>
        </p:txBody>
      </p:sp>
      <p:sp>
        <p:nvSpPr>
          <p:cNvPr id="57" name="Rectangle 56"/>
          <p:cNvSpPr/>
          <p:nvPr/>
        </p:nvSpPr>
        <p:spPr>
          <a:xfrm>
            <a:off x="3542202" y="3997755"/>
            <a:ext cx="157390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670218" y="3997755"/>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2 Low</a:t>
            </a:r>
          </a:p>
        </p:txBody>
      </p:sp>
      <p:sp>
        <p:nvSpPr>
          <p:cNvPr id="59" name="Rectangle 58"/>
          <p:cNvSpPr/>
          <p:nvPr/>
        </p:nvSpPr>
        <p:spPr>
          <a:xfrm>
            <a:off x="5116104" y="3997755"/>
            <a:ext cx="157390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244120" y="3997755"/>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4 Low</a:t>
            </a:r>
          </a:p>
        </p:txBody>
      </p:sp>
      <p:sp>
        <p:nvSpPr>
          <p:cNvPr id="61" name="Rectangle 60"/>
          <p:cNvSpPr/>
          <p:nvPr/>
        </p:nvSpPr>
        <p:spPr>
          <a:xfrm>
            <a:off x="6690006" y="3997755"/>
            <a:ext cx="157390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818022" y="3997755"/>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6 Med</a:t>
            </a:r>
          </a:p>
        </p:txBody>
      </p:sp>
      <p:sp>
        <p:nvSpPr>
          <p:cNvPr id="63" name="Rectangle 62"/>
          <p:cNvSpPr/>
          <p:nvPr/>
        </p:nvSpPr>
        <p:spPr>
          <a:xfrm>
            <a:off x="8263908" y="3997755"/>
            <a:ext cx="157390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391924" y="3997755"/>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8 Med</a:t>
            </a:r>
          </a:p>
        </p:txBody>
      </p:sp>
      <p:sp>
        <p:nvSpPr>
          <p:cNvPr id="65" name="Rectangle 64"/>
          <p:cNvSpPr/>
          <p:nvPr/>
        </p:nvSpPr>
        <p:spPr>
          <a:xfrm>
            <a:off x="9837810" y="3997755"/>
            <a:ext cx="157390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965826" y="3997755"/>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10 High</a:t>
            </a:r>
          </a:p>
        </p:txBody>
      </p:sp>
      <p:sp>
        <p:nvSpPr>
          <p:cNvPr id="67" name="Rectangle 6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1 · Negligible</a:t>
            </a:r>
          </a:p>
        </p:txBody>
      </p:sp>
      <p:sp>
        <p:nvSpPr>
          <p:cNvPr id="69" name="Rectangle 68"/>
          <p:cNvSpPr/>
          <p:nvPr/>
        </p:nvSpPr>
        <p:spPr>
          <a:xfrm>
            <a:off x="3542202" y="4577484"/>
            <a:ext cx="157390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670218" y="4577484"/>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1 Low</a:t>
            </a:r>
          </a:p>
        </p:txBody>
      </p:sp>
      <p:sp>
        <p:nvSpPr>
          <p:cNvPr id="71" name="Rectangle 70"/>
          <p:cNvSpPr/>
          <p:nvPr/>
        </p:nvSpPr>
        <p:spPr>
          <a:xfrm>
            <a:off x="5116104" y="4577484"/>
            <a:ext cx="157390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244120" y="4577484"/>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2 Low</a:t>
            </a:r>
          </a:p>
        </p:txBody>
      </p:sp>
      <p:sp>
        <p:nvSpPr>
          <p:cNvPr id="73" name="Rectangle 72"/>
          <p:cNvSpPr/>
          <p:nvPr/>
        </p:nvSpPr>
        <p:spPr>
          <a:xfrm>
            <a:off x="6690006" y="4577484"/>
            <a:ext cx="157390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818022" y="4577484"/>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3 Low</a:t>
            </a:r>
          </a:p>
        </p:txBody>
      </p:sp>
      <p:sp>
        <p:nvSpPr>
          <p:cNvPr id="75" name="Rectangle 74"/>
          <p:cNvSpPr/>
          <p:nvPr/>
        </p:nvSpPr>
        <p:spPr>
          <a:xfrm>
            <a:off x="8263908" y="4577484"/>
            <a:ext cx="157390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391924" y="4577484"/>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4 Low</a:t>
            </a:r>
          </a:p>
        </p:txBody>
      </p:sp>
      <p:sp>
        <p:nvSpPr>
          <p:cNvPr id="77" name="Rectangle 76"/>
          <p:cNvSpPr/>
          <p:nvPr/>
        </p:nvSpPr>
        <p:spPr>
          <a:xfrm>
            <a:off x="9837810" y="4577484"/>
            <a:ext cx="157390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965826" y="4577484"/>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5 Med</a:t>
            </a:r>
          </a:p>
        </p:txBody>
      </p:sp>
      <p:sp>
        <p:nvSpPr>
          <p:cNvPr id="79" name="Rectangle 78"/>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777240" y="5358381"/>
            <a:ext cx="100584"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F59E0B"/>
                </a:solidFill>
                <a:latin typeface="Arial"/>
              </a:rPr>
              <a:t>WHEN IT MATTERS  </a:t>
            </a:r>
            <a:r>
              <a:rPr sz="1200" b="0">
                <a:solidFill>
                  <a:srgbClr val="161B26"/>
                </a:solidFill>
                <a:latin typeface="Arial"/>
              </a:rPr>
              <a:t>Bands: 1–4 Low · 5–9 Medium · 10–14 High · 15–25 Critical. Agree the bands before you score, or every reviewer will argue the colour instead of the risk.</a:t>
            </a:r>
          </a:p>
        </p:txBody>
      </p:sp>
      <p:sp>
        <p:nvSpPr>
          <p:cNvPr id="82" name="TextBox 8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83" name="TextBox 8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84" name="TextBox 8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fast" advClick="1">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A4 · DECIDING WHAT TO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Four Risk Treatments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Mitigate</a:t>
            </a:r>
          </a:p>
          <a:p>
            <a:pPr algn="l">
              <a:spcAft>
                <a:spcPts val="300"/>
              </a:spcAft>
            </a:pPr>
            <a:r>
              <a:rPr sz="1100" b="0">
                <a:solidFill>
                  <a:srgbClr val="5B6372"/>
                </a:solidFill>
                <a:latin typeface="Arial"/>
              </a:rPr>
              <a:t>Reduce likelihood or impact with a control. The default choice — and the one that costs money.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Transfer</a:t>
            </a:r>
          </a:p>
          <a:p>
            <a:pPr algn="l">
              <a:spcAft>
                <a:spcPts val="300"/>
              </a:spcAft>
            </a:pPr>
            <a:r>
              <a:rPr sz="1100" b="0">
                <a:solidFill>
                  <a:srgbClr val="5B6372"/>
                </a:solidFill>
                <a:latin typeface="Arial"/>
              </a:rPr>
              <a:t>Shift the financial consequence to someone else, typically insurance or a contractual clause. The risk still happens.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Avoid</a:t>
            </a:r>
          </a:p>
          <a:p>
            <a:pPr algn="l">
              <a:spcAft>
                <a:spcPts val="300"/>
              </a:spcAft>
            </a:pPr>
            <a:r>
              <a:rPr sz="1100" b="0">
                <a:solidFill>
                  <a:srgbClr val="5B6372"/>
                </a:solidFill>
                <a:latin typeface="Arial"/>
              </a:rPr>
              <a:t>Stop doing the activity that creates the risk — decommission the service, drop the feature, close the port.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Accept</a:t>
            </a:r>
          </a:p>
          <a:p>
            <a:pPr algn="l">
              <a:spcAft>
                <a:spcPts val="300"/>
              </a:spcAft>
            </a:pPr>
            <a:r>
              <a:rPr sz="1100" b="0">
                <a:solidFill>
                  <a:srgbClr val="5B6372"/>
                </a:solidFill>
                <a:latin typeface="Arial"/>
              </a:rPr>
              <a:t>Consciously carry the risk, with a named accepting authority and a written rationale. Not the same as ignoring it.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Every risk gets exactly one</a:t>
            </a:r>
          </a:p>
          <a:p>
            <a:pPr algn="l">
              <a:spcAft>
                <a:spcPts val="300"/>
              </a:spcAft>
            </a:pPr>
            <a:r>
              <a:rPr sz="1100" b="0">
                <a:solidFill>
                  <a:srgbClr val="5B6372"/>
                </a:solidFill>
                <a:latin typeface="Arial"/>
              </a:rPr>
              <a:t>A blank treatment column is an unmanaged risk wearing a spreadsheet.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Residual risk is what remains</a:t>
            </a:r>
          </a:p>
          <a:p>
            <a:pPr algn="l">
              <a:spcAft>
                <a:spcPts val="300"/>
              </a:spcAft>
            </a:pPr>
            <a:r>
              <a:rPr sz="1100" b="0">
                <a:solidFill>
                  <a:srgbClr val="5B6372"/>
                </a:solidFill>
                <a:latin typeface="Arial"/>
              </a:rPr>
              <a:t>After the treatment is applied. If residual still exceeds appetite, the treatment was not enough.</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fast" advClick="1">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K4 · THE PLANNING SCAFFOLD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Two Frameworks You Will Use Together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NIST Cybersecurity Framework 2.0</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NIST AI Risk Management Framework</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Protects</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The network and the organisation</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The AI system itself</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Functions</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Govern · Identify · Protect · Detect · Respond · Recover</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Govern · Map · Measure · Manage</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You use it to</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Structure the control set and find coverage gaps</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Structure how you assess and manage AI risk</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In this course</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Lab 6 maps your plan to the six functions</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Lab 9 hardens the AI you deployed</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Why both</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Deploying AI to defend the network adds a second thing to defend — the AI</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Neither framework covers the other's scope</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A plan that secures the network with AI but never assesses the AI's own risk has simply moved the weakest link, not removed it.</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fast" advClick="1">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Hands-On Labs — Topic 02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4</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an Asset Register and Classify What Needs Protecting</a:t>
            </a:r>
          </a:p>
          <a:p>
            <a:pPr>
              <a:spcAft>
                <a:spcPts val="900"/>
              </a:spcAft>
            </a:pPr>
            <a:r>
              <a:rPr sz="1400" b="0">
                <a:solidFill>
                  <a:srgbClr val="161B26"/>
                </a:solidFill>
                <a:latin typeface="Arial"/>
              </a:rPr>
              <a:t>•  </a:t>
            </a:r>
          </a:p>
          <a:p>
            <a:pPr>
              <a:spcAft>
                <a:spcPts val="900"/>
              </a:spcAft>
            </a:pPr>
            <a:r>
              <a:rPr sz="1400" b="0">
                <a:solidFill>
                  <a:srgbClr val="161B26"/>
                </a:solidFill>
                <a:latin typeface="Arial"/>
              </a:rPr>
              <a:t>•  Determine which organisational assets require protection, and defend the classification with a business impact judgement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5</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AI-Assisted Risk Scoring and the Risk Register</a:t>
            </a:r>
          </a:p>
          <a:p>
            <a:pPr>
              <a:spcAft>
                <a:spcPts val="900"/>
              </a:spcAft>
            </a:pPr>
            <a:r>
              <a:rPr sz="1400" b="0">
                <a:solidFill>
                  <a:srgbClr val="161B26"/>
                </a:solidFill>
                <a:latin typeface="Arial"/>
              </a:rPr>
              <a:t>•  </a:t>
            </a:r>
          </a:p>
          <a:p>
            <a:pPr>
              <a:spcAft>
                <a:spcPts val="900"/>
              </a:spcAft>
            </a:pPr>
            <a:r>
              <a:rPr sz="1400" b="0">
                <a:solidFill>
                  <a:srgbClr val="161B26"/>
                </a:solidFill>
                <a:latin typeface="Arial"/>
              </a:rPr>
              <a:t>•  Combine the asset register and the vulnerability worklist into a scored risk register, using AI to sharpen the likelihoo</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6</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Develop the Risk Management Plan</a:t>
            </a:r>
          </a:p>
          <a:p>
            <a:pPr>
              <a:spcAft>
                <a:spcPts val="900"/>
              </a:spcAft>
            </a:pPr>
            <a:r>
              <a:rPr sz="1400" b="0">
                <a:solidFill>
                  <a:srgbClr val="161B26"/>
                </a:solidFill>
                <a:latin typeface="Arial"/>
              </a:rPr>
              <a:t>•  </a:t>
            </a:r>
          </a:p>
          <a:p>
            <a:pPr>
              <a:spcAft>
                <a:spcPts val="900"/>
              </a:spcAft>
            </a:pPr>
            <a:r>
              <a:rPr sz="1400" b="0">
                <a:solidFill>
                  <a:srgbClr val="161B26"/>
                </a:solidFill>
                <a:latin typeface="Arial"/>
              </a:rPr>
              <a:t>•  Turn the scored register into a risk management plan with treatments, owners, dates and a monitoring cadence that surviv</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fast" advClick="1">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Build an Asset Register and Classify What Needs Protecting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4</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A3 · K1 — Determine which organisational assets require protection, and defend the classification with a business impact judgement rather than a gut feeling.</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Risk management starts with an honest asset register. In this lab you take the network inventory from Lab 1 and turn it into an organisational asset register: you add the owner, the data the asset holds, the business function it serves, and a classification against confidentiality, integrity and availability. You then rank the assets by criticality and use an AI assistant to challenge your classification — because the asset you forgot is the one that gets you.</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classified asset register with an owner, data classification and C/I/A impact rating for every asset, ranked by criticality, plus the crown-jewel shortlist.</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Lab 1 inventory, a spreadsheet, a generative AI assistant</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Every row has an owner, a data classification with a reason, three C/I/A ratings and a criticality. Your register includes at least two non-technical assets that no scanner would have found, and you can name your crown jewels and say what makes each one critical.</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fast" advClick="1">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4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Add business columns</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Classify the data</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Rate C / I / A impact</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Set asset criticality</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Add unseen assets</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A3 · K1 — Determine which organisational assets require protection, and defend the classification with a business impact judgement rather than a gut feeling.</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Build an Asset Register and Classify What Needs Protecting — Part 1/2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1986076"/>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98607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55648"/>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Open the network inventory from Lab 1 and add the organisational columns: Asset Name, Owner, Business Function, Data Held, Data Classification, Confidentiality Impact, Integrity Impact, Availability Impact, Criticality.</a:t>
            </a:r>
          </a:p>
        </p:txBody>
      </p:sp>
      <p:sp>
        <p:nvSpPr>
          <p:cNvPr id="12" name="Rectangle 11"/>
          <p:cNvSpPr/>
          <p:nvPr/>
        </p:nvSpPr>
        <p:spPr>
          <a:xfrm>
            <a:off x="777240" y="2673705"/>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673705"/>
            <a:ext cx="82296" cy="82661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2904133"/>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290413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673705"/>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Classify the data each asset holds as Public, Internal, Confidential or Restricted. Write the reason in the row — an unjustified classification cannot be defended in a review.</a:t>
            </a:r>
          </a:p>
        </p:txBody>
      </p:sp>
      <p:sp>
        <p:nvSpPr>
          <p:cNvPr id="17" name="Rectangle 16"/>
          <p:cNvSpPr/>
          <p:nvPr/>
        </p:nvSpPr>
        <p:spPr>
          <a:xfrm>
            <a:off x="777240" y="3591762"/>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591762"/>
            <a:ext cx="82296" cy="82661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9264" y="3822190"/>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382219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81328" y="3591762"/>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Rate the Confidentiality, Integrity and Availability impact of losing each asset as High, Medium or Low. Ask the business question, not the technical one: what would this cost the organisation?</a:t>
            </a:r>
          </a:p>
        </p:txBody>
      </p:sp>
      <p:sp>
        <p:nvSpPr>
          <p:cNvPr id="22" name="Rectangle 21"/>
          <p:cNvSpPr/>
          <p:nvPr/>
        </p:nvSpPr>
        <p:spPr>
          <a:xfrm>
            <a:off x="777240" y="4509819"/>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09819"/>
            <a:ext cx="82296" cy="82661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69264" y="4740247"/>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9264" y="4740247"/>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4509819"/>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Set the asset Criticality to the highest of its three C/I/A ratings. An asset with High availability impact is critical even if its data is public — a payment gateway is the obvious case.</a:t>
            </a:r>
          </a:p>
        </p:txBody>
      </p:sp>
      <p:sp>
        <p:nvSpPr>
          <p:cNvPr id="27" name="Rectangle 26"/>
          <p:cNvSpPr/>
          <p:nvPr/>
        </p:nvSpPr>
        <p:spPr>
          <a:xfrm>
            <a:off x="777240" y="5427876"/>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27876"/>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9264" y="565830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9264" y="565830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81328" y="5427876"/>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Add the assets that a network scan can never see: the people, the paper processes, the third-party services, the backups and the domain registration. These are real assets with real impact.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fast" advClick="1">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Build an Asset Register and Classify What Needs Protecting — Part 2/2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1" name="TextBox 10"/>
          <p:cNvSpPr txBox="1"/>
          <p:nvPr/>
        </p:nvSpPr>
        <p:spPr>
          <a:xfrm>
            <a:off x="1481328" y="1755648"/>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Sort by criticality and identify the crown jewels — the three to five assets whose loss would genuinely damage the organisation.</a:t>
            </a:r>
          </a:p>
        </p:txBody>
      </p:sp>
      <p:sp>
        <p:nvSpPr>
          <p:cNvPr id="12" name="Rectangle 11"/>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6" name="TextBox 15"/>
          <p:cNvSpPr txBox="1"/>
          <p:nvPr/>
        </p:nvSpPr>
        <p:spPr>
          <a:xfrm>
            <a:off x="1481328" y="2926080"/>
            <a:ext cx="9692640" cy="329184"/>
          </a:xfrm>
          <a:prstGeom prst="rect">
            <a:avLst/>
          </a:prstGeom>
          <a:noFill/>
        </p:spPr>
        <p:txBody>
          <a:bodyPr wrap="square" anchor="ctr">
            <a:spAutoFit/>
          </a:bodyPr>
          <a:lstStyle/>
          <a:p>
            <a:pPr algn="l">
              <a:spcAft>
                <a:spcPts val="400"/>
              </a:spcAft>
            </a:pPr>
            <a:r>
              <a:rPr sz="1250" b="1">
                <a:solidFill>
                  <a:srgbClr val="161B26"/>
                </a:solidFill>
                <a:latin typeface="Arial"/>
              </a:rPr>
              <a:t>Ask your AI assistant to review your register for gaps.</a:t>
            </a:r>
          </a:p>
        </p:txBody>
      </p:sp>
      <p:sp>
        <p:nvSpPr>
          <p:cNvPr id="17" name="Rectangle 16"/>
          <p:cNvSpPr/>
          <p:nvPr/>
        </p:nvSpPr>
        <p:spPr>
          <a:xfrm>
            <a:off x="1481328" y="3291840"/>
            <a:ext cx="9601200" cy="5120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27632" y="3291840"/>
            <a:ext cx="9326880" cy="512064"/>
          </a:xfrm>
          <a:prstGeom prst="rect">
            <a:avLst/>
          </a:prstGeom>
          <a:noFill/>
        </p:spPr>
        <p:txBody>
          <a:bodyPr wrap="square" anchor="ctr">
            <a:spAutoFit/>
          </a:bodyPr>
          <a:lstStyle/>
          <a:p>
            <a:pPr algn="l">
              <a:spcAft>
                <a:spcPts val="400"/>
              </a:spcAft>
            </a:pPr>
            <a:r>
              <a:rPr sz="850" b="0">
                <a:solidFill>
                  <a:srgbClr val="9CDCFE"/>
                </a:solidFill>
                <a:latin typeface="Arial"/>
              </a:rPr>
              <a:t>$ Prompt: 'Here is an asset register for a small enterprise network. Identify asset categories I have likely missed, and challenge any criticality rating that looks inconsistent with the stated business function. Do not rewrite my register — list the gaps and the inconsistencies.'</a:t>
            </a:r>
          </a:p>
        </p:txBody>
      </p:sp>
      <p:sp>
        <p:nvSpPr>
          <p:cNvPr id="19" name="Rectangle 18"/>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23" name="TextBox 22"/>
          <p:cNvSpPr txBox="1"/>
          <p:nvPr/>
        </p:nvSpPr>
        <p:spPr>
          <a:xfrm>
            <a:off x="1481328" y="3986784"/>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Act on the review: add every legitimate missing asset, and either correct or justify each rating the AI challenged. Record which challenges you accepted and which you rejected, with the reason.</a:t>
            </a:r>
          </a:p>
        </p:txBody>
      </p:sp>
      <p:sp>
        <p:nvSpPr>
          <p:cNvPr id="24" name="Rectangle 23"/>
          <p:cNvSpPr/>
          <p:nvPr/>
        </p:nvSpPr>
        <p:spPr>
          <a:xfrm>
            <a:off x="777240" y="5102352"/>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5102352"/>
            <a:ext cx="82296" cy="10241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9264" y="5431536"/>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 y="543153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28" name="TextBox 27"/>
          <p:cNvSpPr txBox="1"/>
          <p:nvPr/>
        </p:nvSpPr>
        <p:spPr>
          <a:xfrm>
            <a:off x="1481328" y="5102352"/>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Confirm every asset has a named owner. An asset with no owner has no one to accept its risk, which makes the register decorative.</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fast" advClick="1">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Build an Asset Register and Classify What Needs Protecting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Every row has an owner, a data classification with a reason, three C/I/A ratings and a criticality. Your register includes at least two non-technical assets that no scanner would have found, and you can name your crown jewels and say what makes each one critical.</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Everything is rated High</a:t>
            </a:r>
          </a:p>
        </p:txBody>
      </p:sp>
      <p:sp>
        <p:nvSpPr>
          <p:cNvPr id="15" name="TextBox 14"/>
          <p:cNvSpPr txBox="1"/>
          <p:nvPr/>
        </p:nvSpPr>
        <p:spPr>
          <a:xfrm>
            <a:off x="996696"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you are rating the technology, not the business impact; force a ranking by asking which single asset you would restore first.</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Ownership is unclear</a:t>
            </a:r>
          </a:p>
        </p:txBody>
      </p:sp>
      <p:sp>
        <p:nvSpPr>
          <p:cNvPr id="19" name="TextBox 18"/>
          <p:cNvSpPr txBox="1"/>
          <p:nvPr/>
        </p:nvSpPr>
        <p:spPr>
          <a:xfrm>
            <a:off x="4617720"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assign the manager of the business function the asset serves, not the system administrator.</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fast" advClick="1">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AI-Assisted Risk Scoring and the Risk Register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5</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A2 · A4 · K4 — Combine the asset register and the vulnerability worklist into a scored risk register, using AI to sharpen the likelihood estimate.</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A risk is not a vulnerability. A risk is a threat exploiting a vulnerability against an asset, with a likelihood and an impact. In this lab you join Lab 3's vulnerabilities to Lab 4's assets to produce a proper risk register, score each entry on a 5x5 likelihood-impact matrix, and use an AI assistant to pressure-test your likelihood estimates against current threat intelligence. You end with a heat map that shows management where the real exposure is.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scored risk register with inherent risk, existing controls and residual risk for every entry, plus a 5x5 heat map showing the distribution.</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Lab 3 worklist, Lab 4 asset register, a spreadsheet, a generative AI assistant</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Every risk is written as a complete threat-vulnerability-asset-consequence sentence and carries both an inherent and a residual score. Your heat map shows a real spread rather than everything clustered in one cell, and you can justify your top five to a manager.</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fast" advClick="1">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5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Create the register</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Write each risk</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Score likelihood</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Score impact</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Compute inherent risk</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A2 · A4 · K4 — Combine the asset register and the vulnerability worklist into a scored risk register, using AI to sharpen the likelihood estimate.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AI-Assisted Risk Scoring and the Risk Register — Part 1/2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1986076"/>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98607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55648"/>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Create the risk register with the columns Risk ID, Asset, Threat, Vulnerability, Existing Controls, Likelihood (1-5), Impact (1-5), Inherent Risk, Treatment, Owner, Target Date, Residual Risk.</a:t>
            </a:r>
          </a:p>
        </p:txBody>
      </p:sp>
      <p:sp>
        <p:nvSpPr>
          <p:cNvPr id="12" name="Rectangle 11"/>
          <p:cNvSpPr/>
          <p:nvPr/>
        </p:nvSpPr>
        <p:spPr>
          <a:xfrm>
            <a:off x="777240" y="2673705"/>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673705"/>
            <a:ext cx="82296" cy="82661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2904133"/>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290413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673705"/>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Write each risk as a full sentence before you score it: 'A [threat actor] exploits [vulnerability] on [asset], resulting in [consequence].' A risk you cannot phrase this way is not yet a risk.</a:t>
            </a:r>
          </a:p>
        </p:txBody>
      </p:sp>
      <p:sp>
        <p:nvSpPr>
          <p:cNvPr id="17" name="Rectangle 16"/>
          <p:cNvSpPr/>
          <p:nvPr/>
        </p:nvSpPr>
        <p:spPr>
          <a:xfrm>
            <a:off x="777240" y="3591762"/>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591762"/>
            <a:ext cx="82296" cy="82661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9264" y="3822190"/>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382219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81328" y="3591762"/>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Score Likelihood 1-5 using evidence — is the vulnerability on the CISA KEV list, is the asset internet-facing, is there a public exploit, does an existing control reduce the chance?</a:t>
            </a:r>
          </a:p>
        </p:txBody>
      </p:sp>
      <p:sp>
        <p:nvSpPr>
          <p:cNvPr id="22" name="Rectangle 21"/>
          <p:cNvSpPr/>
          <p:nvPr/>
        </p:nvSpPr>
        <p:spPr>
          <a:xfrm>
            <a:off x="777240" y="4509819"/>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09819"/>
            <a:ext cx="82296" cy="82661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69264" y="4740247"/>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9264" y="4740247"/>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4509819"/>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Score Impact 1-5 from the asset's criticality in Lab 4, adjusted for what this specific threat would actually do to it.</a:t>
            </a:r>
          </a:p>
        </p:txBody>
      </p:sp>
      <p:sp>
        <p:nvSpPr>
          <p:cNvPr id="27" name="Rectangle 26"/>
          <p:cNvSpPr/>
          <p:nvPr/>
        </p:nvSpPr>
        <p:spPr>
          <a:xfrm>
            <a:off x="777240" y="5427876"/>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27876"/>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9264" y="565830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9264" y="565830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81328" y="5482740"/>
            <a:ext cx="9692640" cy="329184"/>
          </a:xfrm>
          <a:prstGeom prst="rect">
            <a:avLst/>
          </a:prstGeom>
          <a:noFill/>
        </p:spPr>
        <p:txBody>
          <a:bodyPr wrap="square" anchor="ctr">
            <a:spAutoFit/>
          </a:bodyPr>
          <a:lstStyle/>
          <a:p>
            <a:pPr algn="l">
              <a:spcAft>
                <a:spcPts val="400"/>
              </a:spcAft>
            </a:pPr>
            <a:r>
              <a:rPr sz="1250" b="1">
                <a:solidFill>
                  <a:srgbClr val="161B26"/>
                </a:solidFill>
                <a:latin typeface="Arial"/>
              </a:rPr>
              <a:t>Compute Inherent Risk as Likelihood x Impact, and band it: 1-4 Low, 5-9 Medium, 10-14 High, 15-25 Critical.</a:t>
            </a:r>
          </a:p>
        </p:txBody>
      </p:sp>
      <p:sp>
        <p:nvSpPr>
          <p:cNvPr id="32" name="Rectangle 31"/>
          <p:cNvSpPr/>
          <p:nvPr/>
        </p:nvSpPr>
        <p:spPr>
          <a:xfrm>
            <a:off x="1481328" y="5848500"/>
            <a:ext cx="9601200" cy="31455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627632" y="5848500"/>
            <a:ext cx="9326880" cy="314553"/>
          </a:xfrm>
          <a:prstGeom prst="rect">
            <a:avLst/>
          </a:prstGeom>
          <a:noFill/>
        </p:spPr>
        <p:txBody>
          <a:bodyPr wrap="square" anchor="ctr">
            <a:spAutoFit/>
          </a:bodyPr>
          <a:lstStyle/>
          <a:p>
            <a:pPr algn="l">
              <a:spcAft>
                <a:spcPts val="400"/>
              </a:spcAft>
            </a:pPr>
            <a:r>
              <a:rPr sz="1050" b="0">
                <a:solidFill>
                  <a:srgbClr val="9CDCFE"/>
                </a:solidFill>
                <a:latin typeface="Arial"/>
              </a:rPr>
              <a:t>$ Inherent Risk = Likelihood × Impact</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fast" advClick="1">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AI-Assisted Risk Scoring and the Risk Register — Part 2/2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1986076"/>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98607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1" name="TextBox 10"/>
          <p:cNvSpPr txBox="1"/>
          <p:nvPr/>
        </p:nvSpPr>
        <p:spPr>
          <a:xfrm>
            <a:off x="1481328" y="1755648"/>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Record the controls already in place for each risk, then re-score to get Residual Risk. The gap between inherent and residual is exactly what your existing controls are buying you.</a:t>
            </a:r>
          </a:p>
        </p:txBody>
      </p:sp>
      <p:sp>
        <p:nvSpPr>
          <p:cNvPr id="12" name="Rectangle 11"/>
          <p:cNvSpPr/>
          <p:nvPr/>
        </p:nvSpPr>
        <p:spPr>
          <a:xfrm>
            <a:off x="777240" y="2673705"/>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673705"/>
            <a:ext cx="82296" cy="82661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2904133"/>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290413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6" name="TextBox 15"/>
          <p:cNvSpPr txBox="1"/>
          <p:nvPr/>
        </p:nvSpPr>
        <p:spPr>
          <a:xfrm>
            <a:off x="1481328" y="2728569"/>
            <a:ext cx="9692640" cy="329184"/>
          </a:xfrm>
          <a:prstGeom prst="rect">
            <a:avLst/>
          </a:prstGeom>
          <a:noFill/>
        </p:spPr>
        <p:txBody>
          <a:bodyPr wrap="square" anchor="ctr">
            <a:spAutoFit/>
          </a:bodyPr>
          <a:lstStyle/>
          <a:p>
            <a:pPr algn="l">
              <a:spcAft>
                <a:spcPts val="400"/>
              </a:spcAft>
            </a:pPr>
            <a:r>
              <a:rPr sz="1250" b="1">
                <a:solidFill>
                  <a:srgbClr val="161B26"/>
                </a:solidFill>
                <a:latin typeface="Arial"/>
              </a:rPr>
              <a:t>Ask your AI assistant to challenge your likelihood scores against current threat activity.</a:t>
            </a:r>
          </a:p>
        </p:txBody>
      </p:sp>
      <p:sp>
        <p:nvSpPr>
          <p:cNvPr id="17" name="Rectangle 16"/>
          <p:cNvSpPr/>
          <p:nvPr/>
        </p:nvSpPr>
        <p:spPr>
          <a:xfrm>
            <a:off x="1481328" y="3094329"/>
            <a:ext cx="9601200" cy="31455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27632" y="3094329"/>
            <a:ext cx="9326880" cy="314553"/>
          </a:xfrm>
          <a:prstGeom prst="rect">
            <a:avLst/>
          </a:prstGeom>
          <a:noFill/>
        </p:spPr>
        <p:txBody>
          <a:bodyPr wrap="square" anchor="ctr">
            <a:spAutoFit/>
          </a:bodyPr>
          <a:lstStyle/>
          <a:p>
            <a:pPr algn="l">
              <a:spcAft>
                <a:spcPts val="400"/>
              </a:spcAft>
            </a:pPr>
            <a:r>
              <a:rPr sz="850" b="0">
                <a:solidFill>
                  <a:srgbClr val="9CDCFE"/>
                </a:solidFill>
                <a:latin typeface="Arial"/>
              </a:rPr>
              <a:t>$ Prompt: 'Here is a risk register with likelihood scores from 1 to 5. For each risk, state whether current threat intelligence suggests my likelihood is too high, too low or about right, and give the reason. Note where you are uncertain.'</a:t>
            </a:r>
          </a:p>
        </p:txBody>
      </p:sp>
      <p:sp>
        <p:nvSpPr>
          <p:cNvPr id="19" name="Rectangle 18"/>
          <p:cNvSpPr/>
          <p:nvPr/>
        </p:nvSpPr>
        <p:spPr>
          <a:xfrm>
            <a:off x="777240" y="3591762"/>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591762"/>
            <a:ext cx="82296" cy="82661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3822190"/>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382219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23" name="TextBox 22"/>
          <p:cNvSpPr txBox="1"/>
          <p:nvPr/>
        </p:nvSpPr>
        <p:spPr>
          <a:xfrm>
            <a:off x="1481328" y="3591762"/>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Adjust the scores you agree with and document the ones you rejected. A risk register that is never challenged is a risk register nobody believes.</a:t>
            </a:r>
          </a:p>
        </p:txBody>
      </p:sp>
      <p:sp>
        <p:nvSpPr>
          <p:cNvPr id="24" name="Rectangle 23"/>
          <p:cNvSpPr/>
          <p:nvPr/>
        </p:nvSpPr>
        <p:spPr>
          <a:xfrm>
            <a:off x="777240" y="4509819"/>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4509819"/>
            <a:ext cx="82296" cy="82661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9264" y="4740247"/>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 y="4740247"/>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28" name="TextBox 27"/>
          <p:cNvSpPr txBox="1"/>
          <p:nvPr/>
        </p:nvSpPr>
        <p:spPr>
          <a:xfrm>
            <a:off x="1481328" y="4509819"/>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Build the 5x5 heat map — likelihood on one axis, impact on the other, each cell counting the risks that land in it — and identify which quadrant carries your exposure.</a:t>
            </a:r>
          </a:p>
        </p:txBody>
      </p:sp>
      <p:sp>
        <p:nvSpPr>
          <p:cNvPr id="29" name="Rectangle 28"/>
          <p:cNvSpPr/>
          <p:nvPr/>
        </p:nvSpPr>
        <p:spPr>
          <a:xfrm>
            <a:off x="777240" y="5427876"/>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7240" y="5427876"/>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69264" y="565830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9264" y="565830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33" name="TextBox 32"/>
          <p:cNvSpPr txBox="1"/>
          <p:nvPr/>
        </p:nvSpPr>
        <p:spPr>
          <a:xfrm>
            <a:off x="1481328" y="5427876"/>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Sort by residual risk and confirm the top five are the risks you would genuinely lose sleep over. If they are not, your scoring is wrong.</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fast" advClick="1">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AI-Assisted Risk Scoring and the Risk Register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Every risk is written as a complete threat-vulnerability-asset-consequence sentence and carries both an inherent and a residual score. Your heat map shows a real spread rather than everything clustered in one cell, and you can justify your top five to a manager.</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Inherent and residual are identical everywhere</a:t>
            </a:r>
          </a:p>
        </p:txBody>
      </p:sp>
      <p:sp>
        <p:nvSpPr>
          <p:cNvPr id="15" name="TextBox 14"/>
          <p:cNvSpPr txBox="1"/>
          <p:nvPr/>
        </p:nvSpPr>
        <p:spPr>
          <a:xfrm>
            <a:off x="996696"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you have not recorded the existing controls.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All risks land in the same band</a:t>
            </a:r>
          </a:p>
        </p:txBody>
      </p:sp>
      <p:sp>
        <p:nvSpPr>
          <p:cNvPr id="19" name="TextBox 18"/>
          <p:cNvSpPr txBox="1"/>
          <p:nvPr/>
        </p:nvSpPr>
        <p:spPr>
          <a:xfrm>
            <a:off x="4617720"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your 1-5 scales are being used as 3-4; force the extremes.</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The AI is confidently wrong about a threat</a:t>
            </a:r>
          </a:p>
        </p:txBody>
      </p:sp>
      <p:sp>
        <p:nvSpPr>
          <p:cNvPr id="23" name="TextBox 22"/>
          <p:cNvSpPr txBox="1"/>
          <p:nvPr/>
        </p:nvSpPr>
        <p:spPr>
          <a:xfrm>
            <a:off x="8238744"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treat its output as a prompt to check the source, never as the source.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fast" advClick="1">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Develop the Risk Management Plan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6</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A4 · K4 — Turn the scored register into a risk management plan with treatments, owners, dates and a monitoring cadence that survives contact with reality.</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A register records risk; a plan does something about it. In this lab you assign each risk one of the four treatments — mitigate, transfer, avoid or accept — select the specific controls that implement the mitigation, name an owner and a target date for each, and map the whole plan onto the NIST Cybersecurity Framework functions so that the coverage gaps become visible. You then use AI to draft the management summary and you edit it into something you would actually sign.</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risk management plan: treatment decisions with named controls, owners, target dates and success criteria; a NIST CSF coverage map; and a one-page management summary.</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Lab 5 risk register, NIST CSF 2.0, a spreadsheet, a generative AI assistant</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Every risk carries a treatment, and every Mitigate carries a named control, an owner, a date and a testable success criterion. Your NIST CSF map has at least one control under all six functions, and the management summary states the top three exposures in business language without jargon.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fast" advClick="1">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6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Assign a treatment</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Name the accepting authority</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Name the control</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State the control type</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Add owner &amp; criterion</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A4 · K4 — Turn the scored register into a risk management plan with treatments, owners, dates and a monitoring cadence that survives contact with reality.</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Develop the Risk Management Plan — Part 1/2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1986076"/>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98607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55648"/>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Assign each risk in the register one of the four treatments — Mitigate, Transfer, Avoid or Accept. Every risk gets exactly one; nothing may be left blank.</a:t>
            </a:r>
          </a:p>
        </p:txBody>
      </p:sp>
      <p:sp>
        <p:nvSpPr>
          <p:cNvPr id="12" name="Rectangle 11"/>
          <p:cNvSpPr/>
          <p:nvPr/>
        </p:nvSpPr>
        <p:spPr>
          <a:xfrm>
            <a:off x="777240" y="2673705"/>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673705"/>
            <a:ext cx="82296" cy="82661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2904133"/>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290413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673705"/>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Every Accept decision needs a named accepting authority and a written rationale. An accepted risk with no name against it is an ignored risk.</a:t>
            </a:r>
          </a:p>
        </p:txBody>
      </p:sp>
      <p:sp>
        <p:nvSpPr>
          <p:cNvPr id="17" name="Rectangle 16"/>
          <p:cNvSpPr/>
          <p:nvPr/>
        </p:nvSpPr>
        <p:spPr>
          <a:xfrm>
            <a:off x="777240" y="3591762"/>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591762"/>
            <a:ext cx="82296" cy="82661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9264" y="3822190"/>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382219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81328" y="3591762"/>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For each Mitigate decision, name the specific control that will reduce the risk — not 'improve security', but 'disable Telnet on the three switches and enforce SSHv2 with key authentication'.</a:t>
            </a:r>
          </a:p>
        </p:txBody>
      </p:sp>
      <p:sp>
        <p:nvSpPr>
          <p:cNvPr id="22" name="Rectangle 21"/>
          <p:cNvSpPr/>
          <p:nvPr/>
        </p:nvSpPr>
        <p:spPr>
          <a:xfrm>
            <a:off x="777240" y="4509819"/>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09819"/>
            <a:ext cx="82296" cy="82661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69264" y="4740247"/>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9264" y="4740247"/>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4509819"/>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State the control type for each: preventive, detective or corrective. A plan made only of detective controls will find every breach and stop none of them.</a:t>
            </a:r>
          </a:p>
        </p:txBody>
      </p:sp>
      <p:sp>
        <p:nvSpPr>
          <p:cNvPr id="27" name="Rectangle 26"/>
          <p:cNvSpPr/>
          <p:nvPr/>
        </p:nvSpPr>
        <p:spPr>
          <a:xfrm>
            <a:off x="777240" y="5427876"/>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27876"/>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9264" y="565830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9264" y="565830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81328" y="5427876"/>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Add an owner, a target date and a success criterion to every treatment. The success criterion must be testable — 'no Telnet listener on any managed switch, verified by Nmap' is testable; 'switches hardened' is not.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fast" advClick="1">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Develop the Risk Management Plan — Part 2/2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1986076"/>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98607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1" name="TextBox 10"/>
          <p:cNvSpPr txBox="1"/>
          <p:nvPr/>
        </p:nvSpPr>
        <p:spPr>
          <a:xfrm>
            <a:off x="1481328" y="1810512"/>
            <a:ext cx="9692640" cy="329184"/>
          </a:xfrm>
          <a:prstGeom prst="rect">
            <a:avLst/>
          </a:prstGeom>
          <a:noFill/>
        </p:spPr>
        <p:txBody>
          <a:bodyPr wrap="square" anchor="ctr">
            <a:spAutoFit/>
          </a:bodyPr>
          <a:lstStyle/>
          <a:p>
            <a:pPr algn="l">
              <a:spcAft>
                <a:spcPts val="400"/>
              </a:spcAft>
            </a:pPr>
            <a:r>
              <a:rPr sz="850" b="1">
                <a:solidFill>
                  <a:srgbClr val="161B26"/>
                </a:solidFill>
                <a:latin typeface="Arial"/>
              </a:rPr>
              <a:t>Map every planned control onto the NIST CSF 2.0 functions — Govern, Identify, Protect, Detect, Respond, Recover — and count the controls in each. The thin function is your real gap.</a:t>
            </a:r>
          </a:p>
        </p:txBody>
      </p:sp>
      <p:sp>
        <p:nvSpPr>
          <p:cNvPr id="12" name="Rectangle 11"/>
          <p:cNvSpPr/>
          <p:nvPr/>
        </p:nvSpPr>
        <p:spPr>
          <a:xfrm>
            <a:off x="1481328" y="2176272"/>
            <a:ext cx="9601200" cy="31455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76272"/>
            <a:ext cx="9326880" cy="314553"/>
          </a:xfrm>
          <a:prstGeom prst="rect">
            <a:avLst/>
          </a:prstGeom>
          <a:noFill/>
        </p:spPr>
        <p:txBody>
          <a:bodyPr wrap="square" anchor="ctr">
            <a:spAutoFit/>
          </a:bodyPr>
          <a:lstStyle/>
          <a:p>
            <a:pPr algn="l">
              <a:spcAft>
                <a:spcPts val="400"/>
              </a:spcAft>
            </a:pPr>
            <a:r>
              <a:rPr sz="1050" b="0">
                <a:solidFill>
                  <a:srgbClr val="9CDCFE"/>
                </a:solidFill>
                <a:latin typeface="Arial"/>
              </a:rPr>
              <a:t>$ https://www.nist.gov/cyberframework</a:t>
            </a:r>
          </a:p>
        </p:txBody>
      </p:sp>
      <p:sp>
        <p:nvSpPr>
          <p:cNvPr id="14" name="Rectangle 13"/>
          <p:cNvSpPr/>
          <p:nvPr/>
        </p:nvSpPr>
        <p:spPr>
          <a:xfrm>
            <a:off x="777240" y="2673705"/>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673705"/>
            <a:ext cx="82296" cy="82661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2904133"/>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290413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8" name="TextBox 17"/>
          <p:cNvSpPr txBox="1"/>
          <p:nvPr/>
        </p:nvSpPr>
        <p:spPr>
          <a:xfrm>
            <a:off x="1481328" y="2673705"/>
            <a:ext cx="9692640" cy="826617"/>
          </a:xfrm>
          <a:prstGeom prst="rect">
            <a:avLst/>
          </a:prstGeom>
          <a:noFill/>
        </p:spPr>
        <p:txBody>
          <a:bodyPr wrap="square" anchor="ctr">
            <a:spAutoFit/>
          </a:bodyPr>
          <a:lstStyle/>
          <a:p>
            <a:pPr algn="l">
              <a:spcAft>
                <a:spcPts val="400"/>
              </a:spcAft>
            </a:pPr>
            <a:r>
              <a:rPr sz="850" b="0">
                <a:solidFill>
                  <a:srgbClr val="161B26"/>
                </a:solidFill>
                <a:latin typeface="Arial"/>
              </a:rPr>
              <a:t>Fill the thinnest function with at least one concrete control. Most first-draft plans are heavy on Protect and empty on Recover.</a:t>
            </a:r>
          </a:p>
        </p:txBody>
      </p:sp>
      <p:sp>
        <p:nvSpPr>
          <p:cNvPr id="19" name="Rectangle 18"/>
          <p:cNvSpPr/>
          <p:nvPr/>
        </p:nvSpPr>
        <p:spPr>
          <a:xfrm>
            <a:off x="777240" y="3591762"/>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591762"/>
            <a:ext cx="82296" cy="82661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3822190"/>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382219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23" name="TextBox 22"/>
          <p:cNvSpPr txBox="1"/>
          <p:nvPr/>
        </p:nvSpPr>
        <p:spPr>
          <a:xfrm>
            <a:off x="1481328" y="3591762"/>
            <a:ext cx="9692640" cy="826617"/>
          </a:xfrm>
          <a:prstGeom prst="rect">
            <a:avLst/>
          </a:prstGeom>
          <a:noFill/>
        </p:spPr>
        <p:txBody>
          <a:bodyPr wrap="square" anchor="ctr">
            <a:spAutoFit/>
          </a:bodyPr>
          <a:lstStyle/>
          <a:p>
            <a:pPr algn="l">
              <a:spcAft>
                <a:spcPts val="400"/>
              </a:spcAft>
            </a:pPr>
            <a:r>
              <a:rPr sz="850" b="0">
                <a:solidFill>
                  <a:srgbClr val="161B26"/>
                </a:solidFill>
                <a:latin typeface="Arial"/>
              </a:rPr>
              <a:t>Set the monitoring cadence: which risks are reviewed monthly, which quarterly, and what event forces an out-of-cycle review.</a:t>
            </a:r>
          </a:p>
        </p:txBody>
      </p:sp>
      <p:sp>
        <p:nvSpPr>
          <p:cNvPr id="24" name="Rectangle 23"/>
          <p:cNvSpPr/>
          <p:nvPr/>
        </p:nvSpPr>
        <p:spPr>
          <a:xfrm>
            <a:off x="777240" y="4509819"/>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4509819"/>
            <a:ext cx="82296" cy="82661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9264" y="4740247"/>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 y="4740247"/>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28" name="TextBox 27"/>
          <p:cNvSpPr txBox="1"/>
          <p:nvPr/>
        </p:nvSpPr>
        <p:spPr>
          <a:xfrm>
            <a:off x="1481328" y="4564683"/>
            <a:ext cx="9692640" cy="329184"/>
          </a:xfrm>
          <a:prstGeom prst="rect">
            <a:avLst/>
          </a:prstGeom>
          <a:noFill/>
        </p:spPr>
        <p:txBody>
          <a:bodyPr wrap="square" anchor="ctr">
            <a:spAutoFit/>
          </a:bodyPr>
          <a:lstStyle/>
          <a:p>
            <a:pPr algn="l">
              <a:spcAft>
                <a:spcPts val="400"/>
              </a:spcAft>
            </a:pPr>
            <a:r>
              <a:rPr sz="850" b="1">
                <a:solidFill>
                  <a:srgbClr val="161B26"/>
                </a:solidFill>
                <a:latin typeface="Arial"/>
              </a:rPr>
              <a:t>Ask your AI assistant to draft a one-page management summary of the plan for a non-technical audience.</a:t>
            </a:r>
          </a:p>
        </p:txBody>
      </p:sp>
      <p:sp>
        <p:nvSpPr>
          <p:cNvPr id="29" name="Rectangle 28"/>
          <p:cNvSpPr/>
          <p:nvPr/>
        </p:nvSpPr>
        <p:spPr>
          <a:xfrm>
            <a:off x="1481328" y="4930443"/>
            <a:ext cx="9601200" cy="31455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627632" y="4930443"/>
            <a:ext cx="9326880" cy="314553"/>
          </a:xfrm>
          <a:prstGeom prst="rect">
            <a:avLst/>
          </a:prstGeom>
          <a:noFill/>
        </p:spPr>
        <p:txBody>
          <a:bodyPr wrap="square" anchor="ctr">
            <a:spAutoFit/>
          </a:bodyPr>
          <a:lstStyle/>
          <a:p>
            <a:pPr algn="l">
              <a:spcAft>
                <a:spcPts val="400"/>
              </a:spcAft>
            </a:pPr>
            <a:r>
              <a:rPr sz="850" b="0">
                <a:solidFill>
                  <a:srgbClr val="9CDCFE"/>
                </a:solidFill>
                <a:latin typeface="Arial"/>
              </a:rPr>
              <a:t>$ Prompt: 'Summarise this risk management plan for a non-technical executive in under 400 words: the top three exposures in business terms, what we are doing about each, what it needs, and what happens if we do nothing. No jargon.'</a:t>
            </a:r>
          </a:p>
        </p:txBody>
      </p:sp>
      <p:sp>
        <p:nvSpPr>
          <p:cNvPr id="31" name="Rectangle 30"/>
          <p:cNvSpPr/>
          <p:nvPr/>
        </p:nvSpPr>
        <p:spPr>
          <a:xfrm>
            <a:off x="777240" y="5427876"/>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427876"/>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69264" y="565830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9264" y="565830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35" name="TextBox 34"/>
          <p:cNvSpPr txBox="1"/>
          <p:nvPr/>
        </p:nvSpPr>
        <p:spPr>
          <a:xfrm>
            <a:off x="1481328" y="5427876"/>
            <a:ext cx="9692640" cy="826617"/>
          </a:xfrm>
          <a:prstGeom prst="rect">
            <a:avLst/>
          </a:prstGeom>
          <a:noFill/>
        </p:spPr>
        <p:txBody>
          <a:bodyPr wrap="square" anchor="ctr">
            <a:spAutoFit/>
          </a:bodyPr>
          <a:lstStyle/>
          <a:p>
            <a:pPr algn="l">
              <a:spcAft>
                <a:spcPts val="400"/>
              </a:spcAft>
            </a:pPr>
            <a:r>
              <a:rPr sz="850" b="0">
                <a:solidFill>
                  <a:srgbClr val="161B26"/>
                </a:solidFill>
                <a:latin typeface="Arial"/>
              </a:rPr>
              <a:t>Edit the draft hard. Cut anything the register does not support, and add the one thing the AI could not know — what this actually costs and who has to approve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fast" advClick="1">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Develop the Risk Management Plan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Every risk carries a treatment, and every Mitigate carries a named control, an owner, a date and a testable success criterion. Your NIST CSF map has at least one control under all six functions, and the management summary states the top three exposures in business language without jargon.</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Everything is Mitigate</a:t>
            </a:r>
          </a:p>
        </p:txBody>
      </p:sp>
      <p:sp>
        <p:nvSpPr>
          <p:cNvPr id="15" name="TextBox 14"/>
          <p:cNvSpPr txBox="1"/>
          <p:nvPr/>
        </p:nvSpPr>
        <p:spPr>
          <a:xfrm>
            <a:off x="996696"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some risks are genuinely cheaper to accept or transfer; a plan that mitigates everything will be funded for nothing.</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Success criteria are unverifiable</a:t>
            </a:r>
          </a:p>
        </p:txBody>
      </p:sp>
      <p:sp>
        <p:nvSpPr>
          <p:cNvPr id="19" name="TextBox 18"/>
          <p:cNvSpPr txBox="1"/>
          <p:nvPr/>
        </p:nvSpPr>
        <p:spPr>
          <a:xfrm>
            <a:off x="4617720"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rewrite each one as a test someone could run.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Recover is empty</a:t>
            </a:r>
          </a:p>
        </p:txBody>
      </p:sp>
      <p:sp>
        <p:nvSpPr>
          <p:cNvPr id="23" name="TextBox 22"/>
          <p:cNvSpPr txBox="1"/>
          <p:nvPr/>
        </p:nvSpPr>
        <p:spPr>
          <a:xfrm>
            <a:off x="8238744"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add backup restoration testing.</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fast" advClick="1">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Topic 02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Lab 4 — Build an Asset Register and Classify What Needs Protecting</a:t>
            </a:r>
          </a:p>
          <a:p>
            <a:pPr algn="l">
              <a:spcAft>
                <a:spcPts val="300"/>
              </a:spcAft>
            </a:pPr>
            <a:r>
              <a:rPr sz="1200" b="0">
                <a:solidFill>
                  <a:srgbClr val="5B6372"/>
                </a:solidFill>
                <a:latin typeface="Arial"/>
              </a:rPr>
              <a:t>Determine which organisational assets require protection, and defend the classification with a business impact judgement rather than a gut feeling.</a:t>
            </a:r>
          </a:p>
        </p:txBody>
      </p:sp>
      <p:sp>
        <p:nvSpPr>
          <p:cNvPr id="12" name="Rectangle 11"/>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447288"/>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Lab 5 — AI-Assisted Risk Scoring and the Risk Register</a:t>
            </a:r>
          </a:p>
          <a:p>
            <a:pPr algn="l">
              <a:spcAft>
                <a:spcPts val="300"/>
              </a:spcAft>
            </a:pPr>
            <a:r>
              <a:rPr sz="1200" b="0">
                <a:solidFill>
                  <a:srgbClr val="5B6372"/>
                </a:solidFill>
                <a:latin typeface="Arial"/>
              </a:rPr>
              <a:t>Combine the asset register and the vulnerability worklist into a scored risk register, using AI to sharpen the likelihood estimate.</a:t>
            </a:r>
          </a:p>
        </p:txBody>
      </p:sp>
      <p:sp>
        <p:nvSpPr>
          <p:cNvPr id="17" name="Rectangle 16"/>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983480"/>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Lab 6 — Develop the Risk Management Plan</a:t>
            </a:r>
          </a:p>
          <a:p>
            <a:pPr algn="l">
              <a:spcAft>
                <a:spcPts val="300"/>
              </a:spcAft>
            </a:pPr>
            <a:r>
              <a:rPr sz="1200" b="0">
                <a:solidFill>
                  <a:srgbClr val="5B6372"/>
                </a:solidFill>
                <a:latin typeface="Arial"/>
              </a:rPr>
              <a:t>Turn the scored register into a risk management plan with treatments, owners, dates and a monitoring cadence that survives contact with reality.</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fast" advClick="1">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Designing and Implementing AI-Enhanced Network Security Measures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Defence in depth · planning/building/management phases · segmentation &amp; zero trust · AI firewalls, IDS/IPS, NAC · AI security itself</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med" advClick="1">
    <p:push dir="l"/>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03 · ROADMAP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Topic 03 — What It Covers and How It Is Assessed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Learning outcome</a:t>
            </a:r>
          </a:p>
          <a:p>
            <a:pPr algn="l">
              <a:spcAft>
                <a:spcPts val="300"/>
              </a:spcAft>
            </a:pPr>
            <a:r>
              <a:rPr sz="1100" b="0">
                <a:solidFill>
                  <a:srgbClr val="5B6372"/>
                </a:solidFill>
                <a:latin typeface="Arial"/>
              </a:rPr>
              <a:t>LO3 — Design and implement security measures for network components by managing security phases.</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Knowledge assessed (WA-SAQ)</a:t>
            </a:r>
          </a:p>
          <a:p>
            <a:pPr algn="l">
              <a:spcAft>
                <a:spcPts val="300"/>
              </a:spcAft>
            </a:pPr>
            <a:r>
              <a:rPr sz="1100" b="0">
                <a:solidFill>
                  <a:srgbClr val="5B6372"/>
                </a:solidFill>
                <a:latin typeface="Arial"/>
              </a:rPr>
              <a:t>K3: Types and techniques of network security measures</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Abilities assessed (Case Study)</a:t>
            </a:r>
          </a:p>
          <a:p>
            <a:pPr algn="l">
              <a:spcAft>
                <a:spcPts val="300"/>
              </a:spcAft>
            </a:pPr>
            <a:r>
              <a:rPr sz="1100" b="0">
                <a:solidFill>
                  <a:srgbClr val="5B6372"/>
                </a:solidFill>
                <a:latin typeface="Arial"/>
              </a:rPr>
              <a:t>A5: Define planning, building and management phases for network security design · A6: Develop security measures for network components · A7: Design auditing and incident response procedures</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Hands-on labs</a:t>
            </a:r>
          </a:p>
          <a:p>
            <a:pPr algn="l">
              <a:spcAft>
                <a:spcPts val="300"/>
              </a:spcAft>
            </a:pPr>
            <a:r>
              <a:rPr sz="1100" b="0">
                <a:solidFill>
                  <a:srgbClr val="5B6372"/>
                </a:solidFill>
                <a:latin typeface="Arial"/>
              </a:rPr>
              <a:t>Labs 7, 8, 9 — 30% of course time.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fast" advClick="1">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30%</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Topic 03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Defence in depth layers physical, technical and administrative controls so that the failure of any single control does not become a breach.</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Network security design runs in three phases — planning (requirements, risk, architecture), building (configure, harden, test) and management (monitor, tune, review).</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Segmentation and zero trust shrink the blast radius: VLANs, DMZs and micro-segmentation stop lateral movement, and 'never trust, always verify' removes implicit network trust.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fast" advClick="1">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30%</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Topic 03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AI-powered firewalls and NGFW policy engines adapt rule sets to observed traffic instead of relying purely on static, hand-written rules.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AI-enhanced IDS/IPS, UEBA and adaptive access control score every session on device, behaviour, location and time, and step up authentication when risk rises.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The AI you deploy is itself an asset to defend — NIST AI 100-2 catalogues evasion, poisoning, privacy and misuse attacks, and the NSA/CISA guidance tells you how to deploy AI securely.</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fast" advClick="1">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K3 · LAYERING THE CONTROLS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Defence in Depth — the Three Control Categories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Physical controls</a:t>
            </a:r>
          </a:p>
          <a:p>
            <a:pPr algn="l">
              <a:spcAft>
                <a:spcPts val="300"/>
              </a:spcAft>
            </a:pPr>
            <a:r>
              <a:rPr sz="1100" b="0">
                <a:solidFill>
                  <a:srgbClr val="5B6372"/>
                </a:solidFill>
                <a:latin typeface="Arial"/>
              </a:rPr>
              <a:t>Locks, badge access, CCTV, secure racks and cable management. If someone can touch the switch, the rest is negotiable.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Technical controls</a:t>
            </a:r>
          </a:p>
          <a:p>
            <a:pPr algn="l">
              <a:spcAft>
                <a:spcPts val="300"/>
              </a:spcAft>
            </a:pPr>
            <a:r>
              <a:rPr sz="1100" b="0">
                <a:solidFill>
                  <a:srgbClr val="5B6372"/>
                </a:solidFill>
                <a:latin typeface="Arial"/>
              </a:rPr>
              <a:t>Firewalls, IDS/IPS, encryption, authentication, endpoint protection, segmentation — the controls this course configures.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Administrative controls</a:t>
            </a:r>
          </a:p>
          <a:p>
            <a:pPr algn="l">
              <a:spcAft>
                <a:spcPts val="300"/>
              </a:spcAft>
            </a:pPr>
            <a:r>
              <a:rPr sz="1100" b="0">
                <a:solidFill>
                  <a:srgbClr val="5B6372"/>
                </a:solidFill>
                <a:latin typeface="Arial"/>
              </a:rPr>
              <a:t>Policies, standards, procedures, training and review. These are what keep the technical controls correct over time.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Preventive</a:t>
            </a:r>
          </a:p>
          <a:p>
            <a:pPr algn="l">
              <a:spcAft>
                <a:spcPts val="300"/>
              </a:spcAft>
            </a:pPr>
            <a:r>
              <a:rPr sz="1100" b="0">
                <a:solidFill>
                  <a:srgbClr val="5B6372"/>
                </a:solidFill>
                <a:latin typeface="Arial"/>
              </a:rPr>
              <a:t>Stops the event happening — a firewall rule, an access control, patching.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Detective</a:t>
            </a:r>
          </a:p>
          <a:p>
            <a:pPr algn="l">
              <a:spcAft>
                <a:spcPts val="300"/>
              </a:spcAft>
            </a:pPr>
            <a:r>
              <a:rPr sz="1100" b="0">
                <a:solidFill>
                  <a:srgbClr val="5B6372"/>
                </a:solidFill>
                <a:latin typeface="Arial"/>
              </a:rPr>
              <a:t>Notices that it happened — logging, IDS, anomaly detection, audit.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Corrective</a:t>
            </a:r>
          </a:p>
          <a:p>
            <a:pPr algn="l">
              <a:spcAft>
                <a:spcPts val="300"/>
              </a:spcAft>
            </a:pPr>
            <a:r>
              <a:rPr sz="1100" b="0">
                <a:solidFill>
                  <a:srgbClr val="5B6372"/>
                </a:solidFill>
                <a:latin typeface="Arial"/>
              </a:rPr>
              <a:t>Restores after it happened — backups, failover, the incident response playbook.</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fast" advClick="1">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A5 · THE PHASE MODEL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Three Phases of Network Security Design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328879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328879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13817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3817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3032760" cy="411480"/>
          </a:xfrm>
          <a:prstGeom prst="rect">
            <a:avLst/>
          </a:prstGeom>
          <a:noFill/>
        </p:spPr>
        <p:txBody>
          <a:bodyPr wrap="square" anchor="ctr">
            <a:spAutoFit/>
          </a:bodyPr>
          <a:lstStyle/>
          <a:p>
            <a:pPr algn="ctr">
              <a:spcAft>
                <a:spcPts val="0"/>
              </a:spcAft>
            </a:pPr>
            <a:r>
              <a:rPr sz="1300" b="1">
                <a:solidFill>
                  <a:srgbClr val="161B26"/>
                </a:solidFill>
                <a:latin typeface="Arial"/>
              </a:rPr>
              <a:t>Planning</a:t>
            </a:r>
          </a:p>
        </p:txBody>
      </p:sp>
      <p:sp>
        <p:nvSpPr>
          <p:cNvPr id="12" name="TextBox 11"/>
          <p:cNvSpPr txBox="1"/>
          <p:nvPr/>
        </p:nvSpPr>
        <p:spPr>
          <a:xfrm>
            <a:off x="868680" y="3584448"/>
            <a:ext cx="3105912" cy="658368"/>
          </a:xfrm>
          <a:prstGeom prst="rect">
            <a:avLst/>
          </a:prstGeom>
          <a:noFill/>
        </p:spPr>
        <p:txBody>
          <a:bodyPr wrap="square" anchor="ctr">
            <a:spAutoFit/>
          </a:bodyPr>
          <a:lstStyle/>
          <a:p>
            <a:pPr algn="ctr">
              <a:spcAft>
                <a:spcPts val="0"/>
              </a:spcAft>
            </a:pPr>
            <a:r>
              <a:rPr sz="950" b="0">
                <a:solidFill>
                  <a:srgbClr val="5B6372"/>
                </a:solidFill>
                <a:latin typeface="Arial"/>
              </a:rPr>
              <a:t>Requirements, risk, constraints, zones</a:t>
            </a:r>
          </a:p>
        </p:txBody>
      </p:sp>
      <p:cxnSp>
        <p:nvCxnSpPr>
          <p:cNvPr id="13" name="Connector 12"/>
          <p:cNvCxnSpPr/>
          <p:nvPr/>
        </p:nvCxnSpPr>
        <p:spPr>
          <a:xfrm>
            <a:off x="412089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450080" y="2148840"/>
            <a:ext cx="328879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50080" y="2148840"/>
            <a:ext cx="328879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4578096" y="3118104"/>
            <a:ext cx="3032760" cy="411480"/>
          </a:xfrm>
          <a:prstGeom prst="rect">
            <a:avLst/>
          </a:prstGeom>
          <a:noFill/>
        </p:spPr>
        <p:txBody>
          <a:bodyPr wrap="square" anchor="ctr">
            <a:spAutoFit/>
          </a:bodyPr>
          <a:lstStyle/>
          <a:p>
            <a:pPr algn="ctr">
              <a:spcAft>
                <a:spcPts val="0"/>
              </a:spcAft>
            </a:pPr>
            <a:r>
              <a:rPr sz="1300" b="1">
                <a:solidFill>
                  <a:srgbClr val="161B26"/>
                </a:solidFill>
                <a:latin typeface="Arial"/>
              </a:rPr>
              <a:t>Building</a:t>
            </a:r>
          </a:p>
        </p:txBody>
      </p:sp>
      <p:sp>
        <p:nvSpPr>
          <p:cNvPr id="19" name="TextBox 18"/>
          <p:cNvSpPr txBox="1"/>
          <p:nvPr/>
        </p:nvSpPr>
        <p:spPr>
          <a:xfrm>
            <a:off x="4541520" y="3584448"/>
            <a:ext cx="3105912" cy="658368"/>
          </a:xfrm>
          <a:prstGeom prst="rect">
            <a:avLst/>
          </a:prstGeom>
          <a:noFill/>
        </p:spPr>
        <p:txBody>
          <a:bodyPr wrap="square" anchor="ctr">
            <a:spAutoFit/>
          </a:bodyPr>
          <a:lstStyle/>
          <a:p>
            <a:pPr algn="ctr">
              <a:spcAft>
                <a:spcPts val="0"/>
              </a:spcAft>
            </a:pPr>
            <a:r>
              <a:rPr sz="950" b="0">
                <a:solidFill>
                  <a:srgbClr val="5B6372"/>
                </a:solidFill>
                <a:latin typeface="Arial"/>
              </a:rPr>
              <a:t>Configure, harden, segment, test</a:t>
            </a:r>
          </a:p>
        </p:txBody>
      </p:sp>
      <p:cxnSp>
        <p:nvCxnSpPr>
          <p:cNvPr id="20" name="Connector 19"/>
          <p:cNvCxnSpPr/>
          <p:nvPr/>
        </p:nvCxnSpPr>
        <p:spPr>
          <a:xfrm>
            <a:off x="779373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122920" y="2148840"/>
            <a:ext cx="328879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22920" y="2148840"/>
            <a:ext cx="328879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48385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8385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8250936" y="3118104"/>
            <a:ext cx="3032760" cy="411480"/>
          </a:xfrm>
          <a:prstGeom prst="rect">
            <a:avLst/>
          </a:prstGeom>
          <a:noFill/>
        </p:spPr>
        <p:txBody>
          <a:bodyPr wrap="square" anchor="ctr">
            <a:spAutoFit/>
          </a:bodyPr>
          <a:lstStyle/>
          <a:p>
            <a:pPr algn="ctr">
              <a:spcAft>
                <a:spcPts val="0"/>
              </a:spcAft>
            </a:pPr>
            <a:r>
              <a:rPr sz="1300" b="1">
                <a:solidFill>
                  <a:srgbClr val="161B26"/>
                </a:solidFill>
                <a:latin typeface="Arial"/>
              </a:rPr>
              <a:t>Management</a:t>
            </a:r>
          </a:p>
        </p:txBody>
      </p:sp>
      <p:sp>
        <p:nvSpPr>
          <p:cNvPr id="26" name="TextBox 25"/>
          <p:cNvSpPr txBox="1"/>
          <p:nvPr/>
        </p:nvSpPr>
        <p:spPr>
          <a:xfrm>
            <a:off x="8214360" y="3584448"/>
            <a:ext cx="3105912" cy="658368"/>
          </a:xfrm>
          <a:prstGeom prst="rect">
            <a:avLst/>
          </a:prstGeom>
          <a:noFill/>
        </p:spPr>
        <p:txBody>
          <a:bodyPr wrap="square" anchor="ctr">
            <a:spAutoFit/>
          </a:bodyPr>
          <a:lstStyle/>
          <a:p>
            <a:pPr algn="ctr">
              <a:spcAft>
                <a:spcPts val="0"/>
              </a:spcAft>
            </a:pPr>
            <a:r>
              <a:rPr sz="950" b="0">
                <a:solidFill>
                  <a:srgbClr val="5B6372"/>
                </a:solidFill>
                <a:latin typeface="Arial"/>
              </a:rPr>
              <a:t>Monitor, tune, review, change control</a:t>
            </a:r>
          </a:p>
        </p:txBody>
      </p:sp>
      <p:sp>
        <p:nvSpPr>
          <p:cNvPr id="27" name="Rectangle 26"/>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A5 IN ONE LINE</a:t>
            </a:r>
          </a:p>
        </p:txBody>
      </p:sp>
      <p:sp>
        <p:nvSpPr>
          <p:cNvPr id="30" name="TextBox 29"/>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Define what the design must achieve (planning), make it real and prove it works (building), and keep it correct as the network changes (management). A design with no management phase decays within a quarter.</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K3 · SHRINKING THE BLAST RADIUS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Segmentation and Zero Trust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Why segment</a:t>
            </a:r>
          </a:p>
          <a:p>
            <a:pPr algn="l">
              <a:spcAft>
                <a:spcPts val="300"/>
              </a:spcAft>
            </a:pPr>
            <a:r>
              <a:rPr sz="1100" b="0">
                <a:solidFill>
                  <a:srgbClr val="5B6372"/>
                </a:solidFill>
                <a:latin typeface="Arial"/>
              </a:rPr>
              <a:t>A flat network means one compromised laptop can reach the domain controller. Segmentation makes lateral movement expensive.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VLANs and subnets</a:t>
            </a:r>
          </a:p>
          <a:p>
            <a:pPr algn="l">
              <a:spcAft>
                <a:spcPts val="300"/>
              </a:spcAft>
            </a:pPr>
            <a:r>
              <a:rPr sz="1100" b="0">
                <a:solidFill>
                  <a:srgbClr val="5B6372"/>
                </a:solidFill>
                <a:latin typeface="Arial"/>
              </a:rPr>
              <a:t>The basic separation — different departments, different functions, different trust levels.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DMZ</a:t>
            </a:r>
          </a:p>
          <a:p>
            <a:pPr algn="l">
              <a:spcAft>
                <a:spcPts val="300"/>
              </a:spcAft>
            </a:pPr>
            <a:r>
              <a:rPr sz="1100" b="0">
                <a:solidFill>
                  <a:srgbClr val="5B6372"/>
                </a:solidFill>
                <a:latin typeface="Arial"/>
              </a:rPr>
              <a:t>A buffer zone for internet-facing services, so a compromised web server is not inside the internal network.</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Micro-segmentation</a:t>
            </a:r>
          </a:p>
          <a:p>
            <a:pPr algn="l">
              <a:spcAft>
                <a:spcPts val="300"/>
              </a:spcAft>
            </a:pPr>
            <a:r>
              <a:rPr sz="1100" b="0">
                <a:solidFill>
                  <a:srgbClr val="5B6372"/>
                </a:solidFill>
                <a:latin typeface="Arial"/>
              </a:rPr>
              <a:t>Per-workload policy rather than per-subnet — the granular end of the same idea.</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Zero trust</a:t>
            </a:r>
          </a:p>
          <a:p>
            <a:pPr algn="l">
              <a:spcAft>
                <a:spcPts val="300"/>
              </a:spcAft>
            </a:pPr>
            <a:r>
              <a:rPr sz="1100" b="0">
                <a:solidFill>
                  <a:srgbClr val="5B6372"/>
                </a:solidFill>
                <a:latin typeface="Arial"/>
              </a:rPr>
              <a:t>Never trust, always verify. Location on the network stops being a reason to grant access.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Default deny</a:t>
            </a:r>
          </a:p>
          <a:p>
            <a:pPr algn="l">
              <a:spcAft>
                <a:spcPts val="300"/>
              </a:spcAft>
            </a:pPr>
            <a:r>
              <a:rPr sz="1100" b="0">
                <a:solidFill>
                  <a:srgbClr val="5B6372"/>
                </a:solidFill>
                <a:latin typeface="Arial"/>
              </a:rPr>
              <a:t>The rule that makes segmentation real: allow what is explicitly required, block everything else.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fast" advClick="1">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K3 · CONTROLLING WHO GETS IN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Access Control, Authentication and Secure Remote Access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Least privilege</a:t>
            </a:r>
          </a:p>
          <a:p>
            <a:pPr algn="l">
              <a:spcAft>
                <a:spcPts val="300"/>
              </a:spcAft>
            </a:pPr>
            <a:r>
              <a:rPr sz="1100" b="0">
                <a:solidFill>
                  <a:srgbClr val="5B6372"/>
                </a:solidFill>
                <a:latin typeface="Arial"/>
              </a:rPr>
              <a:t>Every account and service gets the minimum access it needs to do its job — and no more. The single most effective limit on what a compromise can reach.</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Access control models</a:t>
            </a:r>
          </a:p>
          <a:p>
            <a:pPr algn="l">
              <a:spcAft>
                <a:spcPts val="300"/>
              </a:spcAft>
            </a:pPr>
            <a:r>
              <a:rPr sz="1100" b="0">
                <a:solidFill>
                  <a:srgbClr val="5B6372"/>
                </a:solidFill>
                <a:latin typeface="Arial"/>
              </a:rPr>
              <a:t>Discretionary (DAC), Role-Based (RBAC) and Attribute-Based (ABAC). RBAC is the practical default: permissions attach to a role, not to a person.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ACLs</a:t>
            </a:r>
          </a:p>
          <a:p>
            <a:pPr algn="l">
              <a:spcAft>
                <a:spcPts val="300"/>
              </a:spcAft>
            </a:pPr>
            <a:r>
              <a:rPr sz="1100" b="0">
                <a:solidFill>
                  <a:srgbClr val="5B6372"/>
                </a:solidFill>
                <a:latin typeface="Arial"/>
              </a:rPr>
              <a:t>Access Control Lists on routers and switches enforce which source may reach which destination on which port — the device-level expression of the zone matrix.</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AAA</a:t>
            </a:r>
          </a:p>
          <a:p>
            <a:pPr algn="l">
              <a:spcAft>
                <a:spcPts val="300"/>
              </a:spcAft>
            </a:pPr>
            <a:r>
              <a:rPr sz="1100" b="0">
                <a:solidFill>
                  <a:srgbClr val="5B6372"/>
                </a:solidFill>
                <a:latin typeface="Arial"/>
              </a:rPr>
              <a:t>Authentication, Authorisation and Accounting via RADIUS or TACACS+ — centralises who may log in, what they may do, and what they did.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Multi-factor authentication (MFA)</a:t>
            </a:r>
          </a:p>
          <a:p>
            <a:pPr algn="l">
              <a:spcAft>
                <a:spcPts val="300"/>
              </a:spcAft>
            </a:pPr>
            <a:r>
              <a:rPr sz="1100" b="0">
                <a:solidFill>
                  <a:srgbClr val="5B6372"/>
                </a:solidFill>
                <a:latin typeface="Arial"/>
              </a:rPr>
              <a:t>Something you know plus something you have or are. It defeats credential stuffing and password reuse, which is how most account takeover starts.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VPN for remote access</a:t>
            </a:r>
          </a:p>
          <a:p>
            <a:pPr algn="l">
              <a:spcAft>
                <a:spcPts val="300"/>
              </a:spcAft>
            </a:pPr>
            <a:r>
              <a:rPr sz="1100" b="0">
                <a:solidFill>
                  <a:srgbClr val="5B6372"/>
                </a:solidFill>
                <a:latin typeface="Arial"/>
              </a:rPr>
              <a:t>An encrypted tunnel over an untrusted network. Terminate it into a restricted zone with individual accounts and MFA — never a shared account into the flat internal network.</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fast" advClick="1">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LO3 · A6 · DEVELOPING THE MEASURES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AI-Enhanced Controls You Will Specify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AI-powered firewall</a:t>
            </a:r>
          </a:p>
          <a:p>
            <a:pPr algn="l">
              <a:spcAft>
                <a:spcPts val="300"/>
              </a:spcAft>
            </a:pPr>
            <a:r>
              <a:rPr sz="1100" b="0">
                <a:solidFill>
                  <a:srgbClr val="5B6372"/>
                </a:solidFill>
                <a:latin typeface="Arial"/>
              </a:rPr>
              <a:t>Adapts rule sets to observed traffic patterns instead of relying purely on static hand-written rules.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AI-enhanced IDS/IPS</a:t>
            </a:r>
          </a:p>
          <a:p>
            <a:pPr algn="l">
              <a:spcAft>
                <a:spcPts val="300"/>
              </a:spcAft>
            </a:pPr>
            <a:r>
              <a:rPr sz="1100" b="0">
                <a:solidFill>
                  <a:srgbClr val="5B6372"/>
                </a:solidFill>
                <a:latin typeface="Arial"/>
              </a:rPr>
              <a:t>Learns normal protocol and volume behaviour per segment, so it flags what a static threshold would miss.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UEBA</a:t>
            </a:r>
          </a:p>
          <a:p>
            <a:pPr algn="l">
              <a:spcAft>
                <a:spcPts val="300"/>
              </a:spcAft>
            </a:pPr>
            <a:r>
              <a:rPr sz="1100" b="0">
                <a:solidFill>
                  <a:srgbClr val="5B6372"/>
                </a:solidFill>
                <a:latin typeface="Arial"/>
              </a:rPr>
              <a:t>User and Entity Behaviour Analytics — profiles each user and device against its own history, not a global norm.</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Adaptive access control</a:t>
            </a:r>
          </a:p>
          <a:p>
            <a:pPr algn="l">
              <a:spcAft>
                <a:spcPts val="300"/>
              </a:spcAft>
            </a:pPr>
            <a:r>
              <a:rPr sz="1100" b="0">
                <a:solidFill>
                  <a:srgbClr val="5B6372"/>
                </a:solidFill>
                <a:latin typeface="Arial"/>
              </a:rPr>
              <a:t>Scores device posture, behaviour, location and time, then steps up authentication or blocks as risk rises.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NAC with AI classification</a:t>
            </a:r>
          </a:p>
          <a:p>
            <a:pPr algn="l">
              <a:spcAft>
                <a:spcPts val="300"/>
              </a:spcAft>
            </a:pPr>
            <a:r>
              <a:rPr sz="1100" b="0">
                <a:solidFill>
                  <a:srgbClr val="5B6372"/>
                </a:solidFill>
                <a:latin typeface="Arial"/>
              </a:rPr>
              <a:t>Fingerprints and classifies devices as they join, so an unknown device does not silently get a trusted VLAN.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AI policy optimisation</a:t>
            </a:r>
          </a:p>
          <a:p>
            <a:pPr algn="l">
              <a:spcAft>
                <a:spcPts val="300"/>
              </a:spcAft>
            </a:pPr>
            <a:r>
              <a:rPr sz="1100" b="0">
                <a:solidFill>
                  <a:srgbClr val="5B6372"/>
                </a:solidFill>
                <a:latin typeface="Arial"/>
              </a:rPr>
              <a:t>Recommends rule changes from observed traffic, and finds the shadowed and over-broad rules humans leave behind.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fast" advClick="1">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LO3 · SECURING THE AI ITSELF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NIST AI 100-2 — Attacks Against AI Systems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Attack class</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What the adversary does</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Against your NDR model</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Primary mitigation</a:t>
            </a:r>
          </a:p>
        </p:txBody>
      </p:sp>
      <p:sp>
        <p:nvSpPr>
          <p:cNvPr id="15" name="Rectangle 14"/>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Evasion</a:t>
            </a:r>
          </a:p>
        </p:txBody>
      </p:sp>
      <p:sp>
        <p:nvSpPr>
          <p:cNvPr id="17" name="Rectangle 16"/>
          <p:cNvSpPr/>
          <p:nvPr/>
        </p:nvSpPr>
        <p:spPr>
          <a:xfrm>
            <a:off x="354220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Crafts input that the deployed model misclassifies</a:t>
            </a:r>
          </a:p>
        </p:txBody>
      </p:sp>
      <p:sp>
        <p:nvSpPr>
          <p:cNvPr id="19" name="Rectangle 18"/>
          <p:cNvSpPr/>
          <p:nvPr/>
        </p:nvSpPr>
        <p:spPr>
          <a:xfrm>
            <a:off x="616537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Slows a scan until it falls inside the baseline</a:t>
            </a:r>
          </a:p>
        </p:txBody>
      </p:sp>
      <p:sp>
        <p:nvSpPr>
          <p:cNvPr id="21" name="Rectangle 20"/>
          <p:cNvSpPr/>
          <p:nvPr/>
        </p:nvSpPr>
        <p:spPr>
          <a:xfrm>
            <a:off x="878854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Adversarial training; ensemble and rate-independent features</a:t>
            </a:r>
          </a:p>
        </p:txBody>
      </p:sp>
      <p:sp>
        <p:nvSpPr>
          <p:cNvPr id="23" name="Rectangle 22"/>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Poisoning</a:t>
            </a:r>
          </a:p>
        </p:txBody>
      </p:sp>
      <p:sp>
        <p:nvSpPr>
          <p:cNvPr id="25" name="Rectangle 24"/>
          <p:cNvSpPr/>
          <p:nvPr/>
        </p:nvSpPr>
        <p:spPr>
          <a:xfrm>
            <a:off x="354220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Corrupts the training data or the model itself</a:t>
            </a:r>
          </a:p>
        </p:txBody>
      </p:sp>
      <p:sp>
        <p:nvSpPr>
          <p:cNvPr id="27" name="Rectangle 26"/>
          <p:cNvSpPr/>
          <p:nvPr/>
        </p:nvSpPr>
        <p:spPr>
          <a:xfrm>
            <a:off x="616537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Seeds 'normal-looking' attack traffic during learning</a:t>
            </a:r>
          </a:p>
        </p:txBody>
      </p:sp>
      <p:sp>
        <p:nvSpPr>
          <p:cNvPr id="29" name="Rectangle 28"/>
          <p:cNvSpPr/>
          <p:nvPr/>
        </p:nvSpPr>
        <p:spPr>
          <a:xfrm>
            <a:off x="878854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Data provenance, integrity verification, anomaly checks on training data</a:t>
            </a:r>
          </a:p>
        </p:txBody>
      </p:sp>
      <p:sp>
        <p:nvSpPr>
          <p:cNvPr id="31" name="Rectangle 30"/>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Privacy</a:t>
            </a:r>
          </a:p>
        </p:txBody>
      </p:sp>
      <p:sp>
        <p:nvSpPr>
          <p:cNvPr id="33" name="Rectangle 32"/>
          <p:cNvSpPr/>
          <p:nvPr/>
        </p:nvSpPr>
        <p:spPr>
          <a:xfrm>
            <a:off x="354220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Extracts training data or model details from outputs</a:t>
            </a:r>
          </a:p>
        </p:txBody>
      </p:sp>
      <p:sp>
        <p:nvSpPr>
          <p:cNvPr id="35" name="Rectangle 34"/>
          <p:cNvSpPr/>
          <p:nvPr/>
        </p:nvSpPr>
        <p:spPr>
          <a:xfrm>
            <a:off x="616537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Infers your network topology from detection behaviour</a:t>
            </a:r>
          </a:p>
        </p:txBody>
      </p:sp>
      <p:sp>
        <p:nvSpPr>
          <p:cNvPr id="37" name="Rectangle 36"/>
          <p:cNvSpPr/>
          <p:nvPr/>
        </p:nvSpPr>
        <p:spPr>
          <a:xfrm>
            <a:off x="878854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Output minimisation, differential privacy, access control</a:t>
            </a:r>
          </a:p>
        </p:txBody>
      </p:sp>
      <p:sp>
        <p:nvSpPr>
          <p:cNvPr id="39" name="Rectangle 38"/>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Misuse (GenAI)</a:t>
            </a:r>
          </a:p>
        </p:txBody>
      </p:sp>
      <p:sp>
        <p:nvSpPr>
          <p:cNvPr id="41" name="Rectangle 40"/>
          <p:cNvSpPr/>
          <p:nvPr/>
        </p:nvSpPr>
        <p:spPr>
          <a:xfrm>
            <a:off x="354220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Abuses a generative model to produce harmful output</a:t>
            </a:r>
          </a:p>
        </p:txBody>
      </p:sp>
      <p:sp>
        <p:nvSpPr>
          <p:cNvPr id="43" name="Rectangle 42"/>
          <p:cNvSpPr/>
          <p:nvPr/>
        </p:nvSpPr>
        <p:spPr>
          <a:xfrm>
            <a:off x="616537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Turns your security copilot into a recon assistant</a:t>
            </a:r>
          </a:p>
        </p:txBody>
      </p:sp>
      <p:sp>
        <p:nvSpPr>
          <p:cNvPr id="45" name="Rectangle 44"/>
          <p:cNvSpPr/>
          <p:nvPr/>
        </p:nvSpPr>
        <p:spPr>
          <a:xfrm>
            <a:off x="878854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Guardrails, prompt filtering, least-privilege tool access</a:t>
            </a:r>
          </a:p>
        </p:txBody>
      </p:sp>
      <p:sp>
        <p:nvSpPr>
          <p:cNvPr id="47" name="Rectangle 4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77240" y="5312664"/>
            <a:ext cx="100584"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F59E0B"/>
                </a:solidFill>
                <a:latin typeface="Arial"/>
              </a:rPr>
              <a:t>WHEN IT MATTERS  </a:t>
            </a:r>
            <a:r>
              <a:rPr sz="1200" b="0">
                <a:solidFill>
                  <a:srgbClr val="161B26"/>
                </a:solidFill>
                <a:latin typeface="Arial"/>
              </a:rPr>
              <a:t>NIST AI 100-2e2025 covers predictive AI (evasion, poisoning, privacy) and adds misuse for generative AI. MITRE ATLAS maps the same ground as adversary tactics and techniques.</a:t>
            </a:r>
          </a:p>
        </p:txBody>
      </p:sp>
      <p:sp>
        <p:nvSpPr>
          <p:cNvPr id="50" name="TextBox 4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51" name="TextBox 5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2" name="TextBox 5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fast" advClick="1">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A7 · THE JOINT GUIDANCE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NSA / CISA — Deploying AI Systems Securely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328879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328879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13817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3817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3032760" cy="411480"/>
          </a:xfrm>
          <a:prstGeom prst="rect">
            <a:avLst/>
          </a:prstGeom>
          <a:noFill/>
        </p:spPr>
        <p:txBody>
          <a:bodyPr wrap="square" anchor="ctr">
            <a:spAutoFit/>
          </a:bodyPr>
          <a:lstStyle/>
          <a:p>
            <a:pPr algn="ctr">
              <a:spcAft>
                <a:spcPts val="0"/>
              </a:spcAft>
            </a:pPr>
            <a:r>
              <a:rPr sz="1300" b="1">
                <a:solidFill>
                  <a:srgbClr val="161B26"/>
                </a:solidFill>
                <a:latin typeface="Arial"/>
              </a:rPr>
              <a:t>Secure the environment</a:t>
            </a:r>
          </a:p>
        </p:txBody>
      </p:sp>
      <p:sp>
        <p:nvSpPr>
          <p:cNvPr id="12" name="TextBox 11"/>
          <p:cNvSpPr txBox="1"/>
          <p:nvPr/>
        </p:nvSpPr>
        <p:spPr>
          <a:xfrm>
            <a:off x="868680" y="3584448"/>
            <a:ext cx="3105912" cy="658368"/>
          </a:xfrm>
          <a:prstGeom prst="rect">
            <a:avLst/>
          </a:prstGeom>
          <a:noFill/>
        </p:spPr>
        <p:txBody>
          <a:bodyPr wrap="square" anchor="ctr">
            <a:spAutoFit/>
          </a:bodyPr>
          <a:lstStyle/>
          <a:p>
            <a:pPr algn="ctr">
              <a:spcAft>
                <a:spcPts val="0"/>
              </a:spcAft>
            </a:pPr>
            <a:r>
              <a:rPr sz="950" b="0">
                <a:solidFill>
                  <a:srgbClr val="5B6372"/>
                </a:solidFill>
                <a:latin typeface="Arial"/>
              </a:rPr>
              <a:t>Governance, architecture, hardened config</a:t>
            </a:r>
          </a:p>
        </p:txBody>
      </p:sp>
      <p:cxnSp>
        <p:nvCxnSpPr>
          <p:cNvPr id="13" name="Connector 12"/>
          <p:cNvCxnSpPr/>
          <p:nvPr/>
        </p:nvCxnSpPr>
        <p:spPr>
          <a:xfrm>
            <a:off x="4120896"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450080" y="2148840"/>
            <a:ext cx="328879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50080" y="2148840"/>
            <a:ext cx="328879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4578096" y="3118104"/>
            <a:ext cx="3032760" cy="411480"/>
          </a:xfrm>
          <a:prstGeom prst="rect">
            <a:avLst/>
          </a:prstGeom>
          <a:noFill/>
        </p:spPr>
        <p:txBody>
          <a:bodyPr wrap="square" anchor="ctr">
            <a:spAutoFit/>
          </a:bodyPr>
          <a:lstStyle/>
          <a:p>
            <a:pPr algn="ctr">
              <a:spcAft>
                <a:spcPts val="0"/>
              </a:spcAft>
            </a:pPr>
            <a:r>
              <a:rPr sz="1300" b="1">
                <a:solidFill>
                  <a:srgbClr val="161B26"/>
                </a:solidFill>
                <a:latin typeface="Arial"/>
              </a:rPr>
              <a:t>Protect the AI system</a:t>
            </a:r>
          </a:p>
        </p:txBody>
      </p:sp>
      <p:sp>
        <p:nvSpPr>
          <p:cNvPr id="19" name="TextBox 18"/>
          <p:cNvSpPr txBox="1"/>
          <p:nvPr/>
        </p:nvSpPr>
        <p:spPr>
          <a:xfrm>
            <a:off x="4541520" y="3584448"/>
            <a:ext cx="3105912" cy="658368"/>
          </a:xfrm>
          <a:prstGeom prst="rect">
            <a:avLst/>
          </a:prstGeom>
          <a:noFill/>
        </p:spPr>
        <p:txBody>
          <a:bodyPr wrap="square" anchor="ctr">
            <a:spAutoFit/>
          </a:bodyPr>
          <a:lstStyle/>
          <a:p>
            <a:pPr algn="ctr">
              <a:spcAft>
                <a:spcPts val="0"/>
              </a:spcAft>
            </a:pPr>
            <a:r>
              <a:rPr sz="950" b="0">
                <a:solidFill>
                  <a:srgbClr val="5B6372"/>
                </a:solidFill>
                <a:latin typeface="Arial"/>
              </a:rPr>
              <a:t>Validate, encrypt, control access, monitor</a:t>
            </a:r>
          </a:p>
        </p:txBody>
      </p:sp>
      <p:cxnSp>
        <p:nvCxnSpPr>
          <p:cNvPr id="20" name="Connector 19"/>
          <p:cNvCxnSpPr/>
          <p:nvPr/>
        </p:nvCxnSpPr>
        <p:spPr>
          <a:xfrm>
            <a:off x="7793736"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122920" y="2148840"/>
            <a:ext cx="328879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22920" y="2148840"/>
            <a:ext cx="328879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48385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8385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8250936" y="3118104"/>
            <a:ext cx="3032760" cy="411480"/>
          </a:xfrm>
          <a:prstGeom prst="rect">
            <a:avLst/>
          </a:prstGeom>
          <a:noFill/>
        </p:spPr>
        <p:txBody>
          <a:bodyPr wrap="square" anchor="ctr">
            <a:spAutoFit/>
          </a:bodyPr>
          <a:lstStyle/>
          <a:p>
            <a:pPr algn="ctr">
              <a:spcAft>
                <a:spcPts val="0"/>
              </a:spcAft>
            </a:pPr>
            <a:r>
              <a:rPr sz="1300" b="1">
                <a:solidFill>
                  <a:srgbClr val="161B26"/>
                </a:solidFill>
                <a:latin typeface="Arial"/>
              </a:rPr>
              <a:t>Secure operation &amp; maintenance</a:t>
            </a:r>
          </a:p>
        </p:txBody>
      </p:sp>
      <p:sp>
        <p:nvSpPr>
          <p:cNvPr id="26" name="TextBox 25"/>
          <p:cNvSpPr txBox="1"/>
          <p:nvPr/>
        </p:nvSpPr>
        <p:spPr>
          <a:xfrm>
            <a:off x="8214360" y="3584448"/>
            <a:ext cx="3105912" cy="658368"/>
          </a:xfrm>
          <a:prstGeom prst="rect">
            <a:avLst/>
          </a:prstGeom>
          <a:noFill/>
        </p:spPr>
        <p:txBody>
          <a:bodyPr wrap="square" anchor="ctr">
            <a:spAutoFit/>
          </a:bodyPr>
          <a:lstStyle/>
          <a:p>
            <a:pPr algn="ctr">
              <a:spcAft>
                <a:spcPts val="0"/>
              </a:spcAft>
            </a:pPr>
            <a:r>
              <a:rPr sz="950" b="0">
                <a:solidFill>
                  <a:srgbClr val="5B6372"/>
                </a:solidFill>
                <a:latin typeface="Arial"/>
              </a:rPr>
              <a:t>Audit, update, respond, retire safely</a:t>
            </a:r>
          </a:p>
        </p:txBody>
      </p:sp>
      <p:sp>
        <p:nvSpPr>
          <p:cNvPr id="27" name="Rectangle 26"/>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THREE CATEGORIES</a:t>
            </a:r>
          </a:p>
        </p:txBody>
      </p:sp>
      <p:sp>
        <p:nvSpPr>
          <p:cNvPr id="30" name="TextBox 29"/>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The April 2024 joint Cybersecurity Information Sheet from NSA, CISA, FBI and international partners organises AI deployment security into these three stages. Lab 9 turns them into your hardening checklist.</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CISA / NSA AI DATA SECURITY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Protecting the Data Your AI Learns From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Provenance tracking</a:t>
            </a:r>
          </a:p>
          <a:p>
            <a:pPr algn="l">
              <a:spcAft>
                <a:spcPts val="300"/>
              </a:spcAft>
            </a:pPr>
            <a:r>
              <a:rPr sz="1100" b="0">
                <a:solidFill>
                  <a:srgbClr val="5B6372"/>
                </a:solidFill>
                <a:latin typeface="Arial"/>
              </a:rPr>
              <a:t>Record where every dataset came from — cryptographically signed, append-only ledgers where the stakes justify it.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Integrity verification</a:t>
            </a:r>
          </a:p>
          <a:p>
            <a:pPr algn="l">
              <a:spcAft>
                <a:spcPts val="300"/>
              </a:spcAft>
            </a:pPr>
            <a:r>
              <a:rPr sz="1100" b="0">
                <a:solidFill>
                  <a:srgbClr val="5B6372"/>
                </a:solidFill>
                <a:latin typeface="Arial"/>
              </a:rPr>
              <a:t>Cryptographic hashes and checksums on data at rest and in transit, so silent corruption is detectable.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Digital signatures</a:t>
            </a:r>
          </a:p>
          <a:p>
            <a:pPr algn="l">
              <a:spcAft>
                <a:spcPts val="300"/>
              </a:spcAft>
            </a:pPr>
            <a:r>
              <a:rPr sz="1100" b="0">
                <a:solidFill>
                  <a:srgbClr val="5B6372"/>
                </a:solidFill>
                <a:latin typeface="Arial"/>
              </a:rPr>
              <a:t>Sign dataset revisions so an unauthorised change to training data cannot pass unnoticed.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Classification &amp; access control</a:t>
            </a:r>
          </a:p>
          <a:p>
            <a:pPr algn="l">
              <a:spcAft>
                <a:spcPts val="300"/>
              </a:spcAft>
            </a:pPr>
            <a:r>
              <a:rPr sz="1100" b="0">
                <a:solidFill>
                  <a:srgbClr val="5B6372"/>
                </a:solidFill>
                <a:latin typeface="Arial"/>
              </a:rPr>
              <a:t>Apply sensitivity-based access to training data, exactly as you would to production data.</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Encryption</a:t>
            </a:r>
          </a:p>
          <a:p>
            <a:pPr algn="l">
              <a:spcAft>
                <a:spcPts val="300"/>
              </a:spcAft>
            </a:pPr>
            <a:r>
              <a:rPr sz="1100" b="0">
                <a:solidFill>
                  <a:srgbClr val="5B6372"/>
                </a:solidFill>
                <a:latin typeface="Arial"/>
              </a:rPr>
              <a:t>Strong encryption in transit and at rest across every stage of the pipeline, not only the final store.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Continuous assessment</a:t>
            </a:r>
          </a:p>
          <a:p>
            <a:pPr algn="l">
              <a:spcAft>
                <a:spcPts val="300"/>
              </a:spcAft>
            </a:pPr>
            <a:r>
              <a:rPr sz="1100" b="0">
                <a:solidFill>
                  <a:srgbClr val="5B6372"/>
                </a:solidFill>
                <a:latin typeface="Arial"/>
              </a:rPr>
              <a:t>Re-assess data risk on a schedule — data drift degrades a model quietly, without any alert firing.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fast" advClick="1">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Hands-On Labs — Topic 03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7</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Design the Layered Architecture Across the Three Security Phases</a:t>
            </a:r>
          </a:p>
          <a:p>
            <a:pPr>
              <a:spcAft>
                <a:spcPts val="900"/>
              </a:spcAft>
            </a:pPr>
            <a:r>
              <a:rPr sz="1400" b="0">
                <a:solidFill>
                  <a:srgbClr val="161B26"/>
                </a:solidFill>
                <a:latin typeface="Arial"/>
              </a:rPr>
              <a:t>•  </a:t>
            </a:r>
          </a:p>
          <a:p>
            <a:pPr>
              <a:spcAft>
                <a:spcPts val="900"/>
              </a:spcAft>
            </a:pPr>
            <a:r>
              <a:rPr sz="1400" b="0">
                <a:solidFill>
                  <a:srgbClr val="161B26"/>
                </a:solidFill>
                <a:latin typeface="Arial"/>
              </a:rPr>
              <a:t>•  Define the planning, building and management phases for a network security design, and express the design as layered def</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8</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Implement AI-Enhanced Controls — Firewall Policy, IDS and Adaptive Access</a:t>
            </a:r>
          </a:p>
          <a:p>
            <a:pPr>
              <a:spcAft>
                <a:spcPts val="900"/>
              </a:spcAft>
            </a:pPr>
            <a:r>
              <a:rPr sz="1400" b="0">
                <a:solidFill>
                  <a:srgbClr val="161B26"/>
                </a:solidFill>
                <a:latin typeface="Arial"/>
              </a:rPr>
              <a:t>•  </a:t>
            </a:r>
          </a:p>
          <a:p>
            <a:pPr>
              <a:spcAft>
                <a:spcPts val="900"/>
              </a:spcAft>
            </a:pPr>
            <a:r>
              <a:rPr sz="1400" b="0">
                <a:solidFill>
                  <a:srgbClr val="161B26"/>
                </a:solidFill>
                <a:latin typeface="Arial"/>
              </a:rPr>
              <a:t>•  Develop the security measures for the network components: build a default-deny firewall policy, tune detection rules, an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9</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Secure the AI Itself — Adversarial ML and the NSA/CISA Deployment Controls</a:t>
            </a:r>
          </a:p>
          <a:p>
            <a:pPr>
              <a:spcAft>
                <a:spcPts val="900"/>
              </a:spcAft>
            </a:pPr>
            <a:r>
              <a:rPr sz="1400" b="0">
                <a:solidFill>
                  <a:srgbClr val="161B26"/>
                </a:solidFill>
                <a:latin typeface="Arial"/>
              </a:rPr>
              <a:t>•  </a:t>
            </a:r>
          </a:p>
          <a:p>
            <a:pPr>
              <a:spcAft>
                <a:spcPts val="900"/>
              </a:spcAft>
            </a:pPr>
            <a:r>
              <a:rPr sz="1400" b="0">
                <a:solidFill>
                  <a:srgbClr val="161B26"/>
                </a:solidFill>
                <a:latin typeface="Arial"/>
              </a:rPr>
              <a:t>•  Recognise that the AI you deploy is an attack surface, and apply the recognised controls for deploying an AI system secu</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fast" advClick="1">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Design the Layered Architecture Across the Three Security Phases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7</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A5 · K3 — Define the planning, building and management phases for a network security design, and express the design as layered defence-in-depth controls.</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Security design is a phased engineering activity, not a shopping list. In this lab you take the risk management plan from Lab 6 and produce an actual design: you write the requirements and constraints in the planning phase, draw a segmented target architecture with the controls placed at each layer, and define the management phase that keeps the design honest after go-live. You use an AI assistant as a design reviewer and then defend the design against its objections.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three-phase security design: a planning-phase requirements table, a segmented target architecture diagram with controls at every layer, and a management-phase operating model.</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Lab 6 plan, a diagramming tool (draw.io or paper), a generative AI assistant</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Every security requirement traces to a risk ID, the access matrix is default-deny with justified exceptions, all three control categories are present, and every High or Critical risk maps to a control or a documented acceptance. You can answer all three of the AI's attack paths.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fast" advClick="1">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7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Write requirements</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Record constraints</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Define trust zones</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Draw the architecture</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Write the access matrix</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A5 · K3 — Define the planning, building and management phases for a network security design, and express the design as layered defence-in-depth controls.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Design the Layered Architecture Across the Three Security Phases — Part 1/2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1986076"/>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98607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55648"/>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Planning phase — write the security requirements the design must satisfy, each traced back to a specific risk ID from Lab 5. A requirement with no risk behind it is a preference.</a:t>
            </a:r>
          </a:p>
        </p:txBody>
      </p:sp>
      <p:sp>
        <p:nvSpPr>
          <p:cNvPr id="12" name="Rectangle 11"/>
          <p:cNvSpPr/>
          <p:nvPr/>
        </p:nvSpPr>
        <p:spPr>
          <a:xfrm>
            <a:off x="777240" y="2673705"/>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673705"/>
            <a:ext cx="82296" cy="82661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2904133"/>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290413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673705"/>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Planning phase — record the constraints: budget, existing equipment, skills available, downtime tolerance and any regulatory obligation. Constraints are what make a design real.</a:t>
            </a:r>
          </a:p>
        </p:txBody>
      </p:sp>
      <p:sp>
        <p:nvSpPr>
          <p:cNvPr id="17" name="Rectangle 16"/>
          <p:cNvSpPr/>
          <p:nvPr/>
        </p:nvSpPr>
        <p:spPr>
          <a:xfrm>
            <a:off x="777240" y="3591762"/>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591762"/>
            <a:ext cx="82296" cy="82661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9264" y="3822190"/>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382219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81328" y="3591762"/>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Planning phase — define the trust zones: Internet, DMZ, internal user network, server network, management network and any OT or guest segment. State what each zone is allowed to reach.</a:t>
            </a:r>
          </a:p>
        </p:txBody>
      </p:sp>
      <p:sp>
        <p:nvSpPr>
          <p:cNvPr id="22" name="Rectangle 21"/>
          <p:cNvSpPr/>
          <p:nvPr/>
        </p:nvSpPr>
        <p:spPr>
          <a:xfrm>
            <a:off x="777240" y="4509819"/>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09819"/>
            <a:ext cx="82296" cy="82661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69264" y="4740247"/>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9264" y="4740247"/>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4509819"/>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Building phase — draw the target architecture with the zones as segments and place the controls at each layer: perimeter firewall, DMZ, internal segmentation, host controls and data controls.</a:t>
            </a:r>
          </a:p>
        </p:txBody>
      </p:sp>
      <p:sp>
        <p:nvSpPr>
          <p:cNvPr id="27" name="Rectangle 26"/>
          <p:cNvSpPr/>
          <p:nvPr/>
        </p:nvSpPr>
        <p:spPr>
          <a:xfrm>
            <a:off x="777240" y="5427876"/>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27876"/>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9264" y="565830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9264" y="565830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81328" y="5427876"/>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Building phase — write the zone-to-zone access matrix. Rows are source zones, columns are destination zones, cells hold the permitted protocols. Default deny: every empty cell is blocked.</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fast" advClick="1">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Design the Layered Architecture Across the Three Security Phases — Part 2/2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1986076"/>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98607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1" name="TextBox 10"/>
          <p:cNvSpPr txBox="1"/>
          <p:nvPr/>
        </p:nvSpPr>
        <p:spPr>
          <a:xfrm>
            <a:off x="1481328" y="1755648"/>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Building phase — classify every control you have placed as physical, technical or administrative, and confirm you have all three. A design with no administrative controls has no way to stay correct.</a:t>
            </a:r>
          </a:p>
        </p:txBody>
      </p:sp>
      <p:sp>
        <p:nvSpPr>
          <p:cNvPr id="12" name="Rectangle 11"/>
          <p:cNvSpPr/>
          <p:nvPr/>
        </p:nvSpPr>
        <p:spPr>
          <a:xfrm>
            <a:off x="777240" y="2673705"/>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673705"/>
            <a:ext cx="82296" cy="82661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2904133"/>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290413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6" name="TextBox 15"/>
          <p:cNvSpPr txBox="1"/>
          <p:nvPr/>
        </p:nvSpPr>
        <p:spPr>
          <a:xfrm>
            <a:off x="1481328" y="2673705"/>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Management phase — define what happens after go-live: who monitors what, the review cadence, the change-control path, and the trigger that forces a redesign.</a:t>
            </a:r>
          </a:p>
        </p:txBody>
      </p:sp>
      <p:sp>
        <p:nvSpPr>
          <p:cNvPr id="17" name="Rectangle 16"/>
          <p:cNvSpPr/>
          <p:nvPr/>
        </p:nvSpPr>
        <p:spPr>
          <a:xfrm>
            <a:off x="777240" y="3591762"/>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591762"/>
            <a:ext cx="82296" cy="82661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9264" y="3822190"/>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382219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21" name="TextBox 20"/>
          <p:cNvSpPr txBox="1"/>
          <p:nvPr/>
        </p:nvSpPr>
        <p:spPr>
          <a:xfrm>
            <a:off x="1481328" y="3646626"/>
            <a:ext cx="9692640" cy="329184"/>
          </a:xfrm>
          <a:prstGeom prst="rect">
            <a:avLst/>
          </a:prstGeom>
          <a:noFill/>
        </p:spPr>
        <p:txBody>
          <a:bodyPr wrap="square" anchor="ctr">
            <a:spAutoFit/>
          </a:bodyPr>
          <a:lstStyle/>
          <a:p>
            <a:pPr algn="l">
              <a:spcAft>
                <a:spcPts val="400"/>
              </a:spcAft>
            </a:pPr>
            <a:r>
              <a:rPr sz="1250" b="1">
                <a:solidFill>
                  <a:srgbClr val="161B26"/>
                </a:solidFill>
                <a:latin typeface="Arial"/>
              </a:rPr>
              <a:t>Ask your AI assistant to review the design as an attacker would.</a:t>
            </a:r>
          </a:p>
        </p:txBody>
      </p:sp>
      <p:sp>
        <p:nvSpPr>
          <p:cNvPr id="22" name="Rectangle 21"/>
          <p:cNvSpPr/>
          <p:nvPr/>
        </p:nvSpPr>
        <p:spPr>
          <a:xfrm>
            <a:off x="1481328" y="4012386"/>
            <a:ext cx="9601200" cy="31455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627632" y="4012386"/>
            <a:ext cx="9326880" cy="314553"/>
          </a:xfrm>
          <a:prstGeom prst="rect">
            <a:avLst/>
          </a:prstGeom>
          <a:noFill/>
        </p:spPr>
        <p:txBody>
          <a:bodyPr wrap="square" anchor="ctr">
            <a:spAutoFit/>
          </a:bodyPr>
          <a:lstStyle/>
          <a:p>
            <a:pPr algn="l">
              <a:spcAft>
                <a:spcPts val="400"/>
              </a:spcAft>
            </a:pPr>
            <a:r>
              <a:rPr sz="850" b="0">
                <a:solidFill>
                  <a:srgbClr val="9CDCFE"/>
                </a:solidFill>
                <a:latin typeface="Arial"/>
              </a:rPr>
              <a:t>$ Prompt: 'Here is a segmented network security design with a zone access matrix. Acting as an attacker, describe three paths you would take through this architecture and name the control that would have to fail at each step. Then identify the weakest zone boundary.'</a:t>
            </a:r>
          </a:p>
        </p:txBody>
      </p:sp>
      <p:sp>
        <p:nvSpPr>
          <p:cNvPr id="24" name="Rectangle 23"/>
          <p:cNvSpPr/>
          <p:nvPr/>
        </p:nvSpPr>
        <p:spPr>
          <a:xfrm>
            <a:off x="777240" y="4509819"/>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4509819"/>
            <a:ext cx="82296" cy="82661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9264" y="4740247"/>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 y="4740247"/>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28" name="TextBox 27"/>
          <p:cNvSpPr txBox="1"/>
          <p:nvPr/>
        </p:nvSpPr>
        <p:spPr>
          <a:xfrm>
            <a:off x="1481328" y="4509819"/>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Answer each attack path in writing: either add a control that closes it, or record why the residual risk is acceptable and who accepts it.</a:t>
            </a:r>
          </a:p>
        </p:txBody>
      </p:sp>
      <p:sp>
        <p:nvSpPr>
          <p:cNvPr id="29" name="Rectangle 28"/>
          <p:cNvSpPr/>
          <p:nvPr/>
        </p:nvSpPr>
        <p:spPr>
          <a:xfrm>
            <a:off x="777240" y="5427876"/>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7240" y="5427876"/>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69264" y="565830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9264" y="565830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33" name="TextBox 32"/>
          <p:cNvSpPr txBox="1"/>
          <p:nvPr/>
        </p:nvSpPr>
        <p:spPr>
          <a:xfrm>
            <a:off x="1481328" y="5427876"/>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Trace every High and Critical risk from Lab 5 to at least one control in the design. Any risk with no control is either untreated or was accepted — and it must say which.</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fast" advClick="1">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Design the Layered Architecture Across the Three Security Phases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Every security requirement traces to a risk ID, the access matrix is default-deny with justified exceptions, all three control categories are present, and every High or Critical risk maps to a control or a documented acceptance. You can answer all three of the AI's attack paths.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The matrix has more allow cells than deny</a:t>
            </a:r>
          </a:p>
        </p:txBody>
      </p:sp>
      <p:sp>
        <p:nvSpPr>
          <p:cNvPr id="15" name="TextBox 14"/>
          <p:cNvSpPr txBox="1"/>
          <p:nvPr/>
        </p:nvSpPr>
        <p:spPr>
          <a:xfrm>
            <a:off x="996696"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you are documenting today's flat network rather than designing a segmented one.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No management phase</a:t>
            </a:r>
          </a:p>
        </p:txBody>
      </p:sp>
      <p:sp>
        <p:nvSpPr>
          <p:cNvPr id="19" name="TextBox 18"/>
          <p:cNvSpPr txBox="1"/>
          <p:nvPr/>
        </p:nvSpPr>
        <p:spPr>
          <a:xfrm>
            <a:off x="4617720"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a design with no operating model degrades within a quarter.</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The AI's attack paths seem unrealistic</a:t>
            </a:r>
          </a:p>
        </p:txBody>
      </p:sp>
      <p:sp>
        <p:nvSpPr>
          <p:cNvPr id="23" name="TextBox 22"/>
          <p:cNvSpPr txBox="1"/>
          <p:nvPr/>
        </p:nvSpPr>
        <p:spPr>
          <a:xfrm>
            <a:off x="8238744"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say why in writing; that reasoning is the deliverable.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fast" advClick="1">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Implement AI-Enhanced Controls — Firewall Policy, IDS and Adaptive Access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8</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A6 · K3 — Develop the security measures for the network components: build a default-deny firewall policy, tune detection rules, and specify adaptive AI-driven access control.</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This is where the design becomes configuration. You write a default-deny firewall ruleset from the Lab 7 access matrix, run detection against real traffic to see what your rules actually catch, and specify the risk-based conditions under which an AI-driven access control should step up authentication or block outright. You then compare a static rule against a behavioural model on the same traffic — and see exactly where each one wins.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default-deny firewall ruleset derived from the access matrix, a tuned detection ruleset with its true/false positive counts, and an adaptive access-control policy specification.</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Firewall rule syntax (iptables or a NGFW policy table), Wireshark, Python, a generative AI assistant</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ruleset ends in an explicit default deny, every allow rule carries a business-reason comment traced to a requirement, and you have no shadowed rules. You can state the true/false positive count for each detection rule and say which of the static rule or the AI model you would deploy for each of the three detections, and why.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fast" advClick="1">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8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Translate the access matrix</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Write the allow rules</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Add deny-and-log rules</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Review for shadowed rules</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Write detection rules</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A6 · K3 — Develop the security measures for the network components: build a default-deny firewall policy, tune detection rules, and specify adaptive AI-driven access control.</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Implement AI-Enhanced Controls — Firewall Policy, IDS and Adaptive Access — Part 1/2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1986076"/>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98607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810512"/>
            <a:ext cx="9692640" cy="329184"/>
          </a:xfrm>
          <a:prstGeom prst="rect">
            <a:avLst/>
          </a:prstGeom>
          <a:noFill/>
        </p:spPr>
        <p:txBody>
          <a:bodyPr wrap="square" anchor="ctr">
            <a:spAutoFit/>
          </a:bodyPr>
          <a:lstStyle/>
          <a:p>
            <a:pPr algn="l">
              <a:spcAft>
                <a:spcPts val="400"/>
              </a:spcAft>
            </a:pPr>
            <a:r>
              <a:rPr sz="850" b="1">
                <a:solidFill>
                  <a:srgbClr val="161B26"/>
                </a:solidFill>
                <a:latin typeface="Arial"/>
              </a:rPr>
              <a:t>Translate the Lab 7 access matrix into an ordered firewall ruleset. Specific allow rules first, the default deny last — order is the whole game in a firewall.</a:t>
            </a:r>
          </a:p>
        </p:txBody>
      </p:sp>
      <p:sp>
        <p:nvSpPr>
          <p:cNvPr id="12" name="Rectangle 11"/>
          <p:cNvSpPr/>
          <p:nvPr/>
        </p:nvSpPr>
        <p:spPr>
          <a:xfrm>
            <a:off x="1481328" y="2176272"/>
            <a:ext cx="9601200" cy="31455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76272"/>
            <a:ext cx="9326880" cy="314553"/>
          </a:xfrm>
          <a:prstGeom prst="rect">
            <a:avLst/>
          </a:prstGeom>
          <a:noFill/>
        </p:spPr>
        <p:txBody>
          <a:bodyPr wrap="square" anchor="ctr">
            <a:spAutoFit/>
          </a:bodyPr>
          <a:lstStyle/>
          <a:p>
            <a:pPr algn="l">
              <a:spcAft>
                <a:spcPts val="400"/>
              </a:spcAft>
            </a:pPr>
            <a:r>
              <a:rPr sz="1050" b="0">
                <a:solidFill>
                  <a:srgbClr val="9CDCFE"/>
                </a:solidFill>
                <a:latin typeface="Arial"/>
              </a:rPr>
              <a:t>$ # Rule 1: allow established return traffic</a:t>
            </a:r>
          </a:p>
        </p:txBody>
      </p:sp>
      <p:sp>
        <p:nvSpPr>
          <p:cNvPr id="14" name="Rectangle 13"/>
          <p:cNvSpPr/>
          <p:nvPr/>
        </p:nvSpPr>
        <p:spPr>
          <a:xfrm>
            <a:off x="777240" y="2673705"/>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673705"/>
            <a:ext cx="82296" cy="82661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2904133"/>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290413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2728569"/>
            <a:ext cx="9692640" cy="329184"/>
          </a:xfrm>
          <a:prstGeom prst="rect">
            <a:avLst/>
          </a:prstGeom>
          <a:noFill/>
        </p:spPr>
        <p:txBody>
          <a:bodyPr wrap="square" anchor="ctr">
            <a:spAutoFit/>
          </a:bodyPr>
          <a:lstStyle/>
          <a:p>
            <a:pPr algn="l">
              <a:spcAft>
                <a:spcPts val="400"/>
              </a:spcAft>
            </a:pPr>
            <a:r>
              <a:rPr sz="850" b="1">
                <a:solidFill>
                  <a:srgbClr val="161B26"/>
                </a:solidFill>
                <a:latin typeface="Arial"/>
              </a:rPr>
              <a:t>Write each allow rule with source zone, destination zone, protocol, port, and a comment naming the business reason. An uncommented rule becomes permanent because nobody dares delete it.</a:t>
            </a:r>
          </a:p>
        </p:txBody>
      </p:sp>
      <p:sp>
        <p:nvSpPr>
          <p:cNvPr id="19" name="Rectangle 18"/>
          <p:cNvSpPr/>
          <p:nvPr/>
        </p:nvSpPr>
        <p:spPr>
          <a:xfrm>
            <a:off x="1481328" y="3094329"/>
            <a:ext cx="9601200" cy="31455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094329"/>
            <a:ext cx="9326880" cy="314553"/>
          </a:xfrm>
          <a:prstGeom prst="rect">
            <a:avLst/>
          </a:prstGeom>
          <a:noFill/>
        </p:spPr>
        <p:txBody>
          <a:bodyPr wrap="square" anchor="ctr">
            <a:spAutoFit/>
          </a:bodyPr>
          <a:lstStyle/>
          <a:p>
            <a:pPr algn="l">
              <a:spcAft>
                <a:spcPts val="400"/>
              </a:spcAft>
            </a:pPr>
            <a:r>
              <a:rPr sz="850" b="0">
                <a:solidFill>
                  <a:srgbClr val="9CDCFE"/>
                </a:solidFill>
                <a:latin typeface="Arial"/>
              </a:rPr>
              <a:t>$ iptables -A FORWARD -s 10.0.10.0/24 -d 10.0.30.0/24 -p tcp --dport 443 -j ACCEPT -m comment --comment 'Users to app servers HTTPS - REQ-004'</a:t>
            </a:r>
          </a:p>
        </p:txBody>
      </p:sp>
      <p:sp>
        <p:nvSpPr>
          <p:cNvPr id="21" name="Rectangle 20"/>
          <p:cNvSpPr/>
          <p:nvPr/>
        </p:nvSpPr>
        <p:spPr>
          <a:xfrm>
            <a:off x="777240" y="3591762"/>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591762"/>
            <a:ext cx="82296" cy="82661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3822190"/>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382219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1481328" y="3591762"/>
            <a:ext cx="9692640" cy="826617"/>
          </a:xfrm>
          <a:prstGeom prst="rect">
            <a:avLst/>
          </a:prstGeom>
          <a:noFill/>
        </p:spPr>
        <p:txBody>
          <a:bodyPr wrap="square" anchor="ctr">
            <a:spAutoFit/>
          </a:bodyPr>
          <a:lstStyle/>
          <a:p>
            <a:pPr algn="l">
              <a:spcAft>
                <a:spcPts val="400"/>
              </a:spcAft>
            </a:pPr>
            <a:r>
              <a:rPr sz="850" b="0">
                <a:solidFill>
                  <a:srgbClr val="161B26"/>
                </a:solidFill>
                <a:latin typeface="Arial"/>
              </a:rPr>
              <a:t>Add explicit deny-and-log rules for the traffic you most want to know about — management protocols crossing a zone boundary, and any outbound connection from the server zone.</a:t>
            </a:r>
          </a:p>
        </p:txBody>
      </p:sp>
      <p:sp>
        <p:nvSpPr>
          <p:cNvPr id="26" name="Rectangle 25"/>
          <p:cNvSpPr/>
          <p:nvPr/>
        </p:nvSpPr>
        <p:spPr>
          <a:xfrm>
            <a:off x="777240" y="4509819"/>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509819"/>
            <a:ext cx="82296" cy="82661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69264" y="4740247"/>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9264" y="4740247"/>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30" name="TextBox 29"/>
          <p:cNvSpPr txBox="1"/>
          <p:nvPr/>
        </p:nvSpPr>
        <p:spPr>
          <a:xfrm>
            <a:off x="1481328" y="4509819"/>
            <a:ext cx="9692640" cy="826617"/>
          </a:xfrm>
          <a:prstGeom prst="rect">
            <a:avLst/>
          </a:prstGeom>
          <a:noFill/>
        </p:spPr>
        <p:txBody>
          <a:bodyPr wrap="square" anchor="ctr">
            <a:spAutoFit/>
          </a:bodyPr>
          <a:lstStyle/>
          <a:p>
            <a:pPr algn="l">
              <a:spcAft>
                <a:spcPts val="400"/>
              </a:spcAft>
            </a:pPr>
            <a:r>
              <a:rPr sz="850" b="0">
                <a:solidFill>
                  <a:srgbClr val="161B26"/>
                </a:solidFill>
                <a:latin typeface="Arial"/>
              </a:rPr>
              <a:t>Review the ruleset for shadowed rules: any rule that can never match because an earlier rule already covers its traffic. Shadowed rules are the most common firewall defect there is.</a:t>
            </a:r>
          </a:p>
        </p:txBody>
      </p:sp>
      <p:sp>
        <p:nvSpPr>
          <p:cNvPr id="31" name="Rectangle 30"/>
          <p:cNvSpPr/>
          <p:nvPr/>
        </p:nvSpPr>
        <p:spPr>
          <a:xfrm>
            <a:off x="777240" y="5427876"/>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427876"/>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69264" y="565830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9264" y="565830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5" name="TextBox 34"/>
          <p:cNvSpPr txBox="1"/>
          <p:nvPr/>
        </p:nvSpPr>
        <p:spPr>
          <a:xfrm>
            <a:off x="1481328" y="5427876"/>
            <a:ext cx="9692640" cy="826617"/>
          </a:xfrm>
          <a:prstGeom prst="rect">
            <a:avLst/>
          </a:prstGeom>
          <a:noFill/>
        </p:spPr>
        <p:txBody>
          <a:bodyPr wrap="square" anchor="ctr">
            <a:spAutoFit/>
          </a:bodyPr>
          <a:lstStyle/>
          <a:p>
            <a:pPr algn="l">
              <a:spcAft>
                <a:spcPts val="400"/>
              </a:spcAft>
            </a:pPr>
            <a:r>
              <a:rPr sz="850" b="0">
                <a:solidFill>
                  <a:srgbClr val="161B26"/>
                </a:solidFill>
                <a:latin typeface="Arial"/>
              </a:rPr>
              <a:t>Now the detection layer. Write three detection rules against the Lab 2 capture — one for a port scan, one for a large outbound transfer, and one for a connection to a management port from a user subnet.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fast" advClick="1">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Implement AI-Enhanced Controls — Firewall Policy, IDS and Adaptive Access — Part 2/2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1986076"/>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98607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1" name="TextBox 10"/>
          <p:cNvSpPr txBox="1"/>
          <p:nvPr/>
        </p:nvSpPr>
        <p:spPr>
          <a:xfrm>
            <a:off x="1481328" y="1810512"/>
            <a:ext cx="9692640" cy="329184"/>
          </a:xfrm>
          <a:prstGeom prst="rect">
            <a:avLst/>
          </a:prstGeom>
          <a:noFill/>
        </p:spPr>
        <p:txBody>
          <a:bodyPr wrap="square" anchor="ctr">
            <a:spAutoFit/>
          </a:bodyPr>
          <a:lstStyle/>
          <a:p>
            <a:pPr algn="l">
              <a:spcAft>
                <a:spcPts val="400"/>
              </a:spcAft>
            </a:pPr>
            <a:r>
              <a:rPr sz="850" b="1">
                <a:solidFill>
                  <a:srgbClr val="161B26"/>
                </a:solidFill>
                <a:latin typeface="Arial"/>
              </a:rPr>
              <a:t>Run each rule over the capture and count the true positives and false positives. A rule with more false positives than true is worse than no rule, because it trains the analyst to ignore alerts.</a:t>
            </a:r>
          </a:p>
        </p:txBody>
      </p:sp>
      <p:sp>
        <p:nvSpPr>
          <p:cNvPr id="12" name="Rectangle 11"/>
          <p:cNvSpPr/>
          <p:nvPr/>
        </p:nvSpPr>
        <p:spPr>
          <a:xfrm>
            <a:off x="1481328" y="2176272"/>
            <a:ext cx="9601200" cy="31455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76272"/>
            <a:ext cx="9326880" cy="314553"/>
          </a:xfrm>
          <a:prstGeom prst="rect">
            <a:avLst/>
          </a:prstGeom>
          <a:noFill/>
        </p:spPr>
        <p:txBody>
          <a:bodyPr wrap="square" anchor="ctr">
            <a:spAutoFit/>
          </a:bodyPr>
          <a:lstStyle/>
          <a:p>
            <a:pPr algn="l">
              <a:spcAft>
                <a:spcPts val="400"/>
              </a:spcAft>
            </a:pPr>
            <a:r>
              <a:rPr sz="850" b="0">
                <a:solidFill>
                  <a:srgbClr val="9CDCFE"/>
                </a:solidFill>
                <a:latin typeface="Arial"/>
              </a:rPr>
              <a:t>$ tshark -r traffic.pcapng -Y 'tcp.flags.syn==1 &amp;&amp; tcp.flags.ack==0' -T fields -e ip.src | sort | uniq -c | sort -rn</a:t>
            </a:r>
          </a:p>
        </p:txBody>
      </p:sp>
      <p:sp>
        <p:nvSpPr>
          <p:cNvPr id="14" name="Rectangle 13"/>
          <p:cNvSpPr/>
          <p:nvPr/>
        </p:nvSpPr>
        <p:spPr>
          <a:xfrm>
            <a:off x="777240" y="2673705"/>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673705"/>
            <a:ext cx="82296" cy="82661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2904133"/>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290413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8" name="TextBox 17"/>
          <p:cNvSpPr txBox="1"/>
          <p:nvPr/>
        </p:nvSpPr>
        <p:spPr>
          <a:xfrm>
            <a:off x="1481328" y="2673705"/>
            <a:ext cx="9692640" cy="826617"/>
          </a:xfrm>
          <a:prstGeom prst="rect">
            <a:avLst/>
          </a:prstGeom>
          <a:noFill/>
        </p:spPr>
        <p:txBody>
          <a:bodyPr wrap="square" anchor="ctr">
            <a:spAutoFit/>
          </a:bodyPr>
          <a:lstStyle/>
          <a:p>
            <a:pPr algn="l">
              <a:spcAft>
                <a:spcPts val="400"/>
              </a:spcAft>
            </a:pPr>
            <a:r>
              <a:rPr sz="850" b="0">
                <a:solidFill>
                  <a:srgbClr val="161B26"/>
                </a:solidFill>
                <a:latin typeface="Arial"/>
              </a:rPr>
              <a:t>Compare the static rule against the Lab 2 anomaly model on the same traffic. Record where the rule wins (precision on known patterns) and where the model wins (unnamed behaviour).</a:t>
            </a:r>
          </a:p>
        </p:txBody>
      </p:sp>
      <p:sp>
        <p:nvSpPr>
          <p:cNvPr id="19" name="Rectangle 18"/>
          <p:cNvSpPr/>
          <p:nvPr/>
        </p:nvSpPr>
        <p:spPr>
          <a:xfrm>
            <a:off x="777240" y="3591762"/>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591762"/>
            <a:ext cx="82296" cy="82661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3822190"/>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382219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23" name="TextBox 22"/>
          <p:cNvSpPr txBox="1"/>
          <p:nvPr/>
        </p:nvSpPr>
        <p:spPr>
          <a:xfrm>
            <a:off x="1481328" y="3591762"/>
            <a:ext cx="9692640" cy="826617"/>
          </a:xfrm>
          <a:prstGeom prst="rect">
            <a:avLst/>
          </a:prstGeom>
          <a:noFill/>
        </p:spPr>
        <p:txBody>
          <a:bodyPr wrap="square" anchor="ctr">
            <a:spAutoFit/>
          </a:bodyPr>
          <a:lstStyle/>
          <a:p>
            <a:pPr algn="l">
              <a:spcAft>
                <a:spcPts val="400"/>
              </a:spcAft>
            </a:pPr>
            <a:r>
              <a:rPr sz="850" b="0">
                <a:solidFill>
                  <a:srgbClr val="161B26"/>
                </a:solidFill>
                <a:latin typeface="Arial"/>
              </a:rPr>
              <a:t>Specify the adaptive access-control policy: the signals (device posture, location, time, behaviour deviation, resource sensitivity), the risk bands, and the action at each band — allow, step-up MFA, restrict, or block.</a:t>
            </a:r>
          </a:p>
        </p:txBody>
      </p:sp>
      <p:sp>
        <p:nvSpPr>
          <p:cNvPr id="24" name="Rectangle 23"/>
          <p:cNvSpPr/>
          <p:nvPr/>
        </p:nvSpPr>
        <p:spPr>
          <a:xfrm>
            <a:off x="777240" y="4509819"/>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4509819"/>
            <a:ext cx="82296" cy="82661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9264" y="4740247"/>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 y="4740247"/>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28" name="TextBox 27"/>
          <p:cNvSpPr txBox="1"/>
          <p:nvPr/>
        </p:nvSpPr>
        <p:spPr>
          <a:xfrm>
            <a:off x="1481328" y="4509819"/>
            <a:ext cx="9692640" cy="826617"/>
          </a:xfrm>
          <a:prstGeom prst="rect">
            <a:avLst/>
          </a:prstGeom>
          <a:noFill/>
        </p:spPr>
        <p:txBody>
          <a:bodyPr wrap="square" anchor="ctr">
            <a:spAutoFit/>
          </a:bodyPr>
          <a:lstStyle/>
          <a:p>
            <a:pPr algn="l">
              <a:spcAft>
                <a:spcPts val="400"/>
              </a:spcAft>
            </a:pPr>
            <a:r>
              <a:rPr sz="850" b="0">
                <a:solidFill>
                  <a:srgbClr val="161B26"/>
                </a:solidFill>
                <a:latin typeface="Arial"/>
              </a:rPr>
              <a:t>State the human-in-the-loop boundary explicitly. Which actions may the system take autonomously, and which require a named person to approve? Automatic blocking of a production server needs an owner.</a:t>
            </a:r>
          </a:p>
        </p:txBody>
      </p:sp>
      <p:sp>
        <p:nvSpPr>
          <p:cNvPr id="29" name="Rectangle 28"/>
          <p:cNvSpPr/>
          <p:nvPr/>
        </p:nvSpPr>
        <p:spPr>
          <a:xfrm>
            <a:off x="777240" y="5427876"/>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7240" y="5427876"/>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69264" y="565830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9264" y="565830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33" name="TextBox 32"/>
          <p:cNvSpPr txBox="1"/>
          <p:nvPr/>
        </p:nvSpPr>
        <p:spPr>
          <a:xfrm>
            <a:off x="1481328" y="5482740"/>
            <a:ext cx="9692640" cy="329184"/>
          </a:xfrm>
          <a:prstGeom prst="rect">
            <a:avLst/>
          </a:prstGeom>
          <a:noFill/>
        </p:spPr>
        <p:txBody>
          <a:bodyPr wrap="square" anchor="ctr">
            <a:spAutoFit/>
          </a:bodyPr>
          <a:lstStyle/>
          <a:p>
            <a:pPr algn="l">
              <a:spcAft>
                <a:spcPts val="400"/>
              </a:spcAft>
            </a:pPr>
            <a:r>
              <a:rPr sz="850" b="1">
                <a:solidFill>
                  <a:srgbClr val="161B26"/>
                </a:solidFill>
                <a:latin typeface="Arial"/>
              </a:rPr>
              <a:t>Ask your AI assistant to review the firewall ruleset for shadowed rules, overly broad allows and missing egress controls, then verify each finding by reading the rule yourself.</a:t>
            </a:r>
          </a:p>
        </p:txBody>
      </p:sp>
      <p:sp>
        <p:nvSpPr>
          <p:cNvPr id="34" name="Rectangle 33"/>
          <p:cNvSpPr/>
          <p:nvPr/>
        </p:nvSpPr>
        <p:spPr>
          <a:xfrm>
            <a:off x="1481328" y="5848500"/>
            <a:ext cx="9601200" cy="31455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627632" y="5848500"/>
            <a:ext cx="9326880" cy="314553"/>
          </a:xfrm>
          <a:prstGeom prst="rect">
            <a:avLst/>
          </a:prstGeom>
          <a:noFill/>
        </p:spPr>
        <p:txBody>
          <a:bodyPr wrap="square" anchor="ctr">
            <a:spAutoFit/>
          </a:bodyPr>
          <a:lstStyle/>
          <a:p>
            <a:pPr algn="l">
              <a:spcAft>
                <a:spcPts val="400"/>
              </a:spcAft>
            </a:pPr>
            <a:r>
              <a:rPr sz="850" b="0">
                <a:solidFill>
                  <a:srgbClr val="9CDCFE"/>
                </a:solidFill>
                <a:latin typeface="Arial"/>
              </a:rPr>
              <a:t>$ Prompt: 'Review this ordered firewall ruleset. Identify shadowed rules that can never match, allow rules that are broader than their stated business reason, and any missing egress control. Quote the rule number for each finding.'</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fast" advClick="1">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Implement AI-Enhanced Controls — Firewall Policy, IDS and Adaptive Access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ruleset ends in an explicit default deny, every allow rule carries a business-reason comment traced to a requirement, and you have no shadowed rules. You can state the true/false positive count for each detection rule and say which of the static rule or the AI model you would deploy for each of the three detections, and why.</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The default deny is not last</a:t>
            </a:r>
          </a:p>
        </p:txBody>
      </p:sp>
      <p:sp>
        <p:nvSpPr>
          <p:cNvPr id="15" name="TextBox 14"/>
          <p:cNvSpPr txBox="1"/>
          <p:nvPr/>
        </p:nvSpPr>
        <p:spPr>
          <a:xfrm>
            <a:off x="996696"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everything after it is dead code.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All traffic is blocked</a:t>
            </a:r>
          </a:p>
        </p:txBody>
      </p:sp>
      <p:sp>
        <p:nvSpPr>
          <p:cNvPr id="19" name="TextBox 18"/>
          <p:cNvSpPr txBox="1"/>
          <p:nvPr/>
        </p:nvSpPr>
        <p:spPr>
          <a:xfrm>
            <a:off x="4617720"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you are missing the ESTABLISHED,RELATED rule, so return traffic never gets back.</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The detection rule fires constantly</a:t>
            </a:r>
          </a:p>
        </p:txBody>
      </p:sp>
      <p:sp>
        <p:nvSpPr>
          <p:cNvPr id="23" name="TextBox 22"/>
          <p:cNvSpPr txBox="1"/>
          <p:nvPr/>
        </p:nvSpPr>
        <p:spPr>
          <a:xfrm>
            <a:off x="8238744"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your threshold is tuned to a quiet lab, not to production; raise it against the baseline.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fast" advClick="1">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Secure the AI Itself — Adversarial ML and the NSA/CISA Deployment Controls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9</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A5 · A6 · A7 · K3 — Recognise that the AI you deploy is an attack surface, and apply the recognised controls for deploying an AI system securely.</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Every previous lab used AI as a defensive tool. This one turns the question around: what happens when the AI is the target? You run an evasion attack against your own Lab 2 anomaly model and watch it go blind, simulate a poisoning attack on its training data, then work through the NIST AI 100-2 attack taxonomy and the NSA/CISA 'Deploying AI Systems Securely' controls to produce a hardening checklist for the AI components in your Lab 7 design.</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demonstrated evasion and a demonstrated poisoning attack against your own model, plus an AI security hardening checklist mapped to the NSA/CISA three categories and the NIST AI 100-2 attack classes.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Lab 2 model, Python, scikit-learn, NIST AI 100-2e2025, NSA/CISA CSI, MITRE ATLAS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 can demonstrate the slowed scan evading a model that detected the fast one, and you can state the measured detection drop after poisoning. Your checklist covers all three NSA/CISA categories, names an owner and a verification method for every control, and includes a stated fallback for when the AI is down.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spd="fast" advClick="1">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9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Establish the control</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Run an evasion attack</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Record the evasion</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Run a poisoning attack</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Measure the degradation</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A5 · A6 · A7 · K3 — Recognise that the AI you deploy is an attack surface, and apply the recognised controls for deploying an AI system securely.</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Secure the AI Itself — Adversarial ML and the NSA/CISA Deployment Controls — Part 1/3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1986076"/>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98607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55648"/>
            <a:ext cx="9692640" cy="826617"/>
          </a:xfrm>
          <a:prstGeom prst="rect">
            <a:avLst/>
          </a:prstGeom>
          <a:noFill/>
        </p:spPr>
        <p:txBody>
          <a:bodyPr wrap="square" anchor="ctr">
            <a:spAutoFit/>
          </a:bodyPr>
          <a:lstStyle/>
          <a:p>
            <a:pPr algn="l">
              <a:spcAft>
                <a:spcPts val="400"/>
              </a:spcAft>
            </a:pPr>
            <a:r>
              <a:rPr sz="950" b="0">
                <a:solidFill>
                  <a:srgbClr val="161B26"/>
                </a:solidFill>
                <a:latin typeface="Arial"/>
              </a:rPr>
              <a:t>Reload your Lab 2 Isolation Forest and confirm it still detects the port scan. This is your control condition — you cannot show an attack worked without it.</a:t>
            </a:r>
          </a:p>
        </p:txBody>
      </p:sp>
      <p:sp>
        <p:nvSpPr>
          <p:cNvPr id="12" name="Rectangle 11"/>
          <p:cNvSpPr/>
          <p:nvPr/>
        </p:nvSpPr>
        <p:spPr>
          <a:xfrm>
            <a:off x="777240" y="2673705"/>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673705"/>
            <a:ext cx="82296" cy="82661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2904133"/>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290413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728569"/>
            <a:ext cx="9692640" cy="329184"/>
          </a:xfrm>
          <a:prstGeom prst="rect">
            <a:avLst/>
          </a:prstGeom>
          <a:noFill/>
        </p:spPr>
        <p:txBody>
          <a:bodyPr wrap="square" anchor="ctr">
            <a:spAutoFit/>
          </a:bodyPr>
          <a:lstStyle/>
          <a:p>
            <a:pPr algn="l">
              <a:spcAft>
                <a:spcPts val="400"/>
              </a:spcAft>
            </a:pPr>
            <a:r>
              <a:rPr sz="950" b="1">
                <a:solidFill>
                  <a:srgbClr val="161B26"/>
                </a:solidFill>
                <a:latin typeface="Arial"/>
              </a:rPr>
              <a:t>Evasion attack: slow the scan down. Regenerate the scan features with a long inter-packet delay so the connection rate falls inside the baseline, then re-score it.</a:t>
            </a:r>
          </a:p>
        </p:txBody>
      </p:sp>
      <p:sp>
        <p:nvSpPr>
          <p:cNvPr id="17" name="Rectangle 16"/>
          <p:cNvSpPr/>
          <p:nvPr/>
        </p:nvSpPr>
        <p:spPr>
          <a:xfrm>
            <a:off x="1481328" y="3094329"/>
            <a:ext cx="9601200" cy="31455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27632" y="3094329"/>
            <a:ext cx="9326880" cy="314553"/>
          </a:xfrm>
          <a:prstGeom prst="rect">
            <a:avLst/>
          </a:prstGeom>
          <a:noFill/>
        </p:spPr>
        <p:txBody>
          <a:bodyPr wrap="square" anchor="ctr">
            <a:spAutoFit/>
          </a:bodyPr>
          <a:lstStyle/>
          <a:p>
            <a:pPr algn="l">
              <a:spcAft>
                <a:spcPts val="400"/>
              </a:spcAft>
            </a:pPr>
            <a:r>
              <a:rPr sz="1050" b="0">
                <a:solidFill>
                  <a:srgbClr val="9CDCFE"/>
                </a:solidFill>
                <a:latin typeface="Arial"/>
              </a:rPr>
              <a:t>$ nmap -sS -T1 --scan-delay 5s -p 1-1024 192.168.56.101</a:t>
            </a:r>
          </a:p>
        </p:txBody>
      </p:sp>
      <p:sp>
        <p:nvSpPr>
          <p:cNvPr id="19" name="Rectangle 18"/>
          <p:cNvSpPr/>
          <p:nvPr/>
        </p:nvSpPr>
        <p:spPr>
          <a:xfrm>
            <a:off x="777240" y="3591762"/>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591762"/>
            <a:ext cx="82296" cy="82661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3822190"/>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382219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3" name="TextBox 22"/>
          <p:cNvSpPr txBox="1"/>
          <p:nvPr/>
        </p:nvSpPr>
        <p:spPr>
          <a:xfrm>
            <a:off x="1481328" y="3591762"/>
            <a:ext cx="9692640" cy="826617"/>
          </a:xfrm>
          <a:prstGeom prst="rect">
            <a:avLst/>
          </a:prstGeom>
          <a:noFill/>
        </p:spPr>
        <p:txBody>
          <a:bodyPr wrap="square" anchor="ctr">
            <a:spAutoFit/>
          </a:bodyPr>
          <a:lstStyle/>
          <a:p>
            <a:pPr algn="l">
              <a:spcAft>
                <a:spcPts val="400"/>
              </a:spcAft>
            </a:pPr>
            <a:r>
              <a:rPr sz="950" b="0">
                <a:solidFill>
                  <a:srgbClr val="161B26"/>
                </a:solidFill>
                <a:latin typeface="Arial"/>
              </a:rPr>
              <a:t>Record what happened. The traffic is functionally identical, the intent is identical, and the model no longer flags it — that is an evasion attack, and it needed no access to the model at all.</a:t>
            </a:r>
          </a:p>
        </p:txBody>
      </p:sp>
      <p:sp>
        <p:nvSpPr>
          <p:cNvPr id="24" name="Rectangle 23"/>
          <p:cNvSpPr/>
          <p:nvPr/>
        </p:nvSpPr>
        <p:spPr>
          <a:xfrm>
            <a:off x="777240" y="4509819"/>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4509819"/>
            <a:ext cx="82296" cy="82661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9264" y="4740247"/>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 y="4740247"/>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8" name="TextBox 27"/>
          <p:cNvSpPr txBox="1"/>
          <p:nvPr/>
        </p:nvSpPr>
        <p:spPr>
          <a:xfrm>
            <a:off x="1481328" y="4564683"/>
            <a:ext cx="9692640" cy="329184"/>
          </a:xfrm>
          <a:prstGeom prst="rect">
            <a:avLst/>
          </a:prstGeom>
          <a:noFill/>
        </p:spPr>
        <p:txBody>
          <a:bodyPr wrap="square" anchor="ctr">
            <a:spAutoFit/>
          </a:bodyPr>
          <a:lstStyle/>
          <a:p>
            <a:pPr algn="l">
              <a:spcAft>
                <a:spcPts val="400"/>
              </a:spcAft>
            </a:pPr>
            <a:r>
              <a:rPr sz="950" b="1">
                <a:solidFill>
                  <a:srgbClr val="161B26"/>
                </a:solidFill>
                <a:latin typeface="Arial"/>
              </a:rPr>
              <a:t>Poisoning attack: inject slow-scan traffic into the training window, refit the model, and re-score the original fast scan. Measure how far the detection degrades.</a:t>
            </a:r>
          </a:p>
        </p:txBody>
      </p:sp>
      <p:sp>
        <p:nvSpPr>
          <p:cNvPr id="29" name="Rectangle 28"/>
          <p:cNvSpPr/>
          <p:nvPr/>
        </p:nvSpPr>
        <p:spPr>
          <a:xfrm>
            <a:off x="1481328" y="4930443"/>
            <a:ext cx="9601200" cy="31455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627632" y="4930443"/>
            <a:ext cx="9326880" cy="314553"/>
          </a:xfrm>
          <a:prstGeom prst="rect">
            <a:avLst/>
          </a:prstGeom>
          <a:noFill/>
        </p:spPr>
        <p:txBody>
          <a:bodyPr wrap="square" anchor="ctr">
            <a:spAutoFit/>
          </a:bodyPr>
          <a:lstStyle/>
          <a:p>
            <a:pPr algn="l">
              <a:spcAft>
                <a:spcPts val="400"/>
              </a:spcAft>
            </a:pPr>
            <a:r>
              <a:rPr sz="1050" b="0">
                <a:solidFill>
                  <a:srgbClr val="9CDCFE"/>
                </a:solidFill>
                <a:latin typeface="Arial"/>
              </a:rPr>
              <a:t>$ X_poisoned = np.vstack([X_baseline, X_slowscan])</a:t>
            </a:r>
          </a:p>
        </p:txBody>
      </p:sp>
      <p:sp>
        <p:nvSpPr>
          <p:cNvPr id="31" name="Rectangle 30"/>
          <p:cNvSpPr/>
          <p:nvPr/>
        </p:nvSpPr>
        <p:spPr>
          <a:xfrm>
            <a:off x="777240" y="5427876"/>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427876"/>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69264" y="565830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9264" y="565830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5" name="TextBox 34"/>
          <p:cNvSpPr txBox="1"/>
          <p:nvPr/>
        </p:nvSpPr>
        <p:spPr>
          <a:xfrm>
            <a:off x="1481328" y="5427876"/>
            <a:ext cx="9692640" cy="826617"/>
          </a:xfrm>
          <a:prstGeom prst="rect">
            <a:avLst/>
          </a:prstGeom>
          <a:noFill/>
        </p:spPr>
        <p:txBody>
          <a:bodyPr wrap="square" anchor="ctr">
            <a:spAutoFit/>
          </a:bodyPr>
          <a:lstStyle/>
          <a:p>
            <a:pPr algn="l">
              <a:spcAft>
                <a:spcPts val="400"/>
              </a:spcAft>
            </a:pPr>
            <a:r>
              <a:rPr sz="950" b="0">
                <a:solidFill>
                  <a:srgbClr val="161B26"/>
                </a:solidFill>
                <a:latin typeface="Arial"/>
              </a:rPr>
              <a:t>Record the degradation as a number — detection rate before poisoning versus after. 'The model got worse' is an anecdote; a measured drop is evidence.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spd="fast" advClick="1">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Secure the AI Itself — Adversarial ML and the NSA/CISA Deployment Controls — Part 2/3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1986076"/>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98607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1" name="TextBox 10"/>
          <p:cNvSpPr txBox="1"/>
          <p:nvPr/>
        </p:nvSpPr>
        <p:spPr>
          <a:xfrm>
            <a:off x="1481328" y="1810512"/>
            <a:ext cx="9692640" cy="329184"/>
          </a:xfrm>
          <a:prstGeom prst="rect">
            <a:avLst/>
          </a:prstGeom>
          <a:noFill/>
        </p:spPr>
        <p:txBody>
          <a:bodyPr wrap="square" anchor="ctr">
            <a:spAutoFit/>
          </a:bodyPr>
          <a:lstStyle/>
          <a:p>
            <a:pPr algn="l">
              <a:spcAft>
                <a:spcPts val="400"/>
              </a:spcAft>
            </a:pPr>
            <a:r>
              <a:rPr sz="850" b="1">
                <a:solidFill>
                  <a:srgbClr val="161B26"/>
                </a:solidFill>
                <a:latin typeface="Arial"/>
              </a:rPr>
              <a:t>Map both attacks onto the NIST AI 100-2e2025 taxonomy — evasion, poisoning, privacy and misuse — and state which class each belongs to and at what stage of the ML lifecycle it lands.</a:t>
            </a:r>
          </a:p>
        </p:txBody>
      </p:sp>
      <p:sp>
        <p:nvSpPr>
          <p:cNvPr id="12" name="Rectangle 11"/>
          <p:cNvSpPr/>
          <p:nvPr/>
        </p:nvSpPr>
        <p:spPr>
          <a:xfrm>
            <a:off x="1481328" y="2176272"/>
            <a:ext cx="9601200" cy="31455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76272"/>
            <a:ext cx="9326880" cy="314553"/>
          </a:xfrm>
          <a:prstGeom prst="rect">
            <a:avLst/>
          </a:prstGeom>
          <a:noFill/>
        </p:spPr>
        <p:txBody>
          <a:bodyPr wrap="square" anchor="ctr">
            <a:spAutoFit/>
          </a:bodyPr>
          <a:lstStyle/>
          <a:p>
            <a:pPr algn="l">
              <a:spcAft>
                <a:spcPts val="400"/>
              </a:spcAft>
            </a:pPr>
            <a:r>
              <a:rPr sz="1050" b="0">
                <a:solidFill>
                  <a:srgbClr val="9CDCFE"/>
                </a:solidFill>
                <a:latin typeface="Arial"/>
              </a:rPr>
              <a:t>$ https://csrc.nist.gov/pubs/ai/100/2/e2025/final</a:t>
            </a:r>
          </a:p>
        </p:txBody>
      </p:sp>
      <p:sp>
        <p:nvSpPr>
          <p:cNvPr id="14" name="Rectangle 13"/>
          <p:cNvSpPr/>
          <p:nvPr/>
        </p:nvSpPr>
        <p:spPr>
          <a:xfrm>
            <a:off x="777240" y="2673705"/>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673705"/>
            <a:ext cx="82296" cy="82661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2904133"/>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290413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8" name="TextBox 17"/>
          <p:cNvSpPr txBox="1"/>
          <p:nvPr/>
        </p:nvSpPr>
        <p:spPr>
          <a:xfrm>
            <a:off x="1481328" y="2728569"/>
            <a:ext cx="9692640" cy="329184"/>
          </a:xfrm>
          <a:prstGeom prst="rect">
            <a:avLst/>
          </a:prstGeom>
          <a:noFill/>
        </p:spPr>
        <p:txBody>
          <a:bodyPr wrap="square" anchor="ctr">
            <a:spAutoFit/>
          </a:bodyPr>
          <a:lstStyle/>
          <a:p>
            <a:pPr algn="l">
              <a:spcAft>
                <a:spcPts val="400"/>
              </a:spcAft>
            </a:pPr>
            <a:r>
              <a:rPr sz="850" b="1">
                <a:solidFill>
                  <a:srgbClr val="161B26"/>
                </a:solidFill>
                <a:latin typeface="Arial"/>
              </a:rPr>
              <a:t>Look up the matching tactics and techniques in MITRE ATLAS, the adversarial threat knowledge base for AI systems, and note the mitigations it lists.</a:t>
            </a:r>
          </a:p>
        </p:txBody>
      </p:sp>
      <p:sp>
        <p:nvSpPr>
          <p:cNvPr id="19" name="Rectangle 18"/>
          <p:cNvSpPr/>
          <p:nvPr/>
        </p:nvSpPr>
        <p:spPr>
          <a:xfrm>
            <a:off x="1481328" y="3094329"/>
            <a:ext cx="9601200" cy="31455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094329"/>
            <a:ext cx="9326880" cy="314553"/>
          </a:xfrm>
          <a:prstGeom prst="rect">
            <a:avLst/>
          </a:prstGeom>
          <a:noFill/>
        </p:spPr>
        <p:txBody>
          <a:bodyPr wrap="square" anchor="ctr">
            <a:spAutoFit/>
          </a:bodyPr>
          <a:lstStyle/>
          <a:p>
            <a:pPr algn="l">
              <a:spcAft>
                <a:spcPts val="400"/>
              </a:spcAft>
            </a:pPr>
            <a:r>
              <a:rPr sz="1050" b="0">
                <a:solidFill>
                  <a:srgbClr val="9CDCFE"/>
                </a:solidFill>
                <a:latin typeface="Arial"/>
              </a:rPr>
              <a:t>$ https://atlas.mitre.org/</a:t>
            </a:r>
          </a:p>
        </p:txBody>
      </p:sp>
      <p:sp>
        <p:nvSpPr>
          <p:cNvPr id="21" name="Rectangle 20"/>
          <p:cNvSpPr/>
          <p:nvPr/>
        </p:nvSpPr>
        <p:spPr>
          <a:xfrm>
            <a:off x="777240" y="3591762"/>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591762"/>
            <a:ext cx="82296" cy="82661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3822190"/>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382219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25" name="TextBox 24"/>
          <p:cNvSpPr txBox="1"/>
          <p:nvPr/>
        </p:nvSpPr>
        <p:spPr>
          <a:xfrm>
            <a:off x="1481328" y="3646626"/>
            <a:ext cx="9692640" cy="329184"/>
          </a:xfrm>
          <a:prstGeom prst="rect">
            <a:avLst/>
          </a:prstGeom>
          <a:noFill/>
        </p:spPr>
        <p:txBody>
          <a:bodyPr wrap="square" anchor="ctr">
            <a:spAutoFit/>
          </a:bodyPr>
          <a:lstStyle/>
          <a:p>
            <a:pPr algn="l">
              <a:spcAft>
                <a:spcPts val="400"/>
              </a:spcAft>
            </a:pPr>
            <a:r>
              <a:rPr sz="850" b="1">
                <a:solidFill>
                  <a:srgbClr val="161B26"/>
                </a:solidFill>
                <a:latin typeface="Arial"/>
              </a:rPr>
              <a:t>Work through the NSA/CISA 'Deploying AI Systems Securely' controls under its three categories — secure the deployment environment, continuously protect the AI system, and secure AI operation and maintenance.</a:t>
            </a:r>
          </a:p>
        </p:txBody>
      </p:sp>
      <p:sp>
        <p:nvSpPr>
          <p:cNvPr id="26" name="Rectangle 25"/>
          <p:cNvSpPr/>
          <p:nvPr/>
        </p:nvSpPr>
        <p:spPr>
          <a:xfrm>
            <a:off x="1481328" y="4012386"/>
            <a:ext cx="9601200" cy="31455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012386"/>
            <a:ext cx="9326880" cy="314553"/>
          </a:xfrm>
          <a:prstGeom prst="rect">
            <a:avLst/>
          </a:prstGeom>
          <a:noFill/>
        </p:spPr>
        <p:txBody>
          <a:bodyPr wrap="square" anchor="ctr">
            <a:spAutoFit/>
          </a:bodyPr>
          <a:lstStyle/>
          <a:p>
            <a:pPr algn="l">
              <a:spcAft>
                <a:spcPts val="400"/>
              </a:spcAft>
            </a:pPr>
            <a:r>
              <a:rPr sz="1050" b="0">
                <a:solidFill>
                  <a:srgbClr val="9CDCFE"/>
                </a:solidFill>
                <a:latin typeface="Arial"/>
              </a:rPr>
              <a:t>$ https://www.cisa.gov/news-events/alerts/2024/04/15/joint-guidance-deploying-ai-systems-securely</a:t>
            </a:r>
          </a:p>
        </p:txBody>
      </p:sp>
      <p:sp>
        <p:nvSpPr>
          <p:cNvPr id="28" name="Rectangle 27"/>
          <p:cNvSpPr/>
          <p:nvPr/>
        </p:nvSpPr>
        <p:spPr>
          <a:xfrm>
            <a:off x="777240" y="4509819"/>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4509819"/>
            <a:ext cx="82296" cy="82661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69264" y="4740247"/>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9264" y="4740247"/>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32" name="TextBox 31"/>
          <p:cNvSpPr txBox="1"/>
          <p:nvPr/>
        </p:nvSpPr>
        <p:spPr>
          <a:xfrm>
            <a:off x="1481328" y="4509819"/>
            <a:ext cx="9692640" cy="826617"/>
          </a:xfrm>
          <a:prstGeom prst="rect">
            <a:avLst/>
          </a:prstGeom>
          <a:noFill/>
        </p:spPr>
        <p:txBody>
          <a:bodyPr wrap="square" anchor="ctr">
            <a:spAutoFit/>
          </a:bodyPr>
          <a:lstStyle/>
          <a:p>
            <a:pPr algn="l">
              <a:spcAft>
                <a:spcPts val="400"/>
              </a:spcAft>
            </a:pPr>
            <a:r>
              <a:rPr sz="850" b="0">
                <a:solidFill>
                  <a:srgbClr val="161B26"/>
                </a:solidFill>
                <a:latin typeface="Arial"/>
              </a:rPr>
              <a:t>Add the CISA/NSA AI data-security controls that protect the training pipeline: data provenance tracking, cryptographic integrity verification, digital signatures on dataset revisions, access control by classification, encryption in transit and at rest, and continuous risk assessment.</a:t>
            </a:r>
          </a:p>
        </p:txBody>
      </p:sp>
      <p:sp>
        <p:nvSpPr>
          <p:cNvPr id="33" name="Rectangle 32"/>
          <p:cNvSpPr/>
          <p:nvPr/>
        </p:nvSpPr>
        <p:spPr>
          <a:xfrm>
            <a:off x="777240" y="5427876"/>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77240" y="5427876"/>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969264" y="565830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69264" y="565830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37" name="TextBox 36"/>
          <p:cNvSpPr txBox="1"/>
          <p:nvPr/>
        </p:nvSpPr>
        <p:spPr>
          <a:xfrm>
            <a:off x="1481328" y="5427876"/>
            <a:ext cx="9692640" cy="826617"/>
          </a:xfrm>
          <a:prstGeom prst="rect">
            <a:avLst/>
          </a:prstGeom>
          <a:noFill/>
        </p:spPr>
        <p:txBody>
          <a:bodyPr wrap="square" anchor="ctr">
            <a:spAutoFit/>
          </a:bodyPr>
          <a:lstStyle/>
          <a:p>
            <a:pPr algn="l">
              <a:spcAft>
                <a:spcPts val="400"/>
              </a:spcAft>
            </a:pPr>
            <a:r>
              <a:rPr sz="850" b="0">
                <a:solidFill>
                  <a:srgbClr val="161B26"/>
                </a:solidFill>
                <a:latin typeface="Arial"/>
              </a:rPr>
              <a:t>Produce the hardening checklist for the AI components in your Lab 7 design. Every item names the control, the attack class it addresses, who owns it and how it is verified.</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spd="fast" advClick="1">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Secure the AI Itself — Adversarial ML and the NSA/CISA Deployment Controls — Part 3/3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11</a:t>
            </a:r>
          </a:p>
        </p:txBody>
      </p:sp>
      <p:sp>
        <p:nvSpPr>
          <p:cNvPr id="11" name="TextBox 10"/>
          <p:cNvSpPr txBox="1"/>
          <p:nvPr/>
        </p:nvSpPr>
        <p:spPr>
          <a:xfrm>
            <a:off x="1481328" y="1755648"/>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Add the one control that no framework will hand you: define what the security operation does when the AI is unavailable or untrusted. A detection capability with no manual fallback is a single point of failure.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fast" advClick="1">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Secure the AI Itself — Adversarial ML and the NSA/CISA Deployment Controls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 can demonstrate the slowed scan evading a model that detected the fast one, and you can state the measured detection drop after poisoning. Your checklist covers all three NSA/CISA categories, names an owner and a verification method for every control, and includes a stated fallback for when the AI is down.</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The slow scan is still detected</a:t>
            </a:r>
          </a:p>
        </p:txBody>
      </p:sp>
      <p:sp>
        <p:nvSpPr>
          <p:cNvPr id="15" name="TextBox 14"/>
          <p:cNvSpPr txBox="1"/>
          <p:nvPr/>
        </p:nvSpPr>
        <p:spPr>
          <a:xfrm>
            <a:off x="996696"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your feature set does not include a rate term, so slowing it changes nothing; add connections-per-second and retry.</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Poisoning shows no effect</a:t>
            </a:r>
          </a:p>
        </p:txBody>
      </p:sp>
      <p:sp>
        <p:nvSpPr>
          <p:cNvPr id="19" name="TextBox 18"/>
          <p:cNvSpPr txBox="1"/>
          <p:nvPr/>
        </p:nvSpPr>
        <p:spPr>
          <a:xfrm>
            <a:off x="4617720"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your injected sample is too small relative to the baseline; raise the proportion and re-measure.</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Results vary between runs</a:t>
            </a:r>
          </a:p>
        </p:txBody>
      </p:sp>
      <p:sp>
        <p:nvSpPr>
          <p:cNvPr id="23" name="TextBox 22"/>
          <p:cNvSpPr txBox="1"/>
          <p:nvPr/>
        </p:nvSpPr>
        <p:spPr>
          <a:xfrm>
            <a:off x="8238744"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set random_state so the comparison is fair.</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ransition spd="fast" advClick="1">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Topic 03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Lab 7 — Design the Layered Architecture Across the Three Security Phases</a:t>
            </a:r>
          </a:p>
          <a:p>
            <a:pPr algn="l">
              <a:spcAft>
                <a:spcPts val="300"/>
              </a:spcAft>
            </a:pPr>
            <a:r>
              <a:rPr sz="1200" b="0">
                <a:solidFill>
                  <a:srgbClr val="5B6372"/>
                </a:solidFill>
                <a:latin typeface="Arial"/>
              </a:rPr>
              <a:t>Define the planning, building and management phases for a network security design, and express the design as layered defence-in-depth controls.</a:t>
            </a:r>
          </a:p>
        </p:txBody>
      </p:sp>
      <p:sp>
        <p:nvSpPr>
          <p:cNvPr id="12" name="Rectangle 11"/>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447288"/>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Lab 8 — Implement AI-Enhanced Controls — Firewall Policy, IDS and Adaptive Access</a:t>
            </a:r>
          </a:p>
          <a:p>
            <a:pPr algn="l">
              <a:spcAft>
                <a:spcPts val="300"/>
              </a:spcAft>
            </a:pPr>
            <a:r>
              <a:rPr sz="1200" b="0">
                <a:solidFill>
                  <a:srgbClr val="5B6372"/>
                </a:solidFill>
                <a:latin typeface="Arial"/>
              </a:rPr>
              <a:t>Develop the security measures for the network components: build a default-deny firewall policy, tune detection rules, and specify adaptive AI-driven access control.</a:t>
            </a:r>
          </a:p>
        </p:txBody>
      </p:sp>
      <p:sp>
        <p:nvSpPr>
          <p:cNvPr id="17" name="Rectangle 16"/>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983480"/>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Lab 9 — Secure the AI Itself — Adversarial ML and the NSA/CISA Deployment Controls</a:t>
            </a:r>
          </a:p>
          <a:p>
            <a:pPr algn="l">
              <a:spcAft>
                <a:spcPts val="300"/>
              </a:spcAft>
            </a:pPr>
            <a:r>
              <a:rPr sz="1200" b="0">
                <a:solidFill>
                  <a:srgbClr val="5B6372"/>
                </a:solidFill>
                <a:latin typeface="Arial"/>
              </a:rPr>
              <a:t>Recognise that the AI you deploy is an attack surface, and apply the recognised controls for deploying an AI system securely.</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ransition spd="fast" advClick="1">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AI-Assisted Security Incident Documentation and Response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Logging &amp; syslog · SIEM/SOAR · AI alert triage · the NIST IR lifecycle · incident documentation · playbooks &amp; post-incident review</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ransition spd="med" advClick="1">
    <p:push dir="l"/>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04 · ROADMAP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Topic 04 — What It Covers and How It Is Assessed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Learning outcome</a:t>
            </a:r>
          </a:p>
          <a:p>
            <a:pPr algn="l">
              <a:spcAft>
                <a:spcPts val="300"/>
              </a:spcAft>
            </a:pPr>
            <a:r>
              <a:rPr sz="1100" b="0">
                <a:solidFill>
                  <a:srgbClr val="5B6372"/>
                </a:solidFill>
                <a:latin typeface="Arial"/>
              </a:rPr>
              <a:t>LO4 — Document security incidents and apply incident response configurations to manage risks based on established procedures.</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Knowledge assessed (WA-SAQ)</a:t>
            </a:r>
          </a:p>
          <a:p>
            <a:pPr algn="l">
              <a:spcAft>
                <a:spcPts val="300"/>
              </a:spcAft>
            </a:pPr>
            <a:r>
              <a:rPr sz="1100" b="0">
                <a:solidFill>
                  <a:srgbClr val="5B6372"/>
                </a:solidFill>
                <a:latin typeface="Arial"/>
              </a:rPr>
              <a:t>K4: Network security implementation risk management plans and procedures</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Abilities assessed (Case Study)</a:t>
            </a:r>
          </a:p>
          <a:p>
            <a:pPr algn="l">
              <a:spcAft>
                <a:spcPts val="300"/>
              </a:spcAft>
            </a:pPr>
            <a:r>
              <a:rPr sz="1100" b="0">
                <a:solidFill>
                  <a:srgbClr val="5B6372"/>
                </a:solidFill>
                <a:latin typeface="Arial"/>
              </a:rPr>
              <a:t>A8: Document security incidents · A9: Implement configurations aligned with incident response procedure design</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Hands-on labs</a:t>
            </a:r>
          </a:p>
          <a:p>
            <a:pPr algn="l">
              <a:spcAft>
                <a:spcPts val="300"/>
              </a:spcAft>
            </a:pPr>
            <a:r>
              <a:rPr sz="1100" b="0">
                <a:solidFill>
                  <a:srgbClr val="5B6372"/>
                </a:solidFill>
                <a:latin typeface="Arial"/>
              </a:rPr>
              <a:t>Labs 10, 11, 12 — 20% of course time.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transition spd="fast" advClick="1">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20%</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Topic 04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Logging is the evidence base of incident response — syslog, Windows Event Log, flow records and firewall logs must be centralised, time-synchronised and retained.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SIEM correlates events into incidents; SOAR executes the response playbook — isolate the host, revoke the credential, block the address — at machine speed.</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AI alert triage attacks the real bottleneck: it deduplicates, clusters and contextualises so the analyst sees a handful of ranked incidents instead of thousands of raw alerts.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transition spd="fast" advClick="1">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20%</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Topic 04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The NIST SP 800-61 lifecycle is Preparation, Detection &amp; Analysis, Containment/Eradication/Recovery, and Post-Incident Activity — AI accelerates each step but owns none of them.</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An incident record must state what happened, when, to which assets, the severity, the actions taken, the evidence, and the person accountable — this is the A8 deliverable.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Human-in-the-loop approval remains mandatory for destructive or wide-blast-radius actions; AI recommends, a named responder decides.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transition spd="fast" advClick="1">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A7 · WHAT TO LOG AND WHY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Logging — the Evidence Base of Incident Response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Syslog</a:t>
            </a:r>
          </a:p>
          <a:p>
            <a:pPr algn="l">
              <a:spcAft>
                <a:spcPts val="300"/>
              </a:spcAft>
            </a:pPr>
            <a:r>
              <a:rPr sz="1100" b="0">
                <a:solidFill>
                  <a:srgbClr val="5B6372"/>
                </a:solidFill>
                <a:latin typeface="Arial"/>
              </a:rPr>
              <a:t>The standard for network devices and Unix hosts; forwards to a central collector over UDP/TCP 514 or TLS.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Windows Event Log</a:t>
            </a:r>
          </a:p>
          <a:p>
            <a:pPr algn="l">
              <a:spcAft>
                <a:spcPts val="300"/>
              </a:spcAft>
            </a:pPr>
            <a:r>
              <a:rPr sz="1100" b="0">
                <a:solidFill>
                  <a:srgbClr val="5B6372"/>
                </a:solidFill>
                <a:latin typeface="Arial"/>
              </a:rPr>
              <a:t>Security, System and Application channels; forwarded with WEF or an agent to the same collector.</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Flow records</a:t>
            </a:r>
          </a:p>
          <a:p>
            <a:pPr algn="l">
              <a:spcAft>
                <a:spcPts val="300"/>
              </a:spcAft>
            </a:pPr>
            <a:r>
              <a:rPr sz="1100" b="0">
                <a:solidFill>
                  <a:srgbClr val="5B6372"/>
                </a:solidFill>
                <a:latin typeface="Arial"/>
              </a:rPr>
              <a:t>NetFlow, sFlow and IPFIX summarise who talked to whom, when and how much — cheap, and enough for most correlation.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Firewall &amp; IDS logs</a:t>
            </a:r>
          </a:p>
          <a:p>
            <a:pPr algn="l">
              <a:spcAft>
                <a:spcPts val="300"/>
              </a:spcAft>
            </a:pPr>
            <a:r>
              <a:rPr sz="1100" b="0">
                <a:solidFill>
                  <a:srgbClr val="5B6372"/>
                </a:solidFill>
                <a:latin typeface="Arial"/>
              </a:rPr>
              <a:t>Allow and deny decisions plus signature hits — the boundary record of what tried to cross.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Time synchronisation</a:t>
            </a:r>
          </a:p>
          <a:p>
            <a:pPr algn="l">
              <a:spcAft>
                <a:spcPts val="300"/>
              </a:spcAft>
            </a:pPr>
            <a:r>
              <a:rPr sz="1100" b="0">
                <a:solidFill>
                  <a:srgbClr val="5B6372"/>
                </a:solidFill>
                <a:latin typeface="Arial"/>
              </a:rPr>
              <a:t>Every source on NTP against the same reference. Skewed clocks make cross-source correlation worthless.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Retention &amp; integrity</a:t>
            </a:r>
          </a:p>
          <a:p>
            <a:pPr algn="l">
              <a:spcAft>
                <a:spcPts val="300"/>
              </a:spcAft>
            </a:pPr>
            <a:r>
              <a:rPr sz="1100" b="0">
                <a:solidFill>
                  <a:srgbClr val="5B6372"/>
                </a:solidFill>
                <a:latin typeface="Arial"/>
              </a:rPr>
              <a:t>Keep long enough to investigate a slow intrusion, and store so that an attacker with local admin cannot rewrite it.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transition spd="fast" advClick="1">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K4 · THE OPERATIONS STACK</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SIEM vs SOAR vs XDR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SIEM</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SOAR</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XDR</a:t>
            </a:r>
          </a:p>
        </p:txBody>
      </p:sp>
      <p:sp>
        <p:nvSpPr>
          <p:cNvPr id="15" name="Rectangle 14"/>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Primary job</a:t>
            </a:r>
          </a:p>
        </p:txBody>
      </p:sp>
      <p:sp>
        <p:nvSpPr>
          <p:cNvPr id="17" name="Rectangle 16"/>
          <p:cNvSpPr/>
          <p:nvPr/>
        </p:nvSpPr>
        <p:spPr>
          <a:xfrm>
            <a:off x="354220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Collect and correlate events into incidents</a:t>
            </a:r>
          </a:p>
        </p:txBody>
      </p:sp>
      <p:sp>
        <p:nvSpPr>
          <p:cNvPr id="19" name="Rectangle 18"/>
          <p:cNvSpPr/>
          <p:nvPr/>
        </p:nvSpPr>
        <p:spPr>
          <a:xfrm>
            <a:off x="616537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Execute the response playbook</a:t>
            </a:r>
          </a:p>
        </p:txBody>
      </p:sp>
      <p:sp>
        <p:nvSpPr>
          <p:cNvPr id="21" name="Rectangle 20"/>
          <p:cNvSpPr/>
          <p:nvPr/>
        </p:nvSpPr>
        <p:spPr>
          <a:xfrm>
            <a:off x="878854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Detect and respond across layers in one platform</a:t>
            </a:r>
          </a:p>
        </p:txBody>
      </p:sp>
      <p:sp>
        <p:nvSpPr>
          <p:cNvPr id="23" name="Rectangle 22"/>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Core input</a:t>
            </a:r>
          </a:p>
        </p:txBody>
      </p:sp>
      <p:sp>
        <p:nvSpPr>
          <p:cNvPr id="25" name="Rectangle 24"/>
          <p:cNvSpPr/>
          <p:nvPr/>
        </p:nvSpPr>
        <p:spPr>
          <a:xfrm>
            <a:off x="354220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Logs from everywhere</a:t>
            </a:r>
          </a:p>
        </p:txBody>
      </p:sp>
      <p:sp>
        <p:nvSpPr>
          <p:cNvPr id="27" name="Rectangle 26"/>
          <p:cNvSpPr/>
          <p:nvPr/>
        </p:nvSpPr>
        <p:spPr>
          <a:xfrm>
            <a:off x="616537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An alert plus a playbook</a:t>
            </a:r>
          </a:p>
        </p:txBody>
      </p:sp>
      <p:sp>
        <p:nvSpPr>
          <p:cNvPr id="29" name="Rectangle 28"/>
          <p:cNvSpPr/>
          <p:nvPr/>
        </p:nvSpPr>
        <p:spPr>
          <a:xfrm>
            <a:off x="878854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Endpoint, network, identity and cloud telemetry</a:t>
            </a:r>
          </a:p>
        </p:txBody>
      </p:sp>
      <p:sp>
        <p:nvSpPr>
          <p:cNvPr id="31" name="Rectangle 30"/>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Core output</a:t>
            </a:r>
          </a:p>
        </p:txBody>
      </p:sp>
      <p:sp>
        <p:nvSpPr>
          <p:cNvPr id="33" name="Rectangle 32"/>
          <p:cNvSpPr/>
          <p:nvPr/>
        </p:nvSpPr>
        <p:spPr>
          <a:xfrm>
            <a:off x="354220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A prioritised incident</a:t>
            </a:r>
          </a:p>
        </p:txBody>
      </p:sp>
      <p:sp>
        <p:nvSpPr>
          <p:cNvPr id="35" name="Rectangle 34"/>
          <p:cNvSpPr/>
          <p:nvPr/>
        </p:nvSpPr>
        <p:spPr>
          <a:xfrm>
            <a:off x="616537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An action taken automatically</a:t>
            </a:r>
          </a:p>
        </p:txBody>
      </p:sp>
      <p:sp>
        <p:nvSpPr>
          <p:cNvPr id="37" name="Rectangle 36"/>
          <p:cNvSpPr/>
          <p:nvPr/>
        </p:nvSpPr>
        <p:spPr>
          <a:xfrm>
            <a:off x="878854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A correlated incident with response built in</a:t>
            </a:r>
          </a:p>
        </p:txBody>
      </p:sp>
      <p:sp>
        <p:nvSpPr>
          <p:cNvPr id="39" name="Rectangle 38"/>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Where AI helps</a:t>
            </a:r>
          </a:p>
        </p:txBody>
      </p:sp>
      <p:sp>
        <p:nvSpPr>
          <p:cNvPr id="41" name="Rectangle 40"/>
          <p:cNvSpPr/>
          <p:nvPr/>
        </p:nvSpPr>
        <p:spPr>
          <a:xfrm>
            <a:off x="354220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Correlation, deduplication, ranking</a:t>
            </a:r>
          </a:p>
        </p:txBody>
      </p:sp>
      <p:sp>
        <p:nvSpPr>
          <p:cNvPr id="43" name="Rectangle 42"/>
          <p:cNvSpPr/>
          <p:nvPr/>
        </p:nvSpPr>
        <p:spPr>
          <a:xfrm>
            <a:off x="616537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Deciding which playbook and when</a:t>
            </a:r>
          </a:p>
        </p:txBody>
      </p:sp>
      <p:sp>
        <p:nvSpPr>
          <p:cNvPr id="45" name="Rectangle 44"/>
          <p:cNvSpPr/>
          <p:nvPr/>
        </p:nvSpPr>
        <p:spPr>
          <a:xfrm>
            <a:off x="878854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Cross-layer correlation and root cause</a:t>
            </a:r>
          </a:p>
        </p:txBody>
      </p:sp>
      <p:sp>
        <p:nvSpPr>
          <p:cNvPr id="47" name="Rectangle 4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Human role</a:t>
            </a:r>
          </a:p>
        </p:txBody>
      </p:sp>
      <p:sp>
        <p:nvSpPr>
          <p:cNvPr id="49" name="Rectangle 48"/>
          <p:cNvSpPr/>
          <p:nvPr/>
        </p:nvSpPr>
        <p:spPr>
          <a:xfrm>
            <a:off x="354220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7021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Investigate and decide</a:t>
            </a:r>
          </a:p>
        </p:txBody>
      </p:sp>
      <p:sp>
        <p:nvSpPr>
          <p:cNvPr id="51" name="Rectangle 50"/>
          <p:cNvSpPr/>
          <p:nvPr/>
        </p:nvSpPr>
        <p:spPr>
          <a:xfrm>
            <a:off x="616537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9338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Approve high-impact actions</a:t>
            </a:r>
          </a:p>
        </p:txBody>
      </p:sp>
      <p:sp>
        <p:nvSpPr>
          <p:cNvPr id="53" name="Rectangle 52"/>
          <p:cNvSpPr/>
          <p:nvPr/>
        </p:nvSpPr>
        <p:spPr>
          <a:xfrm>
            <a:off x="878854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91655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Investigate, and own the decision</a:t>
            </a:r>
          </a:p>
        </p:txBody>
      </p:sp>
      <p:sp>
        <p:nvSpPr>
          <p:cNvPr id="55" name="Rectangle 54"/>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77240" y="5358381"/>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The names blur between vendors. Judge a platform by what it actually does with your telemetry, not by which of these three words appears on the datasheet.</a:t>
            </a:r>
          </a:p>
        </p:txBody>
      </p:sp>
      <p:sp>
        <p:nvSpPr>
          <p:cNvPr id="58" name="TextBox 5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59" name="TextBox 5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0" name="TextBox 5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transition spd="fast" advClick="1">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LO4 · SOLVING THE REAL BOTTLENECK</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AI-Assisted Alert Triage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Ingest</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Raw alerts from every source</a:t>
            </a:r>
          </a:p>
        </p:txBody>
      </p:sp>
      <p:cxnSp>
        <p:nvCxnSpPr>
          <p:cNvPr id="13" name="Connector 12"/>
          <p:cNvCxnSpPr/>
          <p:nvPr/>
        </p:nvCxnSpPr>
        <p:spPr>
          <a:xfrm>
            <a:off x="2651760"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Deduplicate</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Collapse repeats into one with a count</a:t>
            </a:r>
          </a:p>
        </p:txBody>
      </p:sp>
      <p:cxnSp>
        <p:nvCxnSpPr>
          <p:cNvPr id="20" name="Connector 19"/>
          <p:cNvCxnSpPr/>
          <p:nvPr/>
        </p:nvCxnSpPr>
        <p:spPr>
          <a:xfrm>
            <a:off x="4855464"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Cluster</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Group by host, time and campaign</a:t>
            </a:r>
          </a:p>
        </p:txBody>
      </p:sp>
      <p:cxnSp>
        <p:nvCxnSpPr>
          <p:cNvPr id="27" name="Connector 26"/>
          <p:cNvCxnSpPr/>
          <p:nvPr/>
        </p:nvCxnSpPr>
        <p:spPr>
          <a:xfrm>
            <a:off x="7059168"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Enrich</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Add asset value and threat intel</a:t>
            </a:r>
          </a:p>
        </p:txBody>
      </p:sp>
      <p:cxnSp>
        <p:nvCxnSpPr>
          <p:cNvPr id="34" name="Connector 33"/>
          <p:cNvCxnSpPr/>
          <p:nvPr/>
        </p:nvCxnSpPr>
        <p:spPr>
          <a:xfrm>
            <a:off x="9262872"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Rank</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Order by investigation priority</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7C3AED"/>
                </a:solidFill>
                <a:latin typeface="Arial"/>
              </a:rPr>
              <a:t>WHY THIS MATTERS MOST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Detection is rarely the failure point — the failure is that the true alert was sitting in a queue nobody could read. Triage is where AI returns the most analyst time.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K4 · THE LIFECYCLE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NIST SP 800-61 Incident Response Lifecycle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Preparation</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Playbooks, tooling, training, contacts</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Detection &amp; analysis</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Confirm, scope and classify the incident</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Containment</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Stop the spread without destroying evidence</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Eradication &amp; recovery</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Remove the cause, restore, verify</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Post-incident</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Lessons learned feed back into the plan</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AI ACCELERATES, IT DOES NOT OWN</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AI speeds up detection, scoping and drafting. Classification, containment authority and the lessons-learned judgement stay with a named responder.</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LO4 · A8 · THE DELIVERABLE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a Defensible Incident Record Contains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Identification</a:t>
            </a:r>
          </a:p>
          <a:p>
            <a:pPr algn="l">
              <a:spcAft>
                <a:spcPts val="300"/>
              </a:spcAft>
            </a:pPr>
            <a:r>
              <a:rPr sz="1100" b="0">
                <a:solidFill>
                  <a:srgbClr val="5B6372"/>
                </a:solidFill>
                <a:latin typeface="Arial"/>
              </a:rPr>
              <a:t>Incident ID, detection time, who detected it, who is handling it, current status.</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Evidence-based timeline</a:t>
            </a:r>
          </a:p>
          <a:p>
            <a:pPr algn="l">
              <a:spcAft>
                <a:spcPts val="300"/>
              </a:spcAft>
            </a:pPr>
            <a:r>
              <a:rPr sz="1100" b="0">
                <a:solidFill>
                  <a:srgbClr val="5B6372"/>
                </a:solidFill>
                <a:latin typeface="Arial"/>
              </a:rPr>
              <a:t>Every entry timestamped in UTC with the log line or capture that proves it.</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063240"/>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Classification</a:t>
            </a:r>
          </a:p>
          <a:p>
            <a:pPr algn="l">
              <a:spcAft>
                <a:spcPts val="300"/>
              </a:spcAft>
            </a:pPr>
            <a:r>
              <a:rPr sz="1100" b="0">
                <a:solidFill>
                  <a:srgbClr val="5B6372"/>
                </a:solidFill>
                <a:latin typeface="Arial"/>
              </a:rPr>
              <a:t>Severity, with the written criteria that produced it — so the rating can be reviewed, not just asserted.</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063240"/>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Affected assets</a:t>
            </a:r>
          </a:p>
          <a:p>
            <a:pPr algn="l">
              <a:spcAft>
                <a:spcPts val="300"/>
              </a:spcAft>
            </a:pPr>
            <a:r>
              <a:rPr sz="1100" b="0">
                <a:solidFill>
                  <a:srgbClr val="5B6372"/>
                </a:solidFill>
                <a:latin typeface="Arial"/>
              </a:rPr>
              <a:t>Named from the asset register, with criticality and the data classification each one holds.</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215384"/>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Actions taken</a:t>
            </a:r>
          </a:p>
          <a:p>
            <a:pPr algn="l">
              <a:spcAft>
                <a:spcPts val="300"/>
              </a:spcAft>
            </a:pPr>
            <a:r>
              <a:rPr sz="1100" b="0">
                <a:solidFill>
                  <a:srgbClr val="5B6372"/>
                </a:solidFill>
                <a:latin typeface="Arial"/>
              </a:rPr>
              <a:t>Each with a timestamp and the person who took it, including the options considered and rejected.</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215384"/>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Evidence inventory</a:t>
            </a:r>
          </a:p>
          <a:p>
            <a:pPr algn="l">
              <a:spcAft>
                <a:spcPts val="300"/>
              </a:spcAft>
            </a:pPr>
            <a:r>
              <a:rPr sz="1100" b="0">
                <a:solidFill>
                  <a:srgbClr val="5B6372"/>
                </a:solidFill>
                <a:latin typeface="Arial"/>
              </a:rPr>
              <a:t>Every artefact with its storage location, its hash and who has access to it.</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367528"/>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Notifications</a:t>
            </a:r>
          </a:p>
          <a:p>
            <a:pPr algn="l">
              <a:spcAft>
                <a:spcPts val="300"/>
              </a:spcAft>
            </a:pPr>
            <a:r>
              <a:rPr sz="1100" b="0">
                <a:solidFill>
                  <a:srgbClr val="5B6372"/>
                </a:solidFill>
                <a:latin typeface="Arial"/>
              </a:rPr>
              <a:t>Who was told, when, and which obligations were considered — including PDPA notification to the PDPC where engaged.</a:t>
            </a:r>
          </a:p>
        </p:txBody>
      </p:sp>
      <p:sp>
        <p:nvSpPr>
          <p:cNvPr id="42" name="Rectangle 41"/>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87668"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87668"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46" name="TextBox 45"/>
          <p:cNvSpPr txBox="1"/>
          <p:nvPr/>
        </p:nvSpPr>
        <p:spPr>
          <a:xfrm>
            <a:off x="7219188" y="5367528"/>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Lessons learned</a:t>
            </a:r>
          </a:p>
          <a:p>
            <a:pPr algn="l">
              <a:spcAft>
                <a:spcPts val="300"/>
              </a:spcAft>
            </a:pPr>
            <a:r>
              <a:rPr sz="1100" b="0">
                <a:solidFill>
                  <a:srgbClr val="5B6372"/>
                </a:solidFill>
                <a:latin typeface="Arial"/>
              </a:rPr>
              <a:t>What detected it, what delayed the response, and the one control change that goes back into the plan.</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transition spd="fast" advClick="1">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LO4 · A9 · THE HUMAN-IN-THE-LOOP BOUNDARY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Can This Response Step Be Automated?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Is the action
reversible, and is its
blast radius smaller
than the incident?</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YES — automate it</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Block a single source address, quarantine one file, expire one session, raise an alert. Fast, reversible, contained.</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NO — require approval</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Isolate a production server, disable an executive's account, block an entire subnet. A named person approves.</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Ask the question before the incident, not during it. An automated action that takes a hospital's patient system offline to stop a low-severity alert is itself the incident.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transition spd="fast" advClick="1">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Hands-On Labs — Topic 04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10</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Centralise Logs and Triage Alerts with AI</a:t>
            </a:r>
          </a:p>
          <a:p>
            <a:pPr>
              <a:spcAft>
                <a:spcPts val="900"/>
              </a:spcAft>
            </a:pPr>
            <a:r>
              <a:rPr sz="1400" b="0">
                <a:solidFill>
                  <a:srgbClr val="161B26"/>
                </a:solidFill>
                <a:latin typeface="Arial"/>
              </a:rPr>
              <a:t>•  </a:t>
            </a:r>
          </a:p>
          <a:p>
            <a:pPr>
              <a:spcAft>
                <a:spcPts val="900"/>
              </a:spcAft>
            </a:pPr>
            <a:r>
              <a:rPr sz="1400" b="0">
                <a:solidFill>
                  <a:srgbClr val="161B26"/>
                </a:solidFill>
                <a:latin typeface="Arial"/>
              </a:rPr>
              <a:t>•  Design the auditing arrangement that makes incident response possible, then use AI to reduce a flood of raw alerts into </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11</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Document a Security Incident to the Standard</a:t>
            </a:r>
          </a:p>
          <a:p>
            <a:pPr>
              <a:spcAft>
                <a:spcPts val="900"/>
              </a:spcAft>
            </a:pPr>
            <a:r>
              <a:rPr sz="1400" b="0">
                <a:solidFill>
                  <a:srgbClr val="161B26"/>
                </a:solidFill>
                <a:latin typeface="Arial"/>
              </a:rPr>
              <a:t>•  </a:t>
            </a:r>
          </a:p>
          <a:p>
            <a:pPr>
              <a:spcAft>
                <a:spcPts val="900"/>
              </a:spcAft>
            </a:pPr>
            <a:r>
              <a:rPr sz="1400" b="0">
                <a:solidFill>
                  <a:srgbClr val="161B26"/>
                </a:solidFill>
                <a:latin typeface="Arial"/>
              </a:rPr>
              <a:t>•  Produce an incident record that is complete enough to hand to a manager, an auditor or a regulator without a conversatio</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12</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Implement the Incident Response Configuration and Playbook</a:t>
            </a:r>
          </a:p>
          <a:p>
            <a:pPr>
              <a:spcAft>
                <a:spcPts val="900"/>
              </a:spcAft>
            </a:pPr>
            <a:r>
              <a:rPr sz="1400" b="0">
                <a:solidFill>
                  <a:srgbClr val="161B26"/>
                </a:solidFill>
                <a:latin typeface="Arial"/>
              </a:rPr>
              <a:t>•  </a:t>
            </a:r>
          </a:p>
          <a:p>
            <a:pPr>
              <a:spcAft>
                <a:spcPts val="900"/>
              </a:spcAft>
            </a:pPr>
            <a:r>
              <a:rPr sz="1400" b="0">
                <a:solidFill>
                  <a:srgbClr val="161B26"/>
                </a:solidFill>
                <a:latin typeface="Arial"/>
              </a:rPr>
              <a:t>•  Implement configurations aligned to the incident response design: containment controls, an automated playbook and the hu</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transition spd="fast" advClick="1">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Centralise Logs and Triage Alerts with 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10</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A7 · K4 — Design the auditing arrangement that makes incident response possible, then use AI to reduce a flood of raw alerts into a ranked, workable queue.</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Incident response is only as good as the evidence available when it starts. In this lab you define what must be logged and for how long, work with a realistic multi-source log set, and then attack the actual bottleneck of a security operation: alert volume. You deduplicate, cluster and enrich the alerts, use an AI assistant to rank them and explain its reasoning, and then measure whether the ranking was any good.</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logging and audit specification, plus a triaged alert queue ranked by priority with an AI-generated rationale for each and your own verification of the top ten.</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syslog, Windows Event Log, Python, pandas, a generative AI assistant</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logging specification names the source, events, retention and central destination for every asset class. Deduplication and clustering reduce the queue by a measurable percentage that you can state, and you can report the triage precision of the top ten with the evidence that decided each one.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transition spd="fast" advClick="1">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10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Write the log spec</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List required events</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Synchronise the clocks</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Protect log integrity</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Load the alert set</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A7 · K4 — Design the auditing arrangement that makes incident response possible, then use AI to reduce a flood of raw alerts into a ranked, workable queue.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Centralise Logs and Triage Alerts with AI — Part 1/3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1986076"/>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98607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55648"/>
            <a:ext cx="9692640" cy="826617"/>
          </a:xfrm>
          <a:prstGeom prst="rect">
            <a:avLst/>
          </a:prstGeom>
          <a:noFill/>
        </p:spPr>
        <p:txBody>
          <a:bodyPr wrap="square" anchor="ctr">
            <a:spAutoFit/>
          </a:bodyPr>
          <a:lstStyle/>
          <a:p>
            <a:pPr algn="l">
              <a:spcAft>
                <a:spcPts val="400"/>
              </a:spcAft>
            </a:pPr>
            <a:r>
              <a:rPr sz="1000" b="0">
                <a:solidFill>
                  <a:srgbClr val="161B26"/>
                </a:solidFill>
                <a:latin typeface="Arial"/>
              </a:rPr>
              <a:t>Write the logging specification: for each asset class name the log source, the events that must be captured, the retention period and where the log is centralised.</a:t>
            </a:r>
          </a:p>
        </p:txBody>
      </p:sp>
      <p:sp>
        <p:nvSpPr>
          <p:cNvPr id="12" name="Rectangle 11"/>
          <p:cNvSpPr/>
          <p:nvPr/>
        </p:nvSpPr>
        <p:spPr>
          <a:xfrm>
            <a:off x="777240" y="2673705"/>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673705"/>
            <a:ext cx="82296" cy="82661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2904133"/>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290413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673705"/>
            <a:ext cx="9692640" cy="826617"/>
          </a:xfrm>
          <a:prstGeom prst="rect">
            <a:avLst/>
          </a:prstGeom>
          <a:noFill/>
        </p:spPr>
        <p:txBody>
          <a:bodyPr wrap="square" anchor="ctr">
            <a:spAutoFit/>
          </a:bodyPr>
          <a:lstStyle/>
          <a:p>
            <a:pPr algn="l">
              <a:spcAft>
                <a:spcPts val="400"/>
              </a:spcAft>
            </a:pPr>
            <a:r>
              <a:rPr sz="1000" b="0">
                <a:solidFill>
                  <a:srgbClr val="161B26"/>
                </a:solidFill>
                <a:latin typeface="Arial"/>
              </a:rPr>
              <a:t>Include the events that matter for investigation — authentication success and failure, privilege escalation, configuration change, firewall deny, and process or service creation. A log of only failures cannot reconstruct an intrusion.</a:t>
            </a:r>
          </a:p>
        </p:txBody>
      </p:sp>
      <p:sp>
        <p:nvSpPr>
          <p:cNvPr id="17" name="Rectangle 16"/>
          <p:cNvSpPr/>
          <p:nvPr/>
        </p:nvSpPr>
        <p:spPr>
          <a:xfrm>
            <a:off x="777240" y="3591762"/>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591762"/>
            <a:ext cx="82296" cy="82661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9264" y="3822190"/>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382219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81328" y="3646626"/>
            <a:ext cx="9692640" cy="329184"/>
          </a:xfrm>
          <a:prstGeom prst="rect">
            <a:avLst/>
          </a:prstGeom>
          <a:noFill/>
        </p:spPr>
        <p:txBody>
          <a:bodyPr wrap="square" anchor="ctr">
            <a:spAutoFit/>
          </a:bodyPr>
          <a:lstStyle/>
          <a:p>
            <a:pPr algn="l">
              <a:spcAft>
                <a:spcPts val="400"/>
              </a:spcAft>
            </a:pPr>
            <a:r>
              <a:rPr sz="1000" b="1">
                <a:solidFill>
                  <a:srgbClr val="161B26"/>
                </a:solidFill>
                <a:latin typeface="Arial"/>
              </a:rPr>
              <a:t>Specify time synchronisation. Every source must use NTP against the same reference, because a correlation across sources with skewed clocks is worthless.</a:t>
            </a:r>
          </a:p>
        </p:txBody>
      </p:sp>
      <p:sp>
        <p:nvSpPr>
          <p:cNvPr id="22" name="Rectangle 21"/>
          <p:cNvSpPr/>
          <p:nvPr/>
        </p:nvSpPr>
        <p:spPr>
          <a:xfrm>
            <a:off x="1481328" y="4012386"/>
            <a:ext cx="9601200" cy="31455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627632" y="4012386"/>
            <a:ext cx="9326880" cy="314553"/>
          </a:xfrm>
          <a:prstGeom prst="rect">
            <a:avLst/>
          </a:prstGeom>
          <a:noFill/>
        </p:spPr>
        <p:txBody>
          <a:bodyPr wrap="square" anchor="ctr">
            <a:spAutoFit/>
          </a:bodyPr>
          <a:lstStyle/>
          <a:p>
            <a:pPr algn="l">
              <a:spcAft>
                <a:spcPts val="400"/>
              </a:spcAft>
            </a:pPr>
            <a:r>
              <a:rPr sz="1050" b="0">
                <a:solidFill>
                  <a:srgbClr val="9CDCFE"/>
                </a:solidFill>
                <a:latin typeface="Arial"/>
              </a:rPr>
              <a:t>$ timedatectl set-ntp true &amp;&amp; timedatectl status</a:t>
            </a:r>
          </a:p>
        </p:txBody>
      </p:sp>
      <p:sp>
        <p:nvSpPr>
          <p:cNvPr id="24" name="Rectangle 23"/>
          <p:cNvSpPr/>
          <p:nvPr/>
        </p:nvSpPr>
        <p:spPr>
          <a:xfrm>
            <a:off x="777240" y="4509819"/>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4509819"/>
            <a:ext cx="82296" cy="82661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9264" y="4740247"/>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 y="4740247"/>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8" name="TextBox 27"/>
          <p:cNvSpPr txBox="1"/>
          <p:nvPr/>
        </p:nvSpPr>
        <p:spPr>
          <a:xfrm>
            <a:off x="1481328" y="4509819"/>
            <a:ext cx="9692640" cy="826617"/>
          </a:xfrm>
          <a:prstGeom prst="rect">
            <a:avLst/>
          </a:prstGeom>
          <a:noFill/>
        </p:spPr>
        <p:txBody>
          <a:bodyPr wrap="square" anchor="ctr">
            <a:spAutoFit/>
          </a:bodyPr>
          <a:lstStyle/>
          <a:p>
            <a:pPr algn="l">
              <a:spcAft>
                <a:spcPts val="400"/>
              </a:spcAft>
            </a:pPr>
            <a:r>
              <a:rPr sz="1000" b="0">
                <a:solidFill>
                  <a:srgbClr val="161B26"/>
                </a:solidFill>
                <a:latin typeface="Arial"/>
              </a:rPr>
              <a:t>Confirm the log integrity controls: append-only or write-once storage, restricted access, and forwarding off the host — an attacker with local admin will clear the local log first.</a:t>
            </a:r>
          </a:p>
        </p:txBody>
      </p:sp>
      <p:sp>
        <p:nvSpPr>
          <p:cNvPr id="29" name="Rectangle 28"/>
          <p:cNvSpPr/>
          <p:nvPr/>
        </p:nvSpPr>
        <p:spPr>
          <a:xfrm>
            <a:off x="777240" y="5427876"/>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7240" y="5427876"/>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69264" y="565830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9264" y="565830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3" name="TextBox 32"/>
          <p:cNvSpPr txBox="1"/>
          <p:nvPr/>
        </p:nvSpPr>
        <p:spPr>
          <a:xfrm>
            <a:off x="1481328" y="5482740"/>
            <a:ext cx="9692640" cy="329184"/>
          </a:xfrm>
          <a:prstGeom prst="rect">
            <a:avLst/>
          </a:prstGeom>
          <a:noFill/>
        </p:spPr>
        <p:txBody>
          <a:bodyPr wrap="square" anchor="ctr">
            <a:spAutoFit/>
          </a:bodyPr>
          <a:lstStyle/>
          <a:p>
            <a:pPr algn="l">
              <a:spcAft>
                <a:spcPts val="400"/>
              </a:spcAft>
            </a:pPr>
            <a:r>
              <a:rPr sz="1000" b="1">
                <a:solidFill>
                  <a:srgbClr val="161B26"/>
                </a:solidFill>
                <a:latin typeface="Arial"/>
              </a:rPr>
              <a:t>Load the provided multi-source alert set into pandas and look at the raw volume. This is the problem the rest of the lab solves.</a:t>
            </a:r>
          </a:p>
        </p:txBody>
      </p:sp>
      <p:sp>
        <p:nvSpPr>
          <p:cNvPr id="34" name="Rectangle 33"/>
          <p:cNvSpPr/>
          <p:nvPr/>
        </p:nvSpPr>
        <p:spPr>
          <a:xfrm>
            <a:off x="1481328" y="5848500"/>
            <a:ext cx="9601200" cy="31455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627632" y="5848500"/>
            <a:ext cx="9326880" cy="314553"/>
          </a:xfrm>
          <a:prstGeom prst="rect">
            <a:avLst/>
          </a:prstGeom>
          <a:noFill/>
        </p:spPr>
        <p:txBody>
          <a:bodyPr wrap="square" anchor="ctr">
            <a:spAutoFit/>
          </a:bodyPr>
          <a:lstStyle/>
          <a:p>
            <a:pPr algn="l">
              <a:spcAft>
                <a:spcPts val="400"/>
              </a:spcAft>
            </a:pPr>
            <a:r>
              <a:rPr sz="1050" b="0">
                <a:solidFill>
                  <a:srgbClr val="9CDCFE"/>
                </a:solidFill>
                <a:latin typeface="Arial"/>
              </a:rPr>
              <a:t>$ python3 triage.py   # provided in labs/lab-10/</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transition spd="fast" advClick="1">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Centralise Logs and Triage Alerts with AI — Part 2/3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1986076"/>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98607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1" name="TextBox 10"/>
          <p:cNvSpPr txBox="1"/>
          <p:nvPr/>
        </p:nvSpPr>
        <p:spPr>
          <a:xfrm>
            <a:off x="1481328" y="1810512"/>
            <a:ext cx="9692640" cy="329184"/>
          </a:xfrm>
          <a:prstGeom prst="rect">
            <a:avLst/>
          </a:prstGeom>
          <a:noFill/>
        </p:spPr>
        <p:txBody>
          <a:bodyPr wrap="square" anchor="ctr">
            <a:spAutoFit/>
          </a:bodyPr>
          <a:lstStyle/>
          <a:p>
            <a:pPr algn="l">
              <a:spcAft>
                <a:spcPts val="400"/>
              </a:spcAft>
            </a:pPr>
            <a:r>
              <a:rPr sz="850" b="1">
                <a:solidFill>
                  <a:srgbClr val="161B26"/>
                </a:solidFill>
                <a:latin typeface="Arial"/>
              </a:rPr>
              <a:t>Deduplicate: collapse identical alerts on the same source, destination and signature within a time window into one alert with a count. Record how much this alone reduces the queue.</a:t>
            </a:r>
          </a:p>
        </p:txBody>
      </p:sp>
      <p:sp>
        <p:nvSpPr>
          <p:cNvPr id="12" name="Rectangle 11"/>
          <p:cNvSpPr/>
          <p:nvPr/>
        </p:nvSpPr>
        <p:spPr>
          <a:xfrm>
            <a:off x="1481328" y="2176272"/>
            <a:ext cx="9601200" cy="31455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76272"/>
            <a:ext cx="9326880" cy="314553"/>
          </a:xfrm>
          <a:prstGeom prst="rect">
            <a:avLst/>
          </a:prstGeom>
          <a:noFill/>
        </p:spPr>
        <p:txBody>
          <a:bodyPr wrap="square" anchor="ctr">
            <a:spAutoFit/>
          </a:bodyPr>
          <a:lstStyle/>
          <a:p>
            <a:pPr algn="l">
              <a:spcAft>
                <a:spcPts val="400"/>
              </a:spcAft>
            </a:pPr>
            <a:r>
              <a:rPr sz="950" b="0">
                <a:solidFill>
                  <a:srgbClr val="9CDCFE"/>
                </a:solidFill>
                <a:latin typeface="Arial"/>
              </a:rPr>
              <a:t>$ df.groupby(['src','dst','signature']).agg(count=('ts','size'), first=('ts','min'), last=('ts','max'))</a:t>
            </a:r>
          </a:p>
        </p:txBody>
      </p:sp>
      <p:sp>
        <p:nvSpPr>
          <p:cNvPr id="14" name="Rectangle 13"/>
          <p:cNvSpPr/>
          <p:nvPr/>
        </p:nvSpPr>
        <p:spPr>
          <a:xfrm>
            <a:off x="777240" y="2673705"/>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673705"/>
            <a:ext cx="82296" cy="82661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2904133"/>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290413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8" name="TextBox 17"/>
          <p:cNvSpPr txBox="1"/>
          <p:nvPr/>
        </p:nvSpPr>
        <p:spPr>
          <a:xfrm>
            <a:off x="1481328" y="2673705"/>
            <a:ext cx="9692640" cy="826617"/>
          </a:xfrm>
          <a:prstGeom prst="rect">
            <a:avLst/>
          </a:prstGeom>
          <a:noFill/>
        </p:spPr>
        <p:txBody>
          <a:bodyPr wrap="square" anchor="ctr">
            <a:spAutoFit/>
          </a:bodyPr>
          <a:lstStyle/>
          <a:p>
            <a:pPr algn="l">
              <a:spcAft>
                <a:spcPts val="400"/>
              </a:spcAft>
            </a:pPr>
            <a:r>
              <a:rPr sz="850" b="0">
                <a:solidFill>
                  <a:srgbClr val="161B26"/>
                </a:solidFill>
                <a:latin typeface="Arial"/>
              </a:rPr>
              <a:t>Cluster the remaining alerts by source and by time so that a burst from one host reads as one incident rather than forty unrelated events.</a:t>
            </a:r>
          </a:p>
        </p:txBody>
      </p:sp>
      <p:sp>
        <p:nvSpPr>
          <p:cNvPr id="19" name="Rectangle 18"/>
          <p:cNvSpPr/>
          <p:nvPr/>
        </p:nvSpPr>
        <p:spPr>
          <a:xfrm>
            <a:off x="777240" y="3591762"/>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591762"/>
            <a:ext cx="82296" cy="82661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3822190"/>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382219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23" name="TextBox 22"/>
          <p:cNvSpPr txBox="1"/>
          <p:nvPr/>
        </p:nvSpPr>
        <p:spPr>
          <a:xfrm>
            <a:off x="1481328" y="3591762"/>
            <a:ext cx="9692640" cy="826617"/>
          </a:xfrm>
          <a:prstGeom prst="rect">
            <a:avLst/>
          </a:prstGeom>
          <a:noFill/>
        </p:spPr>
        <p:txBody>
          <a:bodyPr wrap="square" anchor="ctr">
            <a:spAutoFit/>
          </a:bodyPr>
          <a:lstStyle/>
          <a:p>
            <a:pPr algn="l">
              <a:spcAft>
                <a:spcPts val="400"/>
              </a:spcAft>
            </a:pPr>
            <a:r>
              <a:rPr sz="850" b="0">
                <a:solidFill>
                  <a:srgbClr val="161B26"/>
                </a:solidFill>
                <a:latin typeface="Arial"/>
              </a:rPr>
              <a:t>Enrich each cluster with context from your earlier labs — the asset criticality from Lab 4 and the risk score from Lab 5. Context is what turns an alert into a priority.</a:t>
            </a:r>
          </a:p>
        </p:txBody>
      </p:sp>
      <p:sp>
        <p:nvSpPr>
          <p:cNvPr id="24" name="Rectangle 23"/>
          <p:cNvSpPr/>
          <p:nvPr/>
        </p:nvSpPr>
        <p:spPr>
          <a:xfrm>
            <a:off x="777240" y="4509819"/>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4509819"/>
            <a:ext cx="82296" cy="82661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9264" y="4740247"/>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 y="4740247"/>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28" name="TextBox 27"/>
          <p:cNvSpPr txBox="1"/>
          <p:nvPr/>
        </p:nvSpPr>
        <p:spPr>
          <a:xfrm>
            <a:off x="1481328" y="4564683"/>
            <a:ext cx="9692640" cy="329184"/>
          </a:xfrm>
          <a:prstGeom prst="rect">
            <a:avLst/>
          </a:prstGeom>
          <a:noFill/>
        </p:spPr>
        <p:txBody>
          <a:bodyPr wrap="square" anchor="ctr">
            <a:spAutoFit/>
          </a:bodyPr>
          <a:lstStyle/>
          <a:p>
            <a:pPr algn="l">
              <a:spcAft>
                <a:spcPts val="400"/>
              </a:spcAft>
            </a:pPr>
            <a:r>
              <a:rPr sz="850" b="1">
                <a:solidFill>
                  <a:srgbClr val="161B26"/>
                </a:solidFill>
                <a:latin typeface="Arial"/>
              </a:rPr>
              <a:t>Ask your AI assistant to rank the clusters and explain each ranking.</a:t>
            </a:r>
          </a:p>
        </p:txBody>
      </p:sp>
      <p:sp>
        <p:nvSpPr>
          <p:cNvPr id="29" name="Rectangle 28"/>
          <p:cNvSpPr/>
          <p:nvPr/>
        </p:nvSpPr>
        <p:spPr>
          <a:xfrm>
            <a:off x="1481328" y="4930443"/>
            <a:ext cx="9601200" cy="31455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627632" y="4930443"/>
            <a:ext cx="9326880" cy="314553"/>
          </a:xfrm>
          <a:prstGeom prst="rect">
            <a:avLst/>
          </a:prstGeom>
          <a:noFill/>
        </p:spPr>
        <p:txBody>
          <a:bodyPr wrap="square" anchor="ctr">
            <a:spAutoFit/>
          </a:bodyPr>
          <a:lstStyle/>
          <a:p>
            <a:pPr algn="l">
              <a:spcAft>
                <a:spcPts val="400"/>
              </a:spcAft>
            </a:pPr>
            <a:r>
              <a:rPr sz="850" b="0">
                <a:solidFill>
                  <a:srgbClr val="9CDCFE"/>
                </a:solidFill>
                <a:latin typeface="Arial"/>
              </a:rPr>
              <a:t>$ Prompt: 'Here are deduplicated, enriched security alert clusters with asset criticality. Rank them by investigation priority. For each, state the likely attack technique, the evidence supporting it, and what a responder should check first. Flag any cluster where the evidence is ambiguous.'</a:t>
            </a:r>
          </a:p>
        </p:txBody>
      </p:sp>
      <p:sp>
        <p:nvSpPr>
          <p:cNvPr id="31" name="Rectangle 30"/>
          <p:cNvSpPr/>
          <p:nvPr/>
        </p:nvSpPr>
        <p:spPr>
          <a:xfrm>
            <a:off x="777240" y="5427876"/>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427876"/>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69264" y="565830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9264" y="565830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35" name="TextBox 34"/>
          <p:cNvSpPr txBox="1"/>
          <p:nvPr/>
        </p:nvSpPr>
        <p:spPr>
          <a:xfrm>
            <a:off x="1481328" y="5427876"/>
            <a:ext cx="9692640" cy="826617"/>
          </a:xfrm>
          <a:prstGeom prst="rect">
            <a:avLst/>
          </a:prstGeom>
          <a:noFill/>
        </p:spPr>
        <p:txBody>
          <a:bodyPr wrap="square" anchor="ctr">
            <a:spAutoFit/>
          </a:bodyPr>
          <a:lstStyle/>
          <a:p>
            <a:pPr algn="l">
              <a:spcAft>
                <a:spcPts val="400"/>
              </a:spcAft>
            </a:pPr>
            <a:r>
              <a:rPr sz="850" b="0">
                <a:solidFill>
                  <a:srgbClr val="161B26"/>
                </a:solidFill>
                <a:latin typeface="Arial"/>
              </a:rPr>
              <a:t>Verify the top ten yourself against the raw logs. Count how many were genuinely high priority — that number is your triage precision, and it is what you report.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transition spd="fast" advClick="1">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Centralise Logs and Triage Alerts with AI — Part 3/3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11</a:t>
            </a:r>
          </a:p>
        </p:txBody>
      </p:sp>
      <p:sp>
        <p:nvSpPr>
          <p:cNvPr id="11" name="TextBox 10"/>
          <p:cNvSpPr txBox="1"/>
          <p:nvPr/>
        </p:nvSpPr>
        <p:spPr>
          <a:xfrm>
            <a:off x="1481328" y="1755648"/>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Write down the two alert types the AI ranked poorly and say what context it was missing. That gap is the enrichment you add next time.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transition spd="fast" advClick="1">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Centralise Logs and Triage Alerts with 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logging specification names the source, events, retention and central destination for every asset class. Deduplication and clustering reduce the queue by a measurable percentage that you can state, and you can report the triage precision of the top ten with the evidence that decided each one.</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Deduplication removes real incidents</a:t>
            </a:r>
          </a:p>
        </p:txBody>
      </p:sp>
      <p:sp>
        <p:nvSpPr>
          <p:cNvPr id="15" name="TextBox 14"/>
          <p:cNvSpPr txBox="1"/>
          <p:nvPr/>
        </p:nvSpPr>
        <p:spPr>
          <a:xfrm>
            <a:off x="996696"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your window is too wide; a repeated login failure over hours is a different event from forty in ten seconds.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Everything ranks as critical</a:t>
            </a:r>
          </a:p>
        </p:txBody>
      </p:sp>
      <p:sp>
        <p:nvSpPr>
          <p:cNvPr id="19" name="TextBox 18"/>
          <p:cNvSpPr txBox="1"/>
          <p:nvPr/>
        </p:nvSpPr>
        <p:spPr>
          <a:xfrm>
            <a:off x="4617720"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the asset-criticality join failed and every alert inherited the default.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Timestamps do not line up</a:t>
            </a:r>
          </a:p>
        </p:txBody>
      </p:sp>
      <p:sp>
        <p:nvSpPr>
          <p:cNvPr id="23" name="TextBox 22"/>
          <p:cNvSpPr txBox="1"/>
          <p:nvPr/>
        </p:nvSpPr>
        <p:spPr>
          <a:xfrm>
            <a:off x="8238744"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sources are in different time zones; normalise to UTC before correlating.</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transition spd="fast" advClick="1">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Document a Security Incident to the Standard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11</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A8 · K4 — Produce an incident record that is complete enough to hand to a manager, an auditor or a regulator without a conversation attached.</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An incident that is badly documented is an incident that teaches nothing and proves nothing. Working from the top-priority cluster in Lab 10, you reconstruct the timeline from the raw evidence, classify the severity against defined criteria, and write the full incident record: what happened, when, to which assets, what was done, what the evidence is and who was accountable. You use AI to draft the narrative and then you correct it against the log — because the draft will confidently state things the evidence does not.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complete incident record with a reconstructed evidence-based timeline, a justified severity classification, the actions taken, the evidence inventory and the notification decisions.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Lab 10 alert queue and raw logs, NIST SP 800-61, an incident record template, a generative AI assistant</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Every timeline entry cites its evidence source, inferences are marked as inferences, the severity classification states the criteria used, and the evidence inventory carries a hash for every item. You can name at least one unsupported statement you removed from the AI draft.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transition spd="fast" advClick="1">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11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Open the incident record</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Reconstruct the timeline</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Separate fact from inference</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Classify the severity</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List affected assets</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A8 · K4 — Produce an incident record that is complete enough to hand to a manager, an auditor or a regulator without a conversation attached.</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Document a Security Incident to the Standard — Part 1/3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1986076"/>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98607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55648"/>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Open an incident record and fill the header: incident ID, date and time of detection, detected by, reporter, current status and the assigned handler.</a:t>
            </a:r>
          </a:p>
        </p:txBody>
      </p:sp>
      <p:sp>
        <p:nvSpPr>
          <p:cNvPr id="12" name="Rectangle 11"/>
          <p:cNvSpPr/>
          <p:nvPr/>
        </p:nvSpPr>
        <p:spPr>
          <a:xfrm>
            <a:off x="777240" y="2673705"/>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673705"/>
            <a:ext cx="82296" cy="82661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2904133"/>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290413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673705"/>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Reconstruct the timeline from the raw logs in UTC. Every entry needs a timestamp, the event, the source system and the log line that proves it. A timeline entry with no evidence reference is a claim, not a finding.</a:t>
            </a:r>
          </a:p>
        </p:txBody>
      </p:sp>
      <p:sp>
        <p:nvSpPr>
          <p:cNvPr id="17" name="Rectangle 16"/>
          <p:cNvSpPr/>
          <p:nvPr/>
        </p:nvSpPr>
        <p:spPr>
          <a:xfrm>
            <a:off x="777240" y="3591762"/>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591762"/>
            <a:ext cx="82296" cy="82661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9264" y="3822190"/>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382219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81328" y="3591762"/>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Separate what you know from what you infer. Write inferences as inferences — 'the account was used from an unrecognised address, which suggests credential compromise' is honest; stating the compromise as fact is not.</a:t>
            </a:r>
          </a:p>
        </p:txBody>
      </p:sp>
      <p:sp>
        <p:nvSpPr>
          <p:cNvPr id="22" name="Rectangle 21"/>
          <p:cNvSpPr/>
          <p:nvPr/>
        </p:nvSpPr>
        <p:spPr>
          <a:xfrm>
            <a:off x="777240" y="4509819"/>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09819"/>
            <a:ext cx="82296" cy="82661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69264" y="4740247"/>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9264" y="4740247"/>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4509819"/>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Classify the severity against written criteria: assets affected, data classification involved, business impact and whether the activity is ongoing. State the criteria you applied so the rating can be reviewed.</a:t>
            </a:r>
          </a:p>
        </p:txBody>
      </p:sp>
      <p:sp>
        <p:nvSpPr>
          <p:cNvPr id="27" name="Rectangle 26"/>
          <p:cNvSpPr/>
          <p:nvPr/>
        </p:nvSpPr>
        <p:spPr>
          <a:xfrm>
            <a:off x="777240" y="5427876"/>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27876"/>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9264" y="565830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9264" y="565830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81328" y="5427876"/>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List the affected assets by name from the Lab 4 register, with their criticality and the data classification each one holds.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transition spd="fast" advClick="1">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Document a Security Incident to the Standard — Part 2/3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1986076"/>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98607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1" name="TextBox 10"/>
          <p:cNvSpPr txBox="1"/>
          <p:nvPr/>
        </p:nvSpPr>
        <p:spPr>
          <a:xfrm>
            <a:off x="1481328" y="1755648"/>
            <a:ext cx="9692640" cy="826617"/>
          </a:xfrm>
          <a:prstGeom prst="rect">
            <a:avLst/>
          </a:prstGeom>
          <a:noFill/>
        </p:spPr>
        <p:txBody>
          <a:bodyPr wrap="square" anchor="ctr">
            <a:spAutoFit/>
          </a:bodyPr>
          <a:lstStyle/>
          <a:p>
            <a:pPr algn="l">
              <a:spcAft>
                <a:spcPts val="400"/>
              </a:spcAft>
            </a:pPr>
            <a:r>
              <a:rPr sz="850" b="0">
                <a:solidFill>
                  <a:srgbClr val="161B26"/>
                </a:solidFill>
                <a:latin typeface="Arial"/>
              </a:rPr>
              <a:t>Record the response actions taken with a timestamp and the name of the person who took each one. Include the actions that were considered and rejected, and why — a reviewer will ask.</a:t>
            </a:r>
          </a:p>
        </p:txBody>
      </p:sp>
      <p:sp>
        <p:nvSpPr>
          <p:cNvPr id="12" name="Rectangle 11"/>
          <p:cNvSpPr/>
          <p:nvPr/>
        </p:nvSpPr>
        <p:spPr>
          <a:xfrm>
            <a:off x="777240" y="2673705"/>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673705"/>
            <a:ext cx="82296" cy="82661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2904133"/>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290413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6" name="TextBox 15"/>
          <p:cNvSpPr txBox="1"/>
          <p:nvPr/>
        </p:nvSpPr>
        <p:spPr>
          <a:xfrm>
            <a:off x="1481328" y="2728569"/>
            <a:ext cx="9692640" cy="329184"/>
          </a:xfrm>
          <a:prstGeom prst="rect">
            <a:avLst/>
          </a:prstGeom>
          <a:noFill/>
        </p:spPr>
        <p:txBody>
          <a:bodyPr wrap="square" anchor="ctr">
            <a:spAutoFit/>
          </a:bodyPr>
          <a:lstStyle/>
          <a:p>
            <a:pPr algn="l">
              <a:spcAft>
                <a:spcPts val="400"/>
              </a:spcAft>
            </a:pPr>
            <a:r>
              <a:rPr sz="850" b="1">
                <a:solidFill>
                  <a:srgbClr val="161B26"/>
                </a:solidFill>
                <a:latin typeface="Arial"/>
              </a:rPr>
              <a:t>Build the evidence inventory: log extracts, packet captures, screenshots and system images, each with where it is stored, its hash and who has access. This is what makes the record defensible.</a:t>
            </a:r>
          </a:p>
        </p:txBody>
      </p:sp>
      <p:sp>
        <p:nvSpPr>
          <p:cNvPr id="17" name="Rectangle 16"/>
          <p:cNvSpPr/>
          <p:nvPr/>
        </p:nvSpPr>
        <p:spPr>
          <a:xfrm>
            <a:off x="1481328" y="3094329"/>
            <a:ext cx="9601200" cy="31455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27632" y="3094329"/>
            <a:ext cx="9326880" cy="314553"/>
          </a:xfrm>
          <a:prstGeom prst="rect">
            <a:avLst/>
          </a:prstGeom>
          <a:noFill/>
        </p:spPr>
        <p:txBody>
          <a:bodyPr wrap="square" anchor="ctr">
            <a:spAutoFit/>
          </a:bodyPr>
          <a:lstStyle/>
          <a:p>
            <a:pPr algn="l">
              <a:spcAft>
                <a:spcPts val="400"/>
              </a:spcAft>
            </a:pPr>
            <a:r>
              <a:rPr sz="1050" b="0">
                <a:solidFill>
                  <a:srgbClr val="9CDCFE"/>
                </a:solidFill>
                <a:latin typeface="Arial"/>
              </a:rPr>
              <a:t>$ shasum -a 256 evidence/*.pcapng evidence/*.log &gt; evidence/MANIFEST.sha256</a:t>
            </a:r>
          </a:p>
        </p:txBody>
      </p:sp>
      <p:sp>
        <p:nvSpPr>
          <p:cNvPr id="19" name="Rectangle 18"/>
          <p:cNvSpPr/>
          <p:nvPr/>
        </p:nvSpPr>
        <p:spPr>
          <a:xfrm>
            <a:off x="777240" y="3591762"/>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591762"/>
            <a:ext cx="82296" cy="82661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3822190"/>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382219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23" name="TextBox 22"/>
          <p:cNvSpPr txBox="1"/>
          <p:nvPr/>
        </p:nvSpPr>
        <p:spPr>
          <a:xfrm>
            <a:off x="1481328" y="3591762"/>
            <a:ext cx="9692640" cy="826617"/>
          </a:xfrm>
          <a:prstGeom prst="rect">
            <a:avLst/>
          </a:prstGeom>
          <a:noFill/>
        </p:spPr>
        <p:txBody>
          <a:bodyPr wrap="square" anchor="ctr">
            <a:spAutoFit/>
          </a:bodyPr>
          <a:lstStyle/>
          <a:p>
            <a:pPr algn="l">
              <a:spcAft>
                <a:spcPts val="400"/>
              </a:spcAft>
            </a:pPr>
            <a:r>
              <a:rPr sz="850" b="0">
                <a:solidFill>
                  <a:srgbClr val="161B26"/>
                </a:solidFill>
                <a:latin typeface="Arial"/>
              </a:rPr>
              <a:t>Record the notification decisions — who was informed, when, and which obligations were considered. In Singapore, consider whether the PDPA data-breach notification obligation to the PDPC and affected individuals is engaged, and record the reasoning either way.</a:t>
            </a:r>
          </a:p>
        </p:txBody>
      </p:sp>
      <p:sp>
        <p:nvSpPr>
          <p:cNvPr id="24" name="Rectangle 23"/>
          <p:cNvSpPr/>
          <p:nvPr/>
        </p:nvSpPr>
        <p:spPr>
          <a:xfrm>
            <a:off x="777240" y="4509819"/>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4509819"/>
            <a:ext cx="82296" cy="82661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9264" y="4740247"/>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 y="4740247"/>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28" name="TextBox 27"/>
          <p:cNvSpPr txBox="1"/>
          <p:nvPr/>
        </p:nvSpPr>
        <p:spPr>
          <a:xfrm>
            <a:off x="1481328" y="4564683"/>
            <a:ext cx="9692640" cy="329184"/>
          </a:xfrm>
          <a:prstGeom prst="rect">
            <a:avLst/>
          </a:prstGeom>
          <a:noFill/>
        </p:spPr>
        <p:txBody>
          <a:bodyPr wrap="square" anchor="ctr">
            <a:spAutoFit/>
          </a:bodyPr>
          <a:lstStyle/>
          <a:p>
            <a:pPr algn="l">
              <a:spcAft>
                <a:spcPts val="400"/>
              </a:spcAft>
            </a:pPr>
            <a:r>
              <a:rPr sz="850" b="1">
                <a:solidFill>
                  <a:srgbClr val="161B26"/>
                </a:solidFill>
                <a:latin typeface="Arial"/>
              </a:rPr>
              <a:t>Ask your AI assistant to draft the incident narrative from your timeline.</a:t>
            </a:r>
          </a:p>
        </p:txBody>
      </p:sp>
      <p:sp>
        <p:nvSpPr>
          <p:cNvPr id="29" name="Rectangle 28"/>
          <p:cNvSpPr/>
          <p:nvPr/>
        </p:nvSpPr>
        <p:spPr>
          <a:xfrm>
            <a:off x="1481328" y="4930443"/>
            <a:ext cx="9601200" cy="31455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627632" y="4930443"/>
            <a:ext cx="9326880" cy="314553"/>
          </a:xfrm>
          <a:prstGeom prst="rect">
            <a:avLst/>
          </a:prstGeom>
          <a:noFill/>
        </p:spPr>
        <p:txBody>
          <a:bodyPr wrap="square" anchor="ctr">
            <a:spAutoFit/>
          </a:bodyPr>
          <a:lstStyle/>
          <a:p>
            <a:pPr algn="l">
              <a:spcAft>
                <a:spcPts val="400"/>
              </a:spcAft>
            </a:pPr>
            <a:r>
              <a:rPr sz="850" b="0">
                <a:solidFill>
                  <a:srgbClr val="9CDCFE"/>
                </a:solidFill>
                <a:latin typeface="Arial"/>
              </a:rPr>
              <a:t>$ Prompt: 'Draft a factual incident narrative from this evidence timeline. Use only what the timeline supports. Mark every inference explicitly as an inference. Do not speculate about attribution.'</a:t>
            </a:r>
          </a:p>
        </p:txBody>
      </p:sp>
      <p:sp>
        <p:nvSpPr>
          <p:cNvPr id="31" name="Rectangle 30"/>
          <p:cNvSpPr/>
          <p:nvPr/>
        </p:nvSpPr>
        <p:spPr>
          <a:xfrm>
            <a:off x="777240" y="5427876"/>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427876"/>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69264" y="565830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9264" y="565830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35" name="TextBox 34"/>
          <p:cNvSpPr txBox="1"/>
          <p:nvPr/>
        </p:nvSpPr>
        <p:spPr>
          <a:xfrm>
            <a:off x="1481328" y="5427876"/>
            <a:ext cx="9692640" cy="826617"/>
          </a:xfrm>
          <a:prstGeom prst="rect">
            <a:avLst/>
          </a:prstGeom>
          <a:noFill/>
        </p:spPr>
        <p:txBody>
          <a:bodyPr wrap="square" anchor="ctr">
            <a:spAutoFit/>
          </a:bodyPr>
          <a:lstStyle/>
          <a:p>
            <a:pPr algn="l">
              <a:spcAft>
                <a:spcPts val="400"/>
              </a:spcAft>
            </a:pPr>
            <a:r>
              <a:rPr sz="850" b="0">
                <a:solidFill>
                  <a:srgbClr val="161B26"/>
                </a:solidFill>
                <a:latin typeface="Arial"/>
              </a:rPr>
              <a:t>Check the draft line by line against the timeline. Delete every statement the evidence does not support and every attribution claim. Record what you removed — that edit is the professional skill this lab teaches.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transition spd="fast" advClick="1">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Document a Security Incident to the Standard — Part 3/3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11</a:t>
            </a:r>
          </a:p>
        </p:txBody>
      </p:sp>
      <p:sp>
        <p:nvSpPr>
          <p:cNvPr id="11" name="TextBox 10"/>
          <p:cNvSpPr txBox="1"/>
          <p:nvPr/>
        </p:nvSpPr>
        <p:spPr>
          <a:xfrm>
            <a:off x="1481328" y="1755648"/>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Write the lessons-learned section: what detected it, what delayed the response, and the one control change that would have prevented or caught it earlier. Feed that change back into the Lab 6 plan.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transition spd="fast" advClick="1">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Document a Security Incident to the Standard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Every timeline entry cites its evidence source, inferences are marked as inferences, the severity classification states the criteria used, and the evidence inventory carries a hash for every item. You can name at least one unsupported statement you removed from the AI draft.</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The timeline has gaps</a:t>
            </a:r>
          </a:p>
        </p:txBody>
      </p:sp>
      <p:sp>
        <p:nvSpPr>
          <p:cNvPr id="15" name="TextBox 14"/>
          <p:cNvSpPr txBox="1"/>
          <p:nvPr/>
        </p:nvSpPr>
        <p:spPr>
          <a:xfrm>
            <a:off x="996696"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that is a finding about your logging, so record the gap rather than guessing what filled it.</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Severity is contested</a:t>
            </a:r>
          </a:p>
        </p:txBody>
      </p:sp>
      <p:sp>
        <p:nvSpPr>
          <p:cNvPr id="19" name="TextBox 18"/>
          <p:cNvSpPr txBox="1"/>
          <p:nvPr/>
        </p:nvSpPr>
        <p:spPr>
          <a:xfrm>
            <a:off x="4617720"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that means the criteria were not written down before the incident.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The AI names an attacker group</a:t>
            </a:r>
          </a:p>
        </p:txBody>
      </p:sp>
      <p:sp>
        <p:nvSpPr>
          <p:cNvPr id="23" name="TextBox 22"/>
          <p:cNvSpPr txBox="1"/>
          <p:nvPr/>
        </p:nvSpPr>
        <p:spPr>
          <a:xfrm>
            <a:off x="8238744"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remove it; attribution needs intelligence you do not have.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transition spd="fast" advClick="1">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Implement the Incident Response Configuration and Playbook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12</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A9 · A7 · K4 — Implement configurations aligned to the incident response design: containment controls, an automated playbook and the human-approval boundary.</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The final lab closes the loop. You take the incident from Lab 11 and implement the response as configuration: the containment controls that would stop it recurring, a documented SOAR-style playbook with explicit automation and approval steps, and detection rules derived from what you actually saw. You then test the playbook against a replayed scenario, measure the response time, and confirm that no automated action can cause more damage than the incident it responds to.</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Implemented containment configurations, a tested incident response playbook with a defined human-approval boundary, new detection rules, and a measured response time from detection to containment.</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Firewall and host configuration, playbook template, Lab 8 detection rules, a generative AI assistant</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Every containment control has a verification command and a recorded output, every playbook step names an owner and an automation level, and you can state a measured detection-to-containment time against a target. No automated step can take a production service offline without a named approver.</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transition spd="fast" advClick="1">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12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Write the containment</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Verify it works</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Record collateral impact</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Write the playbook</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Set automation levels</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A9 · A7 · K4 — Implement configurations aligned to the incident response design: containment controls, an automated playbook and the human-approval boundary.</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Implement the Incident Response Configuration and Playbook — Part 1/3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1986076"/>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98607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810512"/>
            <a:ext cx="9692640" cy="329184"/>
          </a:xfrm>
          <a:prstGeom prst="rect">
            <a:avLst/>
          </a:prstGeom>
          <a:noFill/>
        </p:spPr>
        <p:txBody>
          <a:bodyPr wrap="square" anchor="ctr">
            <a:spAutoFit/>
          </a:bodyPr>
          <a:lstStyle/>
          <a:p>
            <a:pPr algn="l">
              <a:spcAft>
                <a:spcPts val="400"/>
              </a:spcAft>
            </a:pPr>
            <a:r>
              <a:rPr sz="850" b="1">
                <a:solidFill>
                  <a:srgbClr val="161B26"/>
                </a:solidFill>
                <a:latin typeface="Arial"/>
              </a:rPr>
              <a:t>Write the containment configuration for the Lab 11 incident: the firewall rules, account actions and host isolation steps that stop this specific attack path, as commands rather than prose.</a:t>
            </a:r>
          </a:p>
        </p:txBody>
      </p:sp>
      <p:sp>
        <p:nvSpPr>
          <p:cNvPr id="12" name="Rectangle 11"/>
          <p:cNvSpPr/>
          <p:nvPr/>
        </p:nvSpPr>
        <p:spPr>
          <a:xfrm>
            <a:off x="1481328" y="2176272"/>
            <a:ext cx="9601200" cy="31455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76272"/>
            <a:ext cx="9326880" cy="314553"/>
          </a:xfrm>
          <a:prstGeom prst="rect">
            <a:avLst/>
          </a:prstGeom>
          <a:noFill/>
        </p:spPr>
        <p:txBody>
          <a:bodyPr wrap="square" anchor="ctr">
            <a:spAutoFit/>
          </a:bodyPr>
          <a:lstStyle/>
          <a:p>
            <a:pPr algn="l">
              <a:spcAft>
                <a:spcPts val="400"/>
              </a:spcAft>
            </a:pPr>
            <a:r>
              <a:rPr sz="1050" b="0">
                <a:solidFill>
                  <a:srgbClr val="9CDCFE"/>
                </a:solidFill>
                <a:latin typeface="Arial"/>
              </a:rPr>
              <a:t>$ iptables -I FORWARD 1 -s 192.168.56.101 -j DROP -m comment --comment 'INC-2026-001 containment'</a:t>
            </a:r>
          </a:p>
        </p:txBody>
      </p:sp>
      <p:sp>
        <p:nvSpPr>
          <p:cNvPr id="14" name="Rectangle 13"/>
          <p:cNvSpPr/>
          <p:nvPr/>
        </p:nvSpPr>
        <p:spPr>
          <a:xfrm>
            <a:off x="777240" y="2673705"/>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673705"/>
            <a:ext cx="82296" cy="82661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2904133"/>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290413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2673705"/>
            <a:ext cx="9692640" cy="826617"/>
          </a:xfrm>
          <a:prstGeom prst="rect">
            <a:avLst/>
          </a:prstGeom>
          <a:noFill/>
        </p:spPr>
        <p:txBody>
          <a:bodyPr wrap="square" anchor="ctr">
            <a:spAutoFit/>
          </a:bodyPr>
          <a:lstStyle/>
          <a:p>
            <a:pPr algn="l">
              <a:spcAft>
                <a:spcPts val="400"/>
              </a:spcAft>
            </a:pPr>
            <a:r>
              <a:rPr sz="850" b="0">
                <a:solidFill>
                  <a:srgbClr val="161B26"/>
                </a:solidFill>
                <a:latin typeface="Arial"/>
              </a:rPr>
              <a:t>Verify each containment control actually works, and record the verification command and its output. An untested containment control is an assumption.</a:t>
            </a:r>
          </a:p>
        </p:txBody>
      </p:sp>
      <p:sp>
        <p:nvSpPr>
          <p:cNvPr id="19" name="Rectangle 18"/>
          <p:cNvSpPr/>
          <p:nvPr/>
        </p:nvSpPr>
        <p:spPr>
          <a:xfrm>
            <a:off x="777240" y="3591762"/>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591762"/>
            <a:ext cx="82296" cy="82661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3822190"/>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382219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3" name="TextBox 22"/>
          <p:cNvSpPr txBox="1"/>
          <p:nvPr/>
        </p:nvSpPr>
        <p:spPr>
          <a:xfrm>
            <a:off x="1481328" y="3591762"/>
            <a:ext cx="9692640" cy="826617"/>
          </a:xfrm>
          <a:prstGeom prst="rect">
            <a:avLst/>
          </a:prstGeom>
          <a:noFill/>
        </p:spPr>
        <p:txBody>
          <a:bodyPr wrap="square" anchor="ctr">
            <a:spAutoFit/>
          </a:bodyPr>
          <a:lstStyle/>
          <a:p>
            <a:pPr algn="l">
              <a:spcAft>
                <a:spcPts val="400"/>
              </a:spcAft>
            </a:pPr>
            <a:r>
              <a:rPr sz="850" b="0">
                <a:solidFill>
                  <a:srgbClr val="161B26"/>
                </a:solidFill>
                <a:latin typeface="Arial"/>
              </a:rPr>
              <a:t>Record the collateral impact of each containment action before it is ever needed. Isolating a host stops the attacker and also stops that host's business function — the responder must know which they are trading.</a:t>
            </a:r>
          </a:p>
        </p:txBody>
      </p:sp>
      <p:sp>
        <p:nvSpPr>
          <p:cNvPr id="24" name="Rectangle 23"/>
          <p:cNvSpPr/>
          <p:nvPr/>
        </p:nvSpPr>
        <p:spPr>
          <a:xfrm>
            <a:off x="777240" y="4509819"/>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4509819"/>
            <a:ext cx="82296" cy="82661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9264" y="4740247"/>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 y="4740247"/>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8" name="TextBox 27"/>
          <p:cNvSpPr txBox="1"/>
          <p:nvPr/>
        </p:nvSpPr>
        <p:spPr>
          <a:xfrm>
            <a:off x="1481328" y="4509819"/>
            <a:ext cx="9692640" cy="826617"/>
          </a:xfrm>
          <a:prstGeom prst="rect">
            <a:avLst/>
          </a:prstGeom>
          <a:noFill/>
        </p:spPr>
        <p:txBody>
          <a:bodyPr wrap="square" anchor="ctr">
            <a:spAutoFit/>
          </a:bodyPr>
          <a:lstStyle/>
          <a:p>
            <a:pPr algn="l">
              <a:spcAft>
                <a:spcPts val="400"/>
              </a:spcAft>
            </a:pPr>
            <a:r>
              <a:rPr sz="850" b="0">
                <a:solidFill>
                  <a:srgbClr val="161B26"/>
                </a:solidFill>
                <a:latin typeface="Arial"/>
              </a:rPr>
              <a:t>Write the playbook with the standard phases: Detect, Triage, Contain, Eradicate, Recover, Review. Each step names the trigger, the action, the owner and the expected duration.</a:t>
            </a:r>
          </a:p>
        </p:txBody>
      </p:sp>
      <p:sp>
        <p:nvSpPr>
          <p:cNvPr id="29" name="Rectangle 28"/>
          <p:cNvSpPr/>
          <p:nvPr/>
        </p:nvSpPr>
        <p:spPr>
          <a:xfrm>
            <a:off x="777240" y="5427876"/>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7240" y="5427876"/>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69264" y="565830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9264" y="565830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3" name="TextBox 32"/>
          <p:cNvSpPr txBox="1"/>
          <p:nvPr/>
        </p:nvSpPr>
        <p:spPr>
          <a:xfrm>
            <a:off x="1481328" y="5427876"/>
            <a:ext cx="9692640" cy="826617"/>
          </a:xfrm>
          <a:prstGeom prst="rect">
            <a:avLst/>
          </a:prstGeom>
          <a:noFill/>
        </p:spPr>
        <p:txBody>
          <a:bodyPr wrap="square" anchor="ctr">
            <a:spAutoFit/>
          </a:bodyPr>
          <a:lstStyle/>
          <a:p>
            <a:pPr algn="l">
              <a:spcAft>
                <a:spcPts val="400"/>
              </a:spcAft>
            </a:pPr>
            <a:r>
              <a:rPr sz="850" b="0">
                <a:solidFill>
                  <a:srgbClr val="161B26"/>
                </a:solidFill>
                <a:latin typeface="Arial"/>
              </a:rPr>
              <a:t>Mark each step Automated, Automated-with-approval or Manual. Reversible, low-blast-radius actions can be automated; anything that takes production offline needs a named approver.</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transition spd="fast" advClick="1">
    <p:fade/>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Implement the Incident Response Configuration and Playbook — Part 2/3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1986076"/>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98607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1" name="TextBox 10"/>
          <p:cNvSpPr txBox="1"/>
          <p:nvPr/>
        </p:nvSpPr>
        <p:spPr>
          <a:xfrm>
            <a:off x="1481328" y="1755648"/>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Define the escalation path with names and contact methods, and the time threshold that triggers each escalation. A playbook with no named person is a document, not a capability.</a:t>
            </a:r>
          </a:p>
        </p:txBody>
      </p:sp>
      <p:sp>
        <p:nvSpPr>
          <p:cNvPr id="12" name="Rectangle 11"/>
          <p:cNvSpPr/>
          <p:nvPr/>
        </p:nvSpPr>
        <p:spPr>
          <a:xfrm>
            <a:off x="777240" y="2673705"/>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673705"/>
            <a:ext cx="82296" cy="82661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2904133"/>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290413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6" name="TextBox 15"/>
          <p:cNvSpPr txBox="1"/>
          <p:nvPr/>
        </p:nvSpPr>
        <p:spPr>
          <a:xfrm>
            <a:off x="1481328" y="2673705"/>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Add the detection rules from this incident to your Lab 8 ruleset so the same attack is caught earlier next time, and record the expected false-positive rate of each new rule.</a:t>
            </a:r>
          </a:p>
        </p:txBody>
      </p:sp>
      <p:sp>
        <p:nvSpPr>
          <p:cNvPr id="17" name="Rectangle 16"/>
          <p:cNvSpPr/>
          <p:nvPr/>
        </p:nvSpPr>
        <p:spPr>
          <a:xfrm>
            <a:off x="777240" y="3591762"/>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591762"/>
            <a:ext cx="82296" cy="82661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9264" y="3822190"/>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382219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21" name="TextBox 20"/>
          <p:cNvSpPr txBox="1"/>
          <p:nvPr/>
        </p:nvSpPr>
        <p:spPr>
          <a:xfrm>
            <a:off x="1481328" y="3591762"/>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Test the playbook against a replayed scenario. Walk every step, time it, and note where it stalls — the stall is where the playbook is wrong.</a:t>
            </a:r>
          </a:p>
        </p:txBody>
      </p:sp>
      <p:sp>
        <p:nvSpPr>
          <p:cNvPr id="22" name="Rectangle 21"/>
          <p:cNvSpPr/>
          <p:nvPr/>
        </p:nvSpPr>
        <p:spPr>
          <a:xfrm>
            <a:off x="777240" y="4509819"/>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09819"/>
            <a:ext cx="82296" cy="82661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69264" y="4740247"/>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9264" y="4740247"/>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26" name="TextBox 25"/>
          <p:cNvSpPr txBox="1"/>
          <p:nvPr/>
        </p:nvSpPr>
        <p:spPr>
          <a:xfrm>
            <a:off x="1481328" y="4509819"/>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Measure detection-to-containment time and compare it against your target. If there is no target, set one now — a response time nobody is accountable for will drift.</a:t>
            </a:r>
          </a:p>
        </p:txBody>
      </p:sp>
      <p:sp>
        <p:nvSpPr>
          <p:cNvPr id="27" name="Rectangle 26"/>
          <p:cNvSpPr/>
          <p:nvPr/>
        </p:nvSpPr>
        <p:spPr>
          <a:xfrm>
            <a:off x="777240" y="5427876"/>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27876"/>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9264" y="565830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9264" y="565830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31" name="TextBox 30"/>
          <p:cNvSpPr txBox="1"/>
          <p:nvPr/>
        </p:nvSpPr>
        <p:spPr>
          <a:xfrm>
            <a:off x="1481328" y="5482740"/>
            <a:ext cx="9692640" cy="329184"/>
          </a:xfrm>
          <a:prstGeom prst="rect">
            <a:avLst/>
          </a:prstGeom>
          <a:noFill/>
        </p:spPr>
        <p:txBody>
          <a:bodyPr wrap="square" anchor="ctr">
            <a:spAutoFit/>
          </a:bodyPr>
          <a:lstStyle/>
          <a:p>
            <a:pPr algn="l">
              <a:spcAft>
                <a:spcPts val="400"/>
              </a:spcAft>
            </a:pPr>
            <a:r>
              <a:rPr sz="1250" b="1">
                <a:solidFill>
                  <a:srgbClr val="161B26"/>
                </a:solidFill>
                <a:latin typeface="Arial"/>
              </a:rPr>
              <a:t>Ask your AI assistant to review the playbook for gaps and dangerous automation.</a:t>
            </a:r>
          </a:p>
        </p:txBody>
      </p:sp>
      <p:sp>
        <p:nvSpPr>
          <p:cNvPr id="32" name="Rectangle 31"/>
          <p:cNvSpPr/>
          <p:nvPr/>
        </p:nvSpPr>
        <p:spPr>
          <a:xfrm>
            <a:off x="1481328" y="5848500"/>
            <a:ext cx="9601200" cy="31455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627632" y="5848500"/>
            <a:ext cx="9326880" cy="314553"/>
          </a:xfrm>
          <a:prstGeom prst="rect">
            <a:avLst/>
          </a:prstGeom>
          <a:noFill/>
        </p:spPr>
        <p:txBody>
          <a:bodyPr wrap="square" anchor="ctr">
            <a:spAutoFit/>
          </a:bodyPr>
          <a:lstStyle/>
          <a:p>
            <a:pPr algn="l">
              <a:spcAft>
                <a:spcPts val="400"/>
              </a:spcAft>
            </a:pPr>
            <a:r>
              <a:rPr sz="850" b="0">
                <a:solidFill>
                  <a:srgbClr val="9CDCFE"/>
                </a:solidFill>
                <a:latin typeface="Arial"/>
              </a:rPr>
              <a:t>$ Prompt: 'Review this incident response playbook. Identify missing steps, any automated action whose blast radius exceeds the incident it responds to, and any step with no named owner. For each finding, say what you would change.'</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transition spd="fast" advClick="1">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Implement the Incident Response Configuration and Playbook — Part 3/3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11</a:t>
            </a:r>
          </a:p>
        </p:txBody>
      </p:sp>
      <p:sp>
        <p:nvSpPr>
          <p:cNvPr id="11" name="TextBox 10"/>
          <p:cNvSpPr txBox="1"/>
          <p:nvPr/>
        </p:nvSpPr>
        <p:spPr>
          <a:xfrm>
            <a:off x="1481328" y="1755648"/>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Fix every genuine gap. For any automated action flagged as too broad, either narrow its scope or move it behind human approval, and record the decision.</a:t>
            </a:r>
          </a:p>
        </p:txBody>
      </p:sp>
      <p:sp>
        <p:nvSpPr>
          <p:cNvPr id="12" name="Rectangle 11"/>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12</a:t>
            </a:r>
          </a:p>
        </p:txBody>
      </p:sp>
      <p:sp>
        <p:nvSpPr>
          <p:cNvPr id="16" name="TextBox 15"/>
          <p:cNvSpPr txBox="1"/>
          <p:nvPr/>
        </p:nvSpPr>
        <p:spPr>
          <a:xfrm>
            <a:off x="1481328" y="2871216"/>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Feed the whole result back: update the Lab 6 risk management plan with the control changes and re-score the affected risks. The loop from incident back to plan is what makes this a management system rather than a set of documents.</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transition spd="fast" advClick="1">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Implement the Incident Response Configuration and Playbook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Every containment control has a verification command and a recorded output, every playbook step names an owner and an automation level, and you can state a measured detection-to-containment time against a target. No automated step can take a production service offline without a named approver.</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The containment rule does not take effect</a:t>
            </a:r>
          </a:p>
        </p:txBody>
      </p:sp>
      <p:sp>
        <p:nvSpPr>
          <p:cNvPr id="15" name="TextBox 14"/>
          <p:cNvSpPr txBox="1"/>
          <p:nvPr/>
        </p:nvSpPr>
        <p:spPr>
          <a:xfrm>
            <a:off x="996696"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check the rule order; an earlier ACCEPT will win.</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The playbook test stalls waiting for a decision</a:t>
            </a:r>
          </a:p>
        </p:txBody>
      </p:sp>
      <p:sp>
        <p:nvSpPr>
          <p:cNvPr id="19" name="TextBox 18"/>
          <p:cNvSpPr txBox="1"/>
          <p:nvPr/>
        </p:nvSpPr>
        <p:spPr>
          <a:xfrm>
            <a:off x="4617720"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that is the finding, so add the decision authority.</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The AI proposes automating everything</a:t>
            </a:r>
          </a:p>
        </p:txBody>
      </p:sp>
      <p:sp>
        <p:nvSpPr>
          <p:cNvPr id="23" name="TextBox 22"/>
          <p:cNvSpPr txBox="1"/>
          <p:nvPr/>
        </p:nvSpPr>
        <p:spPr>
          <a:xfrm>
            <a:off x="8238744"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apply the blast-radius test yourself; that judgement is not delegable.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transition spd="fast" advClick="1">
    <p:fade/>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Topic 04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Lab 10 — Centralise Logs and Triage Alerts with AI</a:t>
            </a:r>
          </a:p>
          <a:p>
            <a:pPr algn="l">
              <a:spcAft>
                <a:spcPts val="300"/>
              </a:spcAft>
            </a:pPr>
            <a:r>
              <a:rPr sz="1200" b="0">
                <a:solidFill>
                  <a:srgbClr val="5B6372"/>
                </a:solidFill>
                <a:latin typeface="Arial"/>
              </a:rPr>
              <a:t>Design the auditing arrangement that makes incident response possible, then use AI to reduce a flood of raw alerts into a ranked, workable queue.</a:t>
            </a:r>
          </a:p>
        </p:txBody>
      </p:sp>
      <p:sp>
        <p:nvSpPr>
          <p:cNvPr id="12" name="Rectangle 11"/>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447288"/>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Lab 11 — Document a Security Incident to the Standard</a:t>
            </a:r>
          </a:p>
          <a:p>
            <a:pPr algn="l">
              <a:spcAft>
                <a:spcPts val="300"/>
              </a:spcAft>
            </a:pPr>
            <a:r>
              <a:rPr sz="1200" b="0">
                <a:solidFill>
                  <a:srgbClr val="5B6372"/>
                </a:solidFill>
                <a:latin typeface="Arial"/>
              </a:rPr>
              <a:t>Produce an incident record that is complete enough to hand to a manager, an auditor or a regulator without a conversation attached.</a:t>
            </a:r>
          </a:p>
        </p:txBody>
      </p:sp>
      <p:sp>
        <p:nvSpPr>
          <p:cNvPr id="17" name="Rectangle 16"/>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983480"/>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Lab 12 — Implement the Incident Response Configuration and Playbook</a:t>
            </a:r>
          </a:p>
          <a:p>
            <a:pPr algn="l">
              <a:spcAft>
                <a:spcPts val="300"/>
              </a:spcAft>
            </a:pPr>
            <a:r>
              <a:rPr sz="1200" b="0">
                <a:solidFill>
                  <a:srgbClr val="5B6372"/>
                </a:solidFill>
                <a:latin typeface="Arial"/>
              </a:rPr>
              <a:t>Implement configurations aligned to the incident response design: containment controls, an automated playbook and the human-approval boundary.</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transition spd="fast" advClick="1">
    <p:fade/>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transition spd="med" advClick="1">
    <p:push dir="l"/>
  </p:transition>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LO1 · Threats &amp; vulnerabilities</a:t>
            </a:r>
          </a:p>
          <a:p>
            <a:pPr algn="l">
              <a:spcAft>
                <a:spcPts val="300"/>
              </a:spcAft>
            </a:pPr>
            <a:r>
              <a:rPr sz="1100" b="0">
                <a:solidFill>
                  <a:srgbClr val="5B6372"/>
                </a:solidFill>
                <a:latin typeface="Arial"/>
              </a:rPr>
              <a:t>Mapped an ICT network and read its configuration, baselined normal traffic, trained an anomaly model, and produced a prioritised vulnerability worklist.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LO2 · Assets &amp; risk plans</a:t>
            </a:r>
          </a:p>
          <a:p>
            <a:pPr algn="l">
              <a:spcAft>
                <a:spcPts val="300"/>
              </a:spcAft>
            </a:pPr>
            <a:r>
              <a:rPr sz="1100" b="0">
                <a:solidFill>
                  <a:srgbClr val="5B6372"/>
                </a:solidFill>
                <a:latin typeface="Arial"/>
              </a:rPr>
              <a:t>Built a classified asset register, scored a risk register with AI-challenged likelihoods, and produced a risk management plan mapped to the NIST CSF.</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LO3 · Security measures</a:t>
            </a:r>
          </a:p>
          <a:p>
            <a:pPr algn="l">
              <a:spcAft>
                <a:spcPts val="300"/>
              </a:spcAft>
            </a:pPr>
            <a:r>
              <a:rPr sz="1100" b="0">
                <a:solidFill>
                  <a:srgbClr val="5B6372"/>
                </a:solidFill>
                <a:latin typeface="Arial"/>
              </a:rPr>
              <a:t>Designed a three-phase segmented architecture, implemented a default-deny ruleset with tuned detections, and hardened the AI itself against adversarial attack.</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LO4 · Incidents &amp; response</a:t>
            </a:r>
          </a:p>
          <a:p>
            <a:pPr algn="l">
              <a:spcAft>
                <a:spcPts val="300"/>
              </a:spcAft>
            </a:pPr>
            <a:r>
              <a:rPr sz="1100" b="0">
                <a:solidFill>
                  <a:srgbClr val="5B6372"/>
                </a:solidFill>
                <a:latin typeface="Arial"/>
              </a:rPr>
              <a:t>Specified logging, triaged alerts with AI, documented an incident to evidentiary standard, and implemented and tested a response playbook.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transition spd="fast" advClick="1">
    <p:fade/>
  </p:transition>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NEXT STEPS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Continue Your Learning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NIST Cybersecurity Framework 2.0</a:t>
            </a:r>
          </a:p>
          <a:p>
            <a:pPr algn="l">
              <a:spcAft>
                <a:spcPts val="300"/>
              </a:spcAft>
            </a:pPr>
            <a:r>
              <a:rPr sz="1100" b="0">
                <a:solidFill>
                  <a:srgbClr val="5B6372"/>
                </a:solidFill>
                <a:latin typeface="Arial"/>
              </a:rPr>
              <a:t>https://www.nist.gov/cyberframework — the reference for Govern, Identify, Protect, Detect, Respond and Recover.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NIST AI 100-2 Adversarial ML</a:t>
            </a:r>
          </a:p>
          <a:p>
            <a:pPr algn="l">
              <a:spcAft>
                <a:spcPts val="300"/>
              </a:spcAft>
            </a:pPr>
            <a:r>
              <a:rPr sz="1100" b="0">
                <a:solidFill>
                  <a:srgbClr val="5B6372"/>
                </a:solidFill>
                <a:latin typeface="Arial"/>
              </a:rPr>
              <a:t>https://csrc.nist.gov/pubs/ai/100/2/e2025/final — the taxonomy of attacks against AI systems.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NSA/CISA Deploying AI Systems Securely</a:t>
            </a:r>
          </a:p>
          <a:p>
            <a:pPr algn="l">
              <a:spcAft>
                <a:spcPts val="300"/>
              </a:spcAft>
            </a:pPr>
            <a:r>
              <a:rPr sz="1100" b="0">
                <a:solidFill>
                  <a:srgbClr val="5B6372"/>
                </a:solidFill>
                <a:latin typeface="Arial"/>
              </a:rPr>
              <a:t>https://www.cisa.gov/ai — the joint guidance you applied in Lab 9.</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MITRE ATLAS</a:t>
            </a:r>
          </a:p>
          <a:p>
            <a:pPr algn="l">
              <a:spcAft>
                <a:spcPts val="300"/>
              </a:spcAft>
            </a:pPr>
            <a:r>
              <a:rPr sz="1100" b="0">
                <a:solidFill>
                  <a:srgbClr val="5B6372"/>
                </a:solidFill>
                <a:latin typeface="Arial"/>
              </a:rPr>
              <a:t>https://atlas.mitre.org/ — adversary tactics and techniques targeting AI systems, with real case studies.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CISA Known Exploited Vulnerabilities</a:t>
            </a:r>
          </a:p>
          <a:p>
            <a:pPr algn="l">
              <a:spcAft>
                <a:spcPts val="300"/>
              </a:spcAft>
            </a:pPr>
            <a:r>
              <a:rPr sz="1100" b="0">
                <a:solidFill>
                  <a:srgbClr val="5B6372"/>
                </a:solidFill>
                <a:latin typeface="Arial"/>
              </a:rPr>
              <a:t>https://www.cisa.gov/known-exploited-vulnerabilities-catalog — the KEV list you used to prioritise.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Rebuild the labs</a:t>
            </a:r>
          </a:p>
          <a:p>
            <a:pPr algn="l">
              <a:spcAft>
                <a:spcPts val="300"/>
              </a:spcAft>
            </a:pPr>
            <a:r>
              <a:rPr sz="1100" b="0">
                <a:solidFill>
                  <a:srgbClr val="5B6372"/>
                </a:solidFill>
                <a:latin typeface="Arial"/>
              </a:rPr>
              <a:t>Redo each lab on your own network with written authorisation, until the workflow is automatic.</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transition spd="fast" advClick="1">
    <p:fade/>
  </p:transition>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TEST YOURSELF  ·  exams.tertiaryinfotech.com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Practice Exam — Test Yourself Before the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810512"/>
            <a:ext cx="10149840" cy="603504"/>
          </a:xfrm>
          <a:prstGeom prst="rect">
            <a:avLst/>
          </a:prstGeom>
          <a:noFill/>
        </p:spPr>
        <p:txBody>
          <a:bodyPr wrap="square">
            <a:spAutoFit/>
          </a:bodyPr>
          <a:lstStyle/>
          <a:p>
            <a:r>
              <a:rPr sz="1500">
                <a:solidFill>
                  <a:srgbClr val="7C3AED"/>
                </a:solidFill>
              </a:rPr>
              <a:t>🎯  </a:t>
            </a:r>
            <a:r>
              <a:rPr sz="1500" b="1">
                <a:solidFill>
                  <a:srgbClr val="9CDCFE"/>
                </a:solidFill>
                <a:latin typeface="Consolas"/>
                <a:hlinkClick r:id="rId2"/>
              </a:rPr>
              <a:t>https://exams.tertiaryinfotech.com</a:t>
            </a:r>
          </a:p>
        </p:txBody>
      </p:sp>
      <p:sp>
        <p:nvSpPr>
          <p:cNvPr id="9" name="Rectangle 8"/>
          <p:cNvSpPr/>
          <p:nvPr/>
        </p:nvSpPr>
        <p:spPr>
          <a:xfrm>
            <a:off x="777240" y="2788920"/>
            <a:ext cx="5239512"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788920"/>
            <a:ext cx="82296" cy="10607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2" y="2898648"/>
            <a:ext cx="4782312" cy="310896"/>
          </a:xfrm>
          <a:prstGeom prst="rect">
            <a:avLst/>
          </a:prstGeom>
          <a:noFill/>
        </p:spPr>
        <p:txBody>
          <a:bodyPr wrap="square" anchor="t">
            <a:spAutoFit/>
          </a:bodyPr>
          <a:lstStyle/>
          <a:p>
            <a:pPr algn="l">
              <a:spcAft>
                <a:spcPts val="400"/>
              </a:spcAft>
            </a:pPr>
            <a:r>
              <a:rPr sz="1200" b="1">
                <a:solidFill>
                  <a:srgbClr val="1F6FEB"/>
                </a:solidFill>
                <a:latin typeface="Arial"/>
              </a:rPr>
              <a:t>Open the practice exam portal</a:t>
            </a:r>
          </a:p>
        </p:txBody>
      </p:sp>
      <p:sp>
        <p:nvSpPr>
          <p:cNvPr id="12" name="TextBox 11"/>
          <p:cNvSpPr txBox="1"/>
          <p:nvPr/>
        </p:nvSpPr>
        <p:spPr>
          <a:xfrm>
            <a:off x="1033272" y="3227832"/>
            <a:ext cx="4782312" cy="530352"/>
          </a:xfrm>
          <a:prstGeom prst="rect">
            <a:avLst/>
          </a:prstGeom>
          <a:noFill/>
        </p:spPr>
        <p:txBody>
          <a:bodyPr wrap="square" anchor="t">
            <a:spAutoFit/>
          </a:bodyPr>
          <a:lstStyle/>
          <a:p>
            <a:pPr algn="l">
              <a:spcAft>
                <a:spcPts val="400"/>
              </a:spcAft>
            </a:pPr>
            <a:r>
              <a:rPr sz="1100" b="0">
                <a:solidFill>
                  <a:srgbClr val="161B26"/>
                </a:solidFill>
                <a:latin typeface="Arial"/>
              </a:rPr>
              <a:t>Go to exams.tertiaryinfotech.com and find the Network Security practice exam.</a:t>
            </a:r>
          </a:p>
        </p:txBody>
      </p:sp>
      <p:sp>
        <p:nvSpPr>
          <p:cNvPr id="13" name="Rectangle 12"/>
          <p:cNvSpPr/>
          <p:nvPr/>
        </p:nvSpPr>
        <p:spPr>
          <a:xfrm>
            <a:off x="6172200" y="2788920"/>
            <a:ext cx="5239512"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788920"/>
            <a:ext cx="82296" cy="10607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28232" y="2898648"/>
            <a:ext cx="4782312" cy="310896"/>
          </a:xfrm>
          <a:prstGeom prst="rect">
            <a:avLst/>
          </a:prstGeom>
          <a:noFill/>
        </p:spPr>
        <p:txBody>
          <a:bodyPr wrap="square" anchor="t">
            <a:spAutoFit/>
          </a:bodyPr>
          <a:lstStyle/>
          <a:p>
            <a:pPr algn="l">
              <a:spcAft>
                <a:spcPts val="400"/>
              </a:spcAft>
            </a:pPr>
            <a:r>
              <a:rPr sz="1200" b="1">
                <a:solidFill>
                  <a:srgbClr val="10B981"/>
                </a:solidFill>
                <a:latin typeface="Arial"/>
              </a:rPr>
              <a:t>Attempt it before the assessment</a:t>
            </a:r>
          </a:p>
        </p:txBody>
      </p:sp>
      <p:sp>
        <p:nvSpPr>
          <p:cNvPr id="16" name="TextBox 15"/>
          <p:cNvSpPr txBox="1"/>
          <p:nvPr/>
        </p:nvSpPr>
        <p:spPr>
          <a:xfrm>
            <a:off x="6428232" y="3227832"/>
            <a:ext cx="4782312" cy="530352"/>
          </a:xfrm>
          <a:prstGeom prst="rect">
            <a:avLst/>
          </a:prstGeom>
          <a:noFill/>
        </p:spPr>
        <p:txBody>
          <a:bodyPr wrap="square" anchor="t">
            <a:spAutoFit/>
          </a:bodyPr>
          <a:lstStyle/>
          <a:p>
            <a:pPr algn="l">
              <a:spcAft>
                <a:spcPts val="400"/>
              </a:spcAft>
            </a:pPr>
            <a:r>
              <a:rPr sz="1100" b="0">
                <a:solidFill>
                  <a:srgbClr val="161B26"/>
                </a:solidFill>
                <a:latin typeface="Arial"/>
              </a:rPr>
              <a:t>Sit it under exam conditions — closed book, timed — so the result means something.</a:t>
            </a:r>
          </a:p>
        </p:txBody>
      </p:sp>
      <p:sp>
        <p:nvSpPr>
          <p:cNvPr id="17" name="Rectangle 16"/>
          <p:cNvSpPr/>
          <p:nvPr/>
        </p:nvSpPr>
        <p:spPr>
          <a:xfrm>
            <a:off x="777240" y="3959352"/>
            <a:ext cx="5239512"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959352"/>
            <a:ext cx="82296" cy="10607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069080"/>
            <a:ext cx="4782312" cy="310896"/>
          </a:xfrm>
          <a:prstGeom prst="rect">
            <a:avLst/>
          </a:prstGeom>
          <a:noFill/>
        </p:spPr>
        <p:txBody>
          <a:bodyPr wrap="square" anchor="t">
            <a:spAutoFit/>
          </a:bodyPr>
          <a:lstStyle/>
          <a:p>
            <a:pPr algn="l">
              <a:spcAft>
                <a:spcPts val="400"/>
              </a:spcAft>
            </a:pPr>
            <a:r>
              <a:rPr sz="1200" b="1">
                <a:solidFill>
                  <a:srgbClr val="7C3AED"/>
                </a:solidFill>
                <a:latin typeface="Arial"/>
              </a:rPr>
              <a:t>Review every wrong answer</a:t>
            </a:r>
          </a:p>
        </p:txBody>
      </p:sp>
      <p:sp>
        <p:nvSpPr>
          <p:cNvPr id="20" name="TextBox 19"/>
          <p:cNvSpPr txBox="1"/>
          <p:nvPr/>
        </p:nvSpPr>
        <p:spPr>
          <a:xfrm>
            <a:off x="1033272" y="4398264"/>
            <a:ext cx="4782312" cy="530352"/>
          </a:xfrm>
          <a:prstGeom prst="rect">
            <a:avLst/>
          </a:prstGeom>
          <a:noFill/>
        </p:spPr>
        <p:txBody>
          <a:bodyPr wrap="square" anchor="t">
            <a:spAutoFit/>
          </a:bodyPr>
          <a:lstStyle/>
          <a:p>
            <a:pPr algn="l">
              <a:spcAft>
                <a:spcPts val="400"/>
              </a:spcAft>
            </a:pPr>
            <a:r>
              <a:rPr sz="1100" b="0">
                <a:solidFill>
                  <a:srgbClr val="161B26"/>
                </a:solidFill>
                <a:latin typeface="Arial"/>
              </a:rPr>
              <a:t>Trace each one back to the slide and Learner Guide section that covers it.</a:t>
            </a:r>
          </a:p>
        </p:txBody>
      </p:sp>
      <p:sp>
        <p:nvSpPr>
          <p:cNvPr id="21" name="Rectangle 20"/>
          <p:cNvSpPr/>
          <p:nvPr/>
        </p:nvSpPr>
        <p:spPr>
          <a:xfrm>
            <a:off x="6172200" y="3959352"/>
            <a:ext cx="5239512"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72200" y="3959352"/>
            <a:ext cx="82296" cy="10607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28232" y="4069080"/>
            <a:ext cx="4782312" cy="310896"/>
          </a:xfrm>
          <a:prstGeom prst="rect">
            <a:avLst/>
          </a:prstGeom>
          <a:noFill/>
        </p:spPr>
        <p:txBody>
          <a:bodyPr wrap="square" anchor="t">
            <a:spAutoFit/>
          </a:bodyPr>
          <a:lstStyle/>
          <a:p>
            <a:pPr algn="l">
              <a:spcAft>
                <a:spcPts val="400"/>
              </a:spcAft>
            </a:pPr>
            <a:r>
              <a:rPr sz="1200" b="1">
                <a:solidFill>
                  <a:srgbClr val="F59E0B"/>
                </a:solidFill>
                <a:latin typeface="Arial"/>
              </a:rPr>
              <a:t>Re-attempt until consistent</a:t>
            </a:r>
          </a:p>
        </p:txBody>
      </p:sp>
      <p:sp>
        <p:nvSpPr>
          <p:cNvPr id="24" name="TextBox 23"/>
          <p:cNvSpPr txBox="1"/>
          <p:nvPr/>
        </p:nvSpPr>
        <p:spPr>
          <a:xfrm>
            <a:off x="6428232" y="4398264"/>
            <a:ext cx="4782312" cy="530352"/>
          </a:xfrm>
          <a:prstGeom prst="rect">
            <a:avLst/>
          </a:prstGeom>
          <a:noFill/>
        </p:spPr>
        <p:txBody>
          <a:bodyPr wrap="square" anchor="t">
            <a:spAutoFit/>
          </a:bodyPr>
          <a:lstStyle/>
          <a:p>
            <a:pPr algn="l">
              <a:spcAft>
                <a:spcPts val="400"/>
              </a:spcAft>
            </a:pPr>
            <a:r>
              <a:rPr sz="1100" b="0">
                <a:solidFill>
                  <a:srgbClr val="161B26"/>
                </a:solidFill>
                <a:latin typeface="Arial"/>
              </a:rPr>
              <a:t>Repeat until you are scoring consistently, not just once.</a:t>
            </a:r>
          </a:p>
        </p:txBody>
      </p:sp>
      <p:sp>
        <p:nvSpPr>
          <p:cNvPr id="25" name="Rectangle 24"/>
          <p:cNvSpPr/>
          <p:nvPr/>
        </p:nvSpPr>
        <p:spPr>
          <a:xfrm>
            <a:off x="777240" y="5129784"/>
            <a:ext cx="5239512"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129784"/>
            <a:ext cx="82296" cy="10607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33272" y="5239512"/>
            <a:ext cx="4782312" cy="310896"/>
          </a:xfrm>
          <a:prstGeom prst="rect">
            <a:avLst/>
          </a:prstGeom>
          <a:noFill/>
        </p:spPr>
        <p:txBody>
          <a:bodyPr wrap="square" anchor="t">
            <a:spAutoFit/>
          </a:bodyPr>
          <a:lstStyle/>
          <a:p>
            <a:pPr algn="l">
              <a:spcAft>
                <a:spcPts val="400"/>
              </a:spcAft>
            </a:pPr>
            <a:r>
              <a:rPr sz="1200" b="1">
                <a:solidFill>
                  <a:srgbClr val="1F6FEB"/>
                </a:solidFill>
                <a:latin typeface="Arial"/>
              </a:rPr>
              <a:t>It mirrors the knowledge questions</a:t>
            </a:r>
          </a:p>
        </p:txBody>
      </p:sp>
      <p:sp>
        <p:nvSpPr>
          <p:cNvPr id="28" name="TextBox 27"/>
          <p:cNvSpPr txBox="1"/>
          <p:nvPr/>
        </p:nvSpPr>
        <p:spPr>
          <a:xfrm>
            <a:off x="1033272" y="5568696"/>
            <a:ext cx="4782312" cy="530352"/>
          </a:xfrm>
          <a:prstGeom prst="rect">
            <a:avLst/>
          </a:prstGeom>
          <a:noFill/>
        </p:spPr>
        <p:txBody>
          <a:bodyPr wrap="square" anchor="t">
            <a:spAutoFit/>
          </a:bodyPr>
          <a:lstStyle/>
          <a:p>
            <a:pPr algn="l">
              <a:spcAft>
                <a:spcPts val="400"/>
              </a:spcAft>
            </a:pPr>
            <a:r>
              <a:rPr sz="1100" b="0">
                <a:solidFill>
                  <a:srgbClr val="161B26"/>
                </a:solidFill>
                <a:latin typeface="Arial"/>
              </a:rPr>
              <a:t>The practice questions rehearse the same K1–K4 knowledge the WA-SAQ assesses.</a:t>
            </a:r>
          </a:p>
        </p:txBody>
      </p:sp>
      <p:sp>
        <p:nvSpPr>
          <p:cNvPr id="29" name="Rectangle 28"/>
          <p:cNvSpPr/>
          <p:nvPr/>
        </p:nvSpPr>
        <p:spPr>
          <a:xfrm>
            <a:off x="6172200" y="5129784"/>
            <a:ext cx="5239512"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72200" y="5129784"/>
            <a:ext cx="82296" cy="10607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28232" y="5239512"/>
            <a:ext cx="4782312" cy="310896"/>
          </a:xfrm>
          <a:prstGeom prst="rect">
            <a:avLst/>
          </a:prstGeom>
          <a:noFill/>
        </p:spPr>
        <p:txBody>
          <a:bodyPr wrap="square" anchor="t">
            <a:spAutoFit/>
          </a:bodyPr>
          <a:lstStyle/>
          <a:p>
            <a:pPr algn="l">
              <a:spcAft>
                <a:spcPts val="400"/>
              </a:spcAft>
            </a:pPr>
            <a:r>
              <a:rPr sz="1200" b="1">
                <a:solidFill>
                  <a:srgbClr val="10B981"/>
                </a:solidFill>
                <a:latin typeface="Arial"/>
              </a:rPr>
              <a:t>It does not replace the labs</a:t>
            </a:r>
          </a:p>
        </p:txBody>
      </p:sp>
      <p:sp>
        <p:nvSpPr>
          <p:cNvPr id="32" name="TextBox 31"/>
          <p:cNvSpPr txBox="1"/>
          <p:nvPr/>
        </p:nvSpPr>
        <p:spPr>
          <a:xfrm>
            <a:off x="6428232" y="5568696"/>
            <a:ext cx="4782312" cy="530352"/>
          </a:xfrm>
          <a:prstGeom prst="rect">
            <a:avLst/>
          </a:prstGeom>
          <a:noFill/>
        </p:spPr>
        <p:txBody>
          <a:bodyPr wrap="square" anchor="t">
            <a:spAutoFit/>
          </a:bodyPr>
          <a:lstStyle/>
          <a:p>
            <a:pPr algn="l">
              <a:spcAft>
                <a:spcPts val="400"/>
              </a:spcAft>
            </a:pPr>
            <a:r>
              <a:rPr sz="1100" b="0">
                <a:solidFill>
                  <a:srgbClr val="161B26"/>
                </a:solidFill>
                <a:latin typeface="Arial"/>
              </a:rPr>
              <a:t>The Case Study assesses ability — for that, rebuild the labs, don't re-read them.</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transition spd="fast" advClick="1">
    <p:fade/>
  </p:transition>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CONTINUE WITH TERTIARY INFOTECH</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Recommended Courses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WSQ - Network Securities for Beginners</a:t>
            </a:r>
          </a:p>
          <a:p>
            <a:pPr algn="l">
              <a:spcAft>
                <a:spcPts val="300"/>
              </a:spcAft>
            </a:pPr>
            <a:r>
              <a:rPr sz="1200" b="0">
                <a:solidFill>
                  <a:srgbClr val="5B6372"/>
                </a:solidFill>
                <a:latin typeface="Arial"/>
              </a:rPr>
              <a:t>Build the underlying networking and security foundations if you want more depth on the fundamentals.</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WSQ - Ethical Hacking and Penetration Testing</a:t>
            </a:r>
          </a:p>
          <a:p>
            <a:pPr algn="l">
              <a:spcAft>
                <a:spcPts val="300"/>
              </a:spcAft>
            </a:pPr>
            <a:r>
              <a:rPr sz="1200" b="0">
                <a:solidFill>
                  <a:srgbClr val="5B6372"/>
                </a:solidFill>
                <a:latin typeface="Arial"/>
              </a:rPr>
              <a:t>Learn to test your own defences the way an attacker would.</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WSQ - Machine Learning with Python</a:t>
            </a:r>
          </a:p>
          <a:p>
            <a:pPr algn="l">
              <a:spcAft>
                <a:spcPts val="300"/>
              </a:spcAft>
            </a:pPr>
            <a:r>
              <a:rPr sz="1200" b="0">
                <a:solidFill>
                  <a:srgbClr val="5B6372"/>
                </a:solidFill>
                <a:latin typeface="Arial"/>
              </a:rPr>
              <a:t>Go deeper on the models behind the anomaly detection you built in Labs 2 and 9.</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WSQ - Cybersecurity Incident Response</a:t>
            </a:r>
          </a:p>
          <a:p>
            <a:pPr algn="l">
              <a:spcAft>
                <a:spcPts val="300"/>
              </a:spcAft>
            </a:pPr>
            <a:r>
              <a:rPr sz="1200" b="0">
                <a:solidFill>
                  <a:srgbClr val="5B6372"/>
                </a:solidFill>
                <a:latin typeface="Arial"/>
              </a:rPr>
              <a:t>Extend Topic 4 into a full incident-response and digital-forensics capability.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transition spd="fast" advClick="1">
    <p:fade/>
  </p:transition>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WE'RE HERE TO HELP  ·  DURING AND AFTER THE CLASS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Support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Email</a:t>
            </a:r>
          </a:p>
          <a:p>
            <a:pPr algn="l">
              <a:spcAft>
                <a:spcPts val="300"/>
              </a:spcAft>
            </a:pPr>
            <a:r>
              <a:rPr sz="1200" b="0">
                <a:solidFill>
                  <a:srgbClr val="5B6372"/>
                </a:solidFill>
                <a:latin typeface="Arial"/>
              </a:rPr>
              <a:t>enquiry@tertiaryinfotech.com</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Telephone</a:t>
            </a:r>
          </a:p>
          <a:p>
            <a:pPr algn="l">
              <a:spcAft>
                <a:spcPts val="300"/>
              </a:spcAft>
            </a:pPr>
            <a:r>
              <a:rPr sz="1200" b="0">
                <a:solidFill>
                  <a:srgbClr val="5B6372"/>
                </a:solidFill>
                <a:latin typeface="Arial"/>
              </a:rPr>
              <a:t>+65 6100 0613</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Website</a:t>
            </a:r>
          </a:p>
          <a:p>
            <a:pPr algn="l">
              <a:spcAft>
                <a:spcPts val="300"/>
              </a:spcAft>
            </a:pPr>
            <a:r>
              <a:rPr sz="1200" b="0">
                <a:solidFill>
                  <a:srgbClr val="5B6372"/>
                </a:solidFill>
                <a:latin typeface="Arial"/>
              </a:rPr>
              <a:t>www.tertiarycourses.com.sg</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LMS / TMS</a:t>
            </a:r>
          </a:p>
          <a:p>
            <a:pPr algn="l">
              <a:spcAft>
                <a:spcPts val="300"/>
              </a:spcAft>
            </a:pPr>
            <a:r>
              <a:rPr sz="1200" b="0">
                <a:solidFill>
                  <a:srgbClr val="5B6372"/>
                </a:solidFill>
                <a:latin typeface="Arial"/>
              </a:rPr>
              <a:t>lms-tms.tertiaryinfotech.com</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Practice exam</a:t>
            </a:r>
          </a:p>
          <a:p>
            <a:pPr algn="l">
              <a:spcAft>
                <a:spcPts val="300"/>
              </a:spcAft>
            </a:pPr>
            <a:r>
              <a:rPr sz="1200" b="0">
                <a:solidFill>
                  <a:srgbClr val="5B6372"/>
                </a:solidFill>
                <a:latin typeface="Arial"/>
              </a:rPr>
              <a:t>exams.tertiaryinfotech.com</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Course labs</a:t>
            </a:r>
          </a:p>
          <a:p>
            <a:pPr algn="l">
              <a:spcAft>
                <a:spcPts val="300"/>
              </a:spcAft>
            </a:pPr>
            <a:r>
              <a:rPr sz="1200" b="0">
                <a:solidFill>
                  <a:srgbClr val="5B6372"/>
                </a:solidFill>
                <a:latin typeface="Arial"/>
              </a:rPr>
              <a:t>github.com/tertiarycourses/TGS-2024051414-AI-for-Network-Security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transition spd="fast" advClick="1">
    <p:fade/>
  </p:transition>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Written Assessment (WA-SAQ)</a:t>
            </a:r>
          </a:p>
          <a:p>
            <a:pPr algn="l">
              <a:spcAft>
                <a:spcPts val="300"/>
              </a:spcAft>
            </a:pPr>
            <a:r>
              <a:rPr sz="1300" b="0">
                <a:solidFill>
                  <a:srgbClr val="5B6372"/>
                </a:solidFill>
                <a:latin typeface="Arial"/>
              </a:rPr>
              <a:t>1 hour · open book · short-answer knowledge questions covering K1–K4.</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Case Study (CS)</a:t>
            </a:r>
          </a:p>
          <a:p>
            <a:pPr algn="l">
              <a:spcAft>
                <a:spcPts val="300"/>
              </a:spcAft>
            </a:pPr>
            <a:r>
              <a:rPr sz="1300" b="0">
                <a:solidFill>
                  <a:srgbClr val="5B6372"/>
                </a:solidFill>
                <a:latin typeface="Arial"/>
              </a:rPr>
              <a:t>1 hour · open book · a realistic organisational scenario covering A1–A9.</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Digital attendance</a:t>
            </a:r>
          </a:p>
          <a:p>
            <a:pPr algn="l">
              <a:spcAft>
                <a:spcPts val="300"/>
              </a:spcAft>
            </a:pPr>
            <a:r>
              <a:rPr sz="1300" b="0">
                <a:solidFill>
                  <a:srgbClr val="5B6372"/>
                </a:solidFill>
                <a:latin typeface="Arial"/>
              </a:rPr>
              <a:t>Remember to take the Assessment digital attendance (TRAQOM) before you start.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Submit on the LMS</a:t>
            </a:r>
          </a:p>
          <a:p>
            <a:pPr algn="l">
              <a:spcAft>
                <a:spcPts val="300"/>
              </a:spcAft>
            </a:pPr>
            <a:r>
              <a:rPr sz="1300" b="0">
                <a:solidFill>
                  <a:srgbClr val="5B6372"/>
                </a:solidFill>
                <a:latin typeface="Arial"/>
              </a:rPr>
              <a:t>Upload your completed answers at https://lms-tms.tertiaryinfotech.com/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transition spd="med" advClick="1">
    <p:push dir="l"/>
  </p:transition>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TRAQOM survey</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Scan the QR code on the LMS</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Digital attendance</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Scan the SSG assessment QR</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Sit WA then CS</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Open book · 1 hour each</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Submit on the LMS</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Upload your completed answers</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Sign the record</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Sign the Assessment Summary Record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REMEMBER</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All five steps are mandatory for WSQ funding — missing the digital attendance or the TRAQOM survey can invalidate your claim.</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Three times a day</a:t>
            </a:r>
          </a:p>
          <a:p>
            <a:pPr algn="l">
              <a:spcAft>
                <a:spcPts val="300"/>
              </a:spcAft>
            </a:pPr>
            <a:r>
              <a:rPr sz="1300" b="0">
                <a:solidFill>
                  <a:srgbClr val="5B6372"/>
                </a:solidFill>
                <a:latin typeface="Arial"/>
              </a:rPr>
              <a:t>Take the AM, PM and Assessment digital attendance — mandatory for every WSQ-funded course.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Trainer shows the QR</a:t>
            </a:r>
          </a:p>
          <a:p>
            <a:pPr algn="l">
              <a:spcAft>
                <a:spcPts val="300"/>
              </a:spcAft>
            </a:pPr>
            <a:r>
              <a:rPr sz="1300" b="0">
                <a:solidFill>
                  <a:srgbClr val="5B6372"/>
                </a:solidFill>
                <a:latin typeface="Arial"/>
              </a:rPr>
              <a:t>The trainer or administrator displays the digital attendance QR code from the SSG portal.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Scan and submit</a:t>
            </a:r>
          </a:p>
          <a:p>
            <a:pPr algn="l">
              <a:spcAft>
                <a:spcPts val="300"/>
              </a:spcAft>
            </a:pPr>
            <a:r>
              <a:rPr sz="1300" b="0">
                <a:solidFill>
                  <a:srgbClr val="5B6372"/>
                </a:solidFill>
                <a:latin typeface="Arial"/>
              </a:rPr>
              <a:t>Scan the QR code with your mobile phone camera and submit your attendance.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75% minimum</a:t>
            </a:r>
          </a:p>
          <a:p>
            <a:pPr algn="l">
              <a:spcAft>
                <a:spcPts val="300"/>
              </a:spcAft>
            </a:pPr>
            <a:r>
              <a:rPr sz="1300" b="0">
                <a:solidFill>
                  <a:srgbClr val="5B6372"/>
                </a:solidFill>
                <a:latin typeface="Arial"/>
              </a:rPr>
              <a:t>A minimum of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transition spd="fast" advClick="1">
    <p:fade/>
  </p:transition>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STAY SECURE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apply AI to network threat analysis, risk management, security design and incident response — and defend the AI itself.</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transition spd="fast" advClick="1">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